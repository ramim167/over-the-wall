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Cover" id="{02d9e18d-04fb-d215-fa4c-0bb1c5302219}">
          <p14:sldIdLst>
            <p14:sldId id="256"/>
          </p14:sldIdLst>
        </p14:section>
        <p14:section name="Business plan" id="{57ecc8b6-2717-4c2c-114c-333079926a9b}">
          <p14:sldIdLst>
            <p14:sldId id="258"/>
            <p14:sldId id="259"/>
            <p14:sldId id="260"/>
            <p14:sldId id="261"/>
            <p14:sldId id="262"/>
            <p14:sldId id="263"/>
            <p14:sldId id="264"/>
            <p14:sldId id="265"/>
          </p14:sldIdLst>
        </p14:section>
        <p14:section name="Execution plan" id="{cea63b03-f8e0-9534-19af-a1707b700a5e}">
          <p14:sldIdLst>
            <p14:sldId id="266"/>
            <p14:sldId id="267"/>
            <p14:sldId id="268"/>
          </p14:sldIdLst>
        </p14:section>
        <p14:section name="Financial plan" id="{6170c918-0350-0ec3-fa70-fed8cf1e844e}">
          <p14:sldIdLst>
            <p14:sldId id="269"/>
            <p14:sldId id="270"/>
          </p14:sldIdLst>
        </p14:section>
        <p14:section name="Decision" id="{1209004b-fa65-b5f6-0a10-48d30abca7e7}">
          <p14:sldIdLst>
            <p14:sldId id="27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41C52"/>
                </a:solidFill>
                <a:latin typeface="Calibri"/>
              </a:defRPr>
            </a:pPr>
            <a:r>
              <a:rPr sz="1200" b="0" i="0" u="none" strike="noStrike">
                <a:solidFill>
                  <a:srgbClr val="141C52"/>
                </a:solidFill>
                <a:latin typeface="Calibri"/>
              </a:rPr>
              <a:t>Shelf price per 100 ml (Tk), 9 Oct 2026</a:t>
            </a:r>
          </a:p>
        </c:rich>
      </c:tx>
      <c:layout/>
      <c:overlay val="0"/>
    </c:title>
    <c:autoTitleDeleted val="0"/>
    <c:plotArea>
      <c:layout/>
      <c:barChart>
        <c:barDir val="bar"/>
        <c:grouping val="clustered"/>
        <c:varyColors val="0"/>
        <c:ser>
          <c:idx val="0"/>
          <c:order val="0"/>
          <c:tx>
            <c:strRef>
              <c:f>Sheet1!$B$1</c:f>
              <c:strCache>
                <c:ptCount val="1"/>
                <c:pt idx="0">
                  <c:v>Tk per 100 ml</c:v>
                </c:pt>
              </c:strCache>
            </c:strRef>
          </c:tx>
          <c:spPr>
            <a:solidFill>
              <a:srgbClr val="A7B0BE"/>
            </a:solidFill>
            <a:effectLst/>
          </c:spPr>
          <c:invertIfNegative val="0"/>
          <c:dLbls>
            <c:numFmt formatCode="0" sourceLinked="0"/>
            <c:txPr>
              <a:bodyPr/>
              <a:lstStyle/>
              <a:p>
                <a:pPr>
                  <a:defRPr b="0" i="0" strike="noStrike" sz="1100" u="none">
                    <a:solidFill>
                      <a:srgbClr val="1F2937"/>
                    </a:solidFill>
                    <a:latin typeface="Calibri"/>
                  </a:defRPr>
                </a:pPr>
              </a:p>
            </c:txPr>
            <c:showLegendKey val="0"/>
            <c:showVal val="1"/>
            <c:showCatName val="0"/>
            <c:showSerName val="0"/>
            <c:showPercent val="0"/>
            <c:showBubbleSize val="0"/>
            <c:showLeaderLines val="0"/>
          </c:dLbls>
          <c:dPt>
            <c:idx val="0"/>
            <c:invertIfNegative val="0"/>
            <c:bubble3D val="0"/>
            <c:spPr>
              <a:solidFill>
                <a:srgbClr val="A7B0BE"/>
              </a:solidFill>
              <a:effectLst/>
            </c:spPr>
          </c:dPt>
          <c:dPt>
            <c:idx val="1"/>
            <c:invertIfNegative val="0"/>
            <c:bubble3D val="0"/>
            <c:spPr>
              <a:solidFill>
                <a:srgbClr val="A7B0BE"/>
              </a:solidFill>
              <a:effectLst/>
            </c:spPr>
          </c:dPt>
          <c:dPt>
            <c:idx val="2"/>
            <c:invertIfNegative val="0"/>
            <c:bubble3D val="0"/>
            <c:spPr>
              <a:solidFill>
                <a:srgbClr val="12A5C4"/>
              </a:solidFill>
              <a:effectLst/>
            </c:spPr>
          </c:dPt>
          <c:dPt>
            <c:idx val="3"/>
            <c:invertIfNegative val="0"/>
            <c:bubble3D val="0"/>
            <c:spPr>
              <a:solidFill>
                <a:srgbClr val="A7B0BE"/>
              </a:solidFill>
              <a:effectLst/>
            </c:spPr>
          </c:dPt>
          <c:dPt>
            <c:idx val="4"/>
            <c:invertIfNegative val="0"/>
            <c:bubble3D val="0"/>
            <c:spPr>
              <a:solidFill>
                <a:srgbClr val="A7B0BE"/>
              </a:solidFill>
              <a:effectLst/>
            </c:spPr>
          </c:dPt>
          <c:dPt>
            <c:idx val="5"/>
            <c:invertIfNegative val="0"/>
            <c:bubble3D val="0"/>
            <c:spPr>
              <a:solidFill>
                <a:srgbClr val="A7B0BE"/>
              </a:solidFill>
              <a:effectLst/>
            </c:spPr>
          </c:dPt>
          <c:dPt>
            <c:idx val="6"/>
            <c:invertIfNegative val="0"/>
            <c:bubble3D val="0"/>
            <c:spPr>
              <a:solidFill>
                <a:srgbClr val="A7B0BE"/>
              </a:solidFill>
              <a:effectLst/>
            </c:spPr>
          </c:dPt>
          <c:cat>
            <c:multiLvlStrRef>
              <c:f>Sheet1!$A$2:$A$8</c:f>
              <c:multiLvlStrCache>
                <c:ptCount val="7"/>
                <c:lvl>
                  <c:pt idx="0">
                    <c:v>Naturale core 320 ml</c:v>
                  </c:pt>
                  <c:pt idx="1">
                    <c:v>Sunsilk 340 ml</c:v>
                  </c:pt>
                  <c:pt idx="2">
                    <c:v>WaterSmart 340 ml (proposed)</c:v>
                  </c:pt>
                  <c:pt idx="3">
                    <c:v>Naturale Hijab Fresh 340 ml</c:v>
                  </c:pt>
                  <c:pt idx="4">
                    <c:v>Dove 330 ml</c:v>
                  </c:pt>
                  <c:pt idx="5">
                    <c:v>Clear Men 330 ml</c:v>
                  </c:pt>
                  <c:pt idx="6">
                    <c:v>Head &amp; Shoulders 1 L</c:v>
                  </c:pt>
                </c:lvl>
              </c:multiLvlStrCache>
            </c:multiLvlStrRef>
          </c:cat>
          <c:val>
            <c:numRef>
              <c:f>Sheet1!$B$2:$B$8</c:f>
              <c:numCache>
                <c:formatCode>General</c:formatCode>
                <c:ptCount val="7"/>
                <c:pt idx="0">
                  <c:v>83</c:v>
                </c:pt>
                <c:pt idx="1">
                  <c:v>103</c:v>
                </c:pt>
                <c:pt idx="2">
                  <c:v>106</c:v>
                </c:pt>
                <c:pt idx="3">
                  <c:v>115</c:v>
                </c:pt>
                <c:pt idx="4">
                  <c:v>142</c:v>
                </c:pt>
                <c:pt idx="5">
                  <c:v>152</c:v>
                </c:pt>
                <c:pt idx="6">
                  <c:v>180</c:v>
                </c:pt>
              </c:numCache>
            </c:numRef>
          </c:val>
        </c:ser>
        <c:dLbls>
          <c:numFmt formatCode="0" sourceLinked="0"/>
          <c:txPr>
            <a:bodyPr/>
            <a:lstStyle/>
            <a:p>
              <a:pPr>
                <a:defRPr b="0" i="0" strike="noStrike" sz="1100" u="none">
                  <a:solidFill>
                    <a:srgbClr val="1F2937"/>
                  </a:solidFill>
                  <a:latin typeface="Calibri"/>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100" b="0" i="0" u="none" strike="noStrike">
                <a:solidFill>
                  <a:srgbClr val="1F2937"/>
                </a:solidFill>
                <a:latin typeface="Calibri"/>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41C52"/>
                </a:solidFill>
                <a:latin typeface="Calibri"/>
              </a:defRPr>
            </a:pPr>
            <a:r>
              <a:rPr sz="1200" b="0" i="0" u="none" strike="noStrike">
                <a:solidFill>
                  <a:srgbClr val="141C52"/>
                </a:solidFill>
                <a:latin typeface="Calibri"/>
              </a:rPr>
              <a:t>Net revenue by pack (Tk Cr)</a:t>
            </a:r>
          </a:p>
        </c:rich>
      </c:tx>
      <c:layout/>
      <c:overlay val="0"/>
    </c:title>
    <c:autoTitleDeleted val="0"/>
    <c:plotArea>
      <c:layout/>
      <c:barChart>
        <c:barDir val="col"/>
        <c:grouping val="stacked"/>
        <c:varyColors val="0"/>
        <c:ser>
          <c:idx val="0"/>
          <c:order val="0"/>
          <c:tx>
            <c:strRef>
              <c:f>Sheet1!$B$1</c:f>
              <c:strCache>
                <c:ptCount val="1"/>
                <c:pt idx="0">
                  <c:v>Sachet 6 ml</c:v>
                </c:pt>
              </c:strCache>
            </c:strRef>
          </c:tx>
          <c:spPr>
            <a:solidFill>
              <a:srgbClr val="12A5C4"/>
            </a:solidFill>
            <a:effectLst/>
          </c:spPr>
          <c:invertIfNegative val="0"/>
          <c:dLbls>
            <c:numFmt formatCode="0.0" sourceLinked="0"/>
            <c:txPr>
              <a:bodyPr/>
              <a:lstStyle/>
              <a:p>
                <a:pPr>
                  <a:defRPr b="0" i="0" strike="noStrike" sz="1000" u="none">
                    <a:solidFill>
                      <a:srgbClr val="FFFFFF"/>
                    </a:solidFill>
                    <a:latin typeface="Calibri"/>
                  </a:defRPr>
                </a:pPr>
              </a:p>
            </c:txPr>
            <c:dLblPos val="ctr"/>
            <c:showLegendKey val="0"/>
            <c:showVal val="1"/>
            <c:showCatName val="0"/>
            <c:showSerName val="0"/>
            <c:showPercent val="0"/>
            <c:showBubbleSize val="0"/>
            <c:showLeaderLines val="0"/>
          </c:dLbls>
          <c:cat>
            <c:multiLvlStrRef>
              <c:f>Sheet1!$A$2:$A$4</c:f>
              <c:multiLvlStrCache>
                <c:ptCount val="3"/>
                <c:lvl>
                  <c:pt idx="0">
                    <c:v>Year 1: Tk 8.1 Cr</c:v>
                  </c:pt>
                  <c:pt idx="1">
                    <c:v>Year 2: Tk 28.5 Cr</c:v>
                  </c:pt>
                  <c:pt idx="2">
                    <c:v>Year 3: Tk 41.4 Cr</c:v>
                  </c:pt>
                </c:lvl>
              </c:multiLvlStrCache>
            </c:multiLvlStrRef>
          </c:cat>
          <c:val>
            <c:numRef>
              <c:f>Sheet1!$B$2:$B$4</c:f>
              <c:numCache>
                <c:formatCode>General</c:formatCode>
                <c:ptCount val="3"/>
                <c:pt idx="0">
                  <c:v>1.53</c:v>
                </c:pt>
                <c:pt idx="1">
                  <c:v>6.2</c:v>
                </c:pt>
                <c:pt idx="2">
                  <c:v>9.54</c:v>
                </c:pt>
              </c:numCache>
            </c:numRef>
          </c:val>
        </c:ser>
        <c:ser>
          <c:idx val="1"/>
          <c:order val="1"/>
          <c:tx>
            <c:strRef>
              <c:f>Sheet1!$C$1</c:f>
              <c:strCache>
                <c:ptCount val="1"/>
                <c:pt idx="0">
                  <c:v>180 ml</c:v>
                </c:pt>
              </c:strCache>
            </c:strRef>
          </c:tx>
          <c:spPr>
            <a:solidFill>
              <a:srgbClr val="0B6FB8"/>
            </a:solidFill>
            <a:effectLst/>
          </c:spPr>
          <c:invertIfNegative val="0"/>
          <c:dLbls>
            <c:numFmt formatCode="0.0" sourceLinked="0"/>
            <c:txPr>
              <a:bodyPr/>
              <a:lstStyle/>
              <a:p>
                <a:pPr>
                  <a:defRPr b="0" i="0" strike="noStrike" sz="1000" u="none">
                    <a:solidFill>
                      <a:srgbClr val="FFFFFF"/>
                    </a:solidFill>
                    <a:latin typeface="Calibri"/>
                  </a:defRPr>
                </a:pPr>
              </a:p>
            </c:txPr>
            <c:dLblPos val="ctr"/>
            <c:showLegendKey val="0"/>
            <c:showVal val="1"/>
            <c:showCatName val="0"/>
            <c:showSerName val="0"/>
            <c:showPercent val="0"/>
            <c:showBubbleSize val="0"/>
            <c:showLeaderLines val="0"/>
          </c:dLbls>
          <c:cat>
            <c:multiLvlStrRef>
              <c:f>Sheet1!$A$2:$A$4</c:f>
              <c:multiLvlStrCache>
                <c:ptCount val="3"/>
                <c:lvl>
                  <c:pt idx="0">
                    <c:v>Year 1: Tk 8.1 Cr</c:v>
                  </c:pt>
                  <c:pt idx="1">
                    <c:v>Year 2: Tk 28.5 Cr</c:v>
                  </c:pt>
                  <c:pt idx="2">
                    <c:v>Year 3: Tk 41.4 Cr</c:v>
                  </c:pt>
                </c:lvl>
              </c:multiLvlStrCache>
            </c:multiLvlStrRef>
          </c:cat>
          <c:val>
            <c:numRef>
              <c:f>Sheet1!$C$2:$C$4</c:f>
              <c:numCache>
                <c:formatCode>General</c:formatCode>
                <c:ptCount val="3"/>
                <c:pt idx="0">
                  <c:v>2.87</c:v>
                </c:pt>
                <c:pt idx="1">
                  <c:v>10.21</c:v>
                </c:pt>
                <c:pt idx="2">
                  <c:v>14.87</c:v>
                </c:pt>
              </c:numCache>
            </c:numRef>
          </c:val>
        </c:ser>
        <c:ser>
          <c:idx val="2"/>
          <c:order val="2"/>
          <c:tx>
            <c:strRef>
              <c:f>Sheet1!$D$1</c:f>
              <c:strCache>
                <c:ptCount val="1"/>
                <c:pt idx="0">
                  <c:v>340 ml + PaniCheck</c:v>
                </c:pt>
              </c:strCache>
            </c:strRef>
          </c:tx>
          <c:spPr>
            <a:solidFill>
              <a:srgbClr val="141C52"/>
            </a:solidFill>
            <a:effectLst/>
          </c:spPr>
          <c:invertIfNegative val="0"/>
          <c:dLbls>
            <c:numFmt formatCode="0.0" sourceLinked="0"/>
            <c:txPr>
              <a:bodyPr/>
              <a:lstStyle/>
              <a:p>
                <a:pPr>
                  <a:defRPr b="0" i="0" strike="noStrike" sz="1000" u="none">
                    <a:solidFill>
                      <a:srgbClr val="FFFFFF"/>
                    </a:solidFill>
                    <a:latin typeface="Calibri"/>
                  </a:defRPr>
                </a:pPr>
              </a:p>
            </c:txPr>
            <c:dLblPos val="ctr"/>
            <c:showLegendKey val="0"/>
            <c:showVal val="1"/>
            <c:showCatName val="0"/>
            <c:showSerName val="0"/>
            <c:showPercent val="0"/>
            <c:showBubbleSize val="0"/>
            <c:showLeaderLines val="0"/>
          </c:dLbls>
          <c:cat>
            <c:multiLvlStrRef>
              <c:f>Sheet1!$A$2:$A$4</c:f>
              <c:multiLvlStrCache>
                <c:ptCount val="3"/>
                <c:lvl>
                  <c:pt idx="0">
                    <c:v>Year 1: Tk 8.1 Cr</c:v>
                  </c:pt>
                  <c:pt idx="1">
                    <c:v>Year 2: Tk 28.5 Cr</c:v>
                  </c:pt>
                  <c:pt idx="2">
                    <c:v>Year 3: Tk 41.4 Cr</c:v>
                  </c:pt>
                </c:lvl>
              </c:multiLvlStrCache>
            </c:multiLvlStrRef>
          </c:cat>
          <c:val>
            <c:numRef>
              <c:f>Sheet1!$D$2:$D$4</c:f>
              <c:numCache>
                <c:formatCode>General</c:formatCode>
                <c:ptCount val="3"/>
                <c:pt idx="0">
                  <c:v>3.71</c:v>
                </c:pt>
                <c:pt idx="1">
                  <c:v>12.09</c:v>
                </c:pt>
                <c:pt idx="2">
                  <c:v>16.96</c:v>
                </c:pt>
              </c:numCache>
            </c:numRef>
          </c:val>
        </c:ser>
        <c:dLbls>
          <c:numFmt formatCode="0.0" sourceLinked="0"/>
          <c:txPr>
            <a:bodyPr/>
            <a:lstStyle/>
            <a:p>
              <a:pPr>
                <a:defRPr b="0" i="0" strike="noStrike" sz="1000" u="none">
                  <a:solidFill>
                    <a:srgbClr val="FFFFFF"/>
                  </a:solidFill>
                  <a:latin typeface="Calibri"/>
                </a:defRPr>
              </a:pPr>
            </a:p>
          </c:txPr>
          <c:dLblPos val="ctr"/>
          <c:showLegendKey val="0"/>
          <c:showVal val="1"/>
          <c:showCatName val="0"/>
          <c:showSerName val="0"/>
          <c:showPercent val="0"/>
          <c:showBubbleSize val="0"/>
          <c:showLeaderLines val="0"/>
        </c:dLbls>
        <c:gapWidth val="55"/>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1F2937"/>
                </a:solidFill>
                <a:latin typeface="Calibri"/>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1F2937"/>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tagline: Is it your hair, or your water? WaterSmart is a Naturale shampoo that lets people test their water and then cleans away iron and hard-water build-up.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universe is wider than shampoo brands: workarounds and doing nothing are the real competition. Price per 100 ml is from real retailer listings on 9 Oct 2026.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Historical national well data are a screening context, not current household prevalence. 3,534 sampled wells; 3,530 have iron/hardness results. Five illustrated division districts are shown, not a size ranking.</a:t>
            </a:r>
          </a:p>
          <a:p/>
          <a:p>
            <a:r>
              <a:t>EVIDENCE BASE AND METHOD</a:t>
            </a:r>
          </a:p>
          <a:p>
            <a:r>
              <a:t>Water: BGS &amp; DPHE (2001) National Hydrochemical Survey: 3,534 wells, 61 districts, sampled Mar 1998–Dec 1999. Team analysis: hardness = 2.497 Ca + 4.118 Mg (USGS); flags Fe &gt;0.3 and hardness &gt;120 mg/L. Historical wells, not today’s taps, which is why the pack carries a test.</a:t>
            </a:r>
          </a:p>
          <a:p>
            <a:r>
              <a:t>Recent water: ICCEI 2025 Dhaka tap study (12 locations with values); BWDB 2022 groundwater-quality report (901 monitoring wells, 2019–21).</a:t>
            </a:r>
          </a:p>
          <a:p>
            <a:r>
              <a:t>Consumers: Khanam &amp; Rahman 2022 (n=390); Zakaria et al. 2025 (n=391); team Google Form, 3–9 Oct 2026: 49 consenting adults from 50 submissions, convenience sample. Q20: median maximum Tk 320 (n=47); 15/47 maxima at least Tk 360.</a:t>
            </a:r>
          </a:p>
          <a:p>
            <a:r>
              <a:t>Hair science: Luqman 2018 (n=70: tensile strength 255 vs 234 with hard water); Srinivasan 2013 (n=15: no significant difference). Evidence is mixed, so claims wait for our own R&amp;D tests.</a:t>
            </a:r>
          </a:p>
          <a:p>
            <a:r>
              <a:t>Market and prices: Mordor Intelligence (2026e); 24 online price observations, Chaldal and Arogga, 9 Oct 2026; Marico Bangladesh Annual Report FY2025-26.</a:t>
            </a:r>
          </a:p>
          <a:p/>
          <a:p>
            <a:r>
              <a:t>R&amp;D TEST PLAN   Hair-tress deposit test: at least 30% less Ca/Fe than Naturale core. Lather at least 80% of a soft-water reference at 150 and 300 mg/L. Home-use test n≈100. Stability at 40°C / 75% RH.</a:t>
            </a:r>
          </a:p>
          <a:p/>
          <a:p>
            <a:r>
              <a:t>Hair-science references: Luqman et al. 2018 (PMID 30034190); Srinivasan et al. 2013 (PMID 24574692). Sensitivities from finance_v4.cjs.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Own survey results are self-reported from a convenience sample: 49 consenting adults from 50 submissions. 18/22 water-source changers reported worse problems (81.8%); 38/49 rated concept appeal 4 or 5 (77.6%). Median maximum acceptable 340ml price Tk 320 (n=47); 15/47 maxima reach proposed Tk 360 (31.9%). Among water-source changers (our Movers): median maximum Tk 350; 10/22 (45.5%) reach Tk 360. These stated maxima are not sales conversion. Q21 historical exposure was reported as Tk 400; it is not relabeled as a measured Tk 360 response.</a:t>
            </a:r>
          </a:p>
          <a:p/>
          <a:p>
            <a:r>
              <a:t>Convenience sample; self-reports. The water–shampoo effect is shown as an illustrative animation in our pitch video; lab tests are planned (slide 15). The animation is a proposed mechanism illustration and contains no measured foam heights or treatment percentages.</a:t>
            </a:r>
          </a:p>
          <a:p/>
          <a:p>
            <a:r>
              <a:t>Packaging ranks eighth of nine in Khanam &amp; Rahman 2022 (mean 3.40); functionality is first. Historical water-screening context uses 3,534 sampled wells, 3,530 with iron/hardness results.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parts working together: a formula that fixes the problem, a cap that reveals it, and a map that explains it. The 340 ml carries the strip; sachets carry the QR.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Launching under Naturale borrows its trust and distribution, which is why the launch budget is affordable.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Sizing is bottom-up from outlets and units, then cross-checked against the category and against Marico’s revenue.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Value proposition: what the brand promises. The USP on the next slide is what makes it different.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strip is the packaging innovation: like Extra Care’s root applicator, it turns the pack into the proof.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Unique touchpoints carry the idea (testing water); surround touchpoints scale it. Campus activation reaches Movers where they live.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Volume = active outlets × units per outlet per month × months, as the Finance masterclass asks. Sachets give reach in rural grocers; the 340 ml with the strip drives value in cosmetics stores and modern trade.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Only the strip and the chelator are bought in. Everything else runs on capacity Marico expanded in FY26.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taka of revenue is net realisation, not MRP: the denominator judges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Headline and scenario NPV include final working-capital recovery; the deck also shows the no-recovery NPV and IRR. Final recovery assumes an actual recoverable working-capital run-down, not merely arrival at the forecast horizon. Worst case: −Tk 4.4 Cr (with working-capital recovery). Month 25 is the first month of commercial Year 2.</a:t>
            </a:r>
          </a:p>
          <a:p/>
          <a:p>
            <a:r>
              <a:t>ASSUMPTION REGISTER — FULL SOURCE CONTENT</a:t>
            </a:r>
          </a:p>
          <a:p>
            <a:r>
              <a:t>Driver | Value | Basis / source | Confirms</a:t>
            </a:r>
          </a:p>
          <a:p>
            <a:r>
              <a:t>MRP 340 ml + PaniCheck | Tk 360 | Naturale Hijab Fresh 340 ml Tk 390; Sunsilk 340 ml Tk 350 (Chaldal, 9 Oct 2026) | Brand</a:t>
            </a:r>
          </a:p>
          <a:p>
            <a:r>
              <a:t>MRP 180 ml / 6 ml sachet | Tk 180 / Tk 3 | Naturale 160–175 ml Tk 140–150; Naturale sachet Tk 2 per 5.25 ml | Brand</a:t>
            </a:r>
          </a:p>
          <a:p>
            <a:r>
              <a:t>Trade margin | 22% bottles, 25% sachets | Retailer + distributor; planning assumption | Sales</a:t>
            </a:r>
          </a:p>
          <a:p>
            <a:r>
              <a:t>VAT / SD | 15% / 15% | VAT &amp; SD Act 2012, shampoo; invoice treatment to confirm | Tax</a:t>
            </a:r>
          </a:p>
          <a:p>
            <a:r>
              <a:t>COGS per unit | Tk 95 / 55 / 1.20 | Bulk Tk 135/kg plus pack and conversion; strip Tk 3 target (unquoted) | Procurement</a:t>
            </a:r>
          </a:p>
          <a:p>
            <a:r>
              <a:t>Active outlets | 37k / 72k / 104k | Channel plan; Sales masterclass universe of 294k outlets | Sales</a:t>
            </a:r>
          </a:p>
          <a:p>
            <a:r>
              <a:t>Units per outlet per month | See Sales slide | Planning assumption; validated by pilot rate of sale | Sales</a:t>
            </a:r>
          </a:p>
          <a:p>
            <a:r>
              <a:t>A&amp;P | Y1 Tk 4.5 Cr; then 15%, 12%, 10%, 10% of NR | Marico FY26 marketing, selling and distribution = 5.2% of revenue | Marketing</a:t>
            </a:r>
          </a:p>
          <a:p>
            <a:r>
              <a:t>Selling and distribution | 8% of NR + Tk 1 Cr a year | Incremental SKU on existing Naturale routes | Sales / Finance</a:t>
            </a:r>
          </a:p>
          <a:p>
            <a:r>
              <a:t>Cannibalisation | 20% × 45% contribution | Planning assumption; measured in the pilot | Finance / Insights</a:t>
            </a:r>
          </a:p>
          <a:p>
            <a:r>
              <a:t>EPR | 1% of NR | EPR Guidelines 2026 (SRO 293); reserve, not a compliance quote | ESG</a:t>
            </a:r>
          </a:p>
          <a:p>
            <a:r>
              <a:t>Working capital | 12% of annualised NR | Marico FY26 core working capital = 11.5% of revenue | Finance</a:t>
            </a:r>
          </a:p>
          <a:p>
            <a:r>
              <a:t>CAPEX / pre-launch | Tk 3.0 Cr / Tk 0.5 Cr | Cap mould, strip insertion, line changeover; R&amp;D and pilot | Manufacturing</a:t>
            </a:r>
          </a:p>
          <a:p>
            <a:r>
              <a:t>Tax / WPPF / hurdle | 20% / 5% / 15% | Marico FY26 disclosures; hurdle assumed | Finance</a:t>
            </a:r>
          </a:p>
          <a:p>
            <a:r>
              <a:t>Horizon | 12 + 60 months | Pre-launch plus five commercial years; no terminal value | Finance</a:t>
            </a:r>
          </a:p>
          <a:p/>
          <a:p>
            <a:r>
              <a:t>Model: Round2_Submission/finance/finance_v4.cjs. It reuses the team’s v3 monthly model unchanged, adds the SD/tax/WPPF correction (reproducing the corrected −3.82/−6.32 Cr), then applies the v4 proposal decisions above.</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M1–6: formula qualification, stability, strip shelf-life, BSTI and DGDA sign-off. R&amp;D TEST PLAN   Hair-tress deposit test: at least 30% less Ca/Fe than Naturale core. Lather at least 80% of a soft-water reference at 150 and 300 mg/L. Home-use test n≈100. Stability at 40°C / 75% RH. These are planned tests and qualification criteria, not completed results.</a:t>
            </a:r>
          </a:p>
          <a:p/>
          <a:p>
            <a:r>
              <a:t>CAPEX Tk 3.0Cr and pre-launch R&amp;D/pilot Tk 0.5Cr are planning assumptions. The sole visible pre-go/no-go ask is Tk 3.5Cr. Keep all stated commercial gates, then reappraise the economics with actual costs, paid sales, cannibalisation and cash terms before national scale.</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pic>
        <p:nvPicPr>
          <p:cNvPr id="2" name="Image 0" descr="C:\Users\Administrator\Desktop\otw\Round2_Submission\deck\assets\otw_logo.png">    </p:cNvPr>
          <p:cNvPicPr>
            <a:picLocks noChangeAspect="1"/>
          </p:cNvPicPr>
          <p:nvPr/>
        </p:nvPicPr>
        <p:blipFill>
          <a:blip r:embed="rId1"/>
          <a:stretch>
            <a:fillRect/>
          </a:stretch>
        </p:blipFill>
        <p:spPr>
          <a:xfrm>
            <a:off x="10625328" y="201168"/>
            <a:ext cx="1243584" cy="587959"/>
          </a:xfrm>
          <a:prstGeom prst="rect">
            <a:avLst/>
          </a:prstGeom>
        </p:spPr>
      </p:pic>
      <p:sp>
        <p:nvSpPr>
          <p:cNvPr id="3" name="Text 0"/>
          <p:cNvSpPr/>
          <p:nvPr/>
        </p:nvSpPr>
        <p:spPr>
          <a:xfrm>
            <a:off x="548640" y="6400800"/>
            <a:ext cx="8686800" cy="274320"/>
          </a:xfrm>
          <a:prstGeom prst="rect">
            <a:avLst/>
          </a:prstGeom>
          <a:noFill/>
          <a:ln/>
        </p:spPr>
        <p:txBody>
          <a:bodyPr wrap="square" lIns="0" tIns="0" rIns="0" bIns="0" rtlCol="0" anchor="ctr"/>
          <a:lstStyle/>
          <a:p>
            <a:pPr indent="0" marL="0">
              <a:buNone/>
            </a:pPr>
            <a:r>
              <a:rPr lang="en-US" sz="1000" dirty="0">
                <a:solidFill>
                  <a:srgbClr val="5B6472"/>
                </a:solidFill>
              </a:rPr>
              <a:t>Parachute Naturale WaterSmart  ·  Team The Last BrainCell  ·  Over The Wall Season 5, Round 2</a:t>
            </a:r>
            <a:endParaRPr lang="en-US" sz="1000" dirty="0"/>
          </a:p>
        </p:txBody>
      </p:sp>
      <p:sp>
        <p:nvSpPr>
          <p:cNvPr id="4" name="Text 1"/>
          <p:cNvSpPr/>
          <p:nvPr>
            <p:ph idx="102" type="title" hasCustomPrompt="1"/>
          </p:nvPr>
        </p:nvSpPr>
        <p:spPr>
          <a:xfrm>
            <a:off x="548640" y="566928"/>
            <a:ext cx="9875520" cy="868680"/>
          </a:xfrm>
          <a:prstGeom prst="rect">
            <a:avLst/>
          </a:prstGeom>
          <a:noFill/>
          <a:ln/>
        </p:spPr>
        <p:txBody>
          <a:bodyPr wrap="square" rtlCol="0"/>
          <a:lstStyle>
            <a:lvl1pPr algn="l" indent="0" marL="0">
              <a:buNone/>
              <a:defRPr lang="en-US" sz="2600" b="1" dirty="0">
                <a:solidFill>
                  <a:srgbClr val="141C52"/>
                </a:solidFill>
              </a:defRPr>
            </a:lvl1pPr>
          </a:lstStyle>
          <a:p>
            <a:pPr algn="l" indent="0" marL="0">
              <a:buNone/>
            </a:pPr>
            <a:endParaRPr lang="en-US" sz="26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141C52"/>
        </a:solidFill>
      </p:bgPr>
    </p:bg>
    <p:spTree>
      <p:nvGrpSpPr>
        <p:cNvPr id="1" name=""/>
        <p:cNvGrpSpPr/>
        <p:nvPr/>
      </p:nvGrpSpPr>
      <p:grpSpPr>
        <a:xfrm>
          <a:off x="0" y="0"/>
          <a:ext cx="0" cy="0"/>
          <a:chOff x="0" y="0"/>
          <a:chExt cx="0" cy="0"/>
        </a:xfrm>
      </p:grpSpPr>
      <p:sp>
        <p:nvSpPr>
          <p:cNvPr id="2" name="Text 0"/>
          <p:cNvSpPr/>
          <p:nvPr/>
        </p:nvSpPr>
        <p:spPr>
          <a:xfrm>
            <a:off x="548640" y="6400800"/>
            <a:ext cx="8686800" cy="274320"/>
          </a:xfrm>
          <a:prstGeom prst="rect">
            <a:avLst/>
          </a:prstGeom>
          <a:noFill/>
          <a:ln/>
        </p:spPr>
        <p:txBody>
          <a:bodyPr wrap="square" lIns="0" tIns="0" rIns="0" bIns="0" rtlCol="0" anchor="ctr"/>
          <a:lstStyle/>
          <a:p>
            <a:pPr indent="0" marL="0">
              <a:buNone/>
            </a:pPr>
            <a:r>
              <a:rPr lang="en-US" sz="1000" dirty="0">
                <a:solidFill>
                  <a:srgbClr val="AEB6D9"/>
                </a:solidFill>
              </a:rPr>
              <a:t>Parachute Naturale WaterSmart  ·  Team The Last BrainCell  ·  Over The Wall Season 5, Round 2</a:t>
            </a:r>
            <a:endParaRPr lang="en-US" sz="1000" dirty="0"/>
          </a:p>
        </p:txBody>
      </p:sp>
      <p:sp>
        <p:nvSpPr>
          <p:cNvPr id="3" name="Text 1"/>
          <p:cNvSpPr/>
          <p:nvPr>
            <p:ph idx="101" type="title" hasCustomPrompt="1"/>
          </p:nvPr>
        </p:nvSpPr>
        <p:spPr>
          <a:xfrm>
            <a:off x="548640" y="566928"/>
            <a:ext cx="11064240" cy="868680"/>
          </a:xfrm>
          <a:prstGeom prst="rect">
            <a:avLst/>
          </a:prstGeom>
          <a:noFill/>
          <a:ln/>
        </p:spPr>
        <p:txBody>
          <a:bodyPr wrap="square" rtlCol="0"/>
          <a:lstStyle>
            <a:lvl1pPr algn="l" indent="0" marL="0">
              <a:buNone/>
              <a:defRPr lang="en-US" sz="2800" b="1" dirty="0">
                <a:solidFill>
                  <a:srgbClr val="FFFFFF"/>
                </a:solidFill>
              </a:defRPr>
            </a:lvl1pPr>
          </a:lstStyle>
          <a:p>
            <a:pPr algn="l" indent="0" marL="0">
              <a:buNone/>
            </a:pPr>
            <a:endParaRPr lang="en-US" sz="28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EB6D9"/>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VER">
    <p:bg>
      <p:bgPr>
        <a:solidFill>
          <a:srgbClr val="141C52"/>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4.xml"/><Relationship Id="rId4"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chart" Target="../charts/chart1.xml"/><Relationship Id="rId7" Type="http://schemas.openxmlformats.org/officeDocument/2006/relationships/slideLayout" Target="../slideLayouts/slideLayout2.xml"/><Relationship Id="rId8"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slideLayout" Target="../slideLayouts/slideLayout2.xml"/><Relationship Id="rId8"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2.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2.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slideLayout" Target="../slideLayouts/slideLayout2.xml"/><Relationship Id="rId8"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slideLayout" Target="../slideLayouts/slideLayout2.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chart" Target="../charts/chart2.xml"/><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7086600" y="411480"/>
            <a:ext cx="5852160" cy="5852160"/>
          </a:xfrm>
          <a:prstGeom prst="ellipse">
            <a:avLst/>
          </a:prstGeom>
          <a:solidFill>
            <a:srgbClr val="12A5C4">
              <a:alpha val="16000"/>
            </a:srgbClr>
          </a:solidFill>
          <a:ln/>
        </p:spPr>
      </p:sp>
      <p:sp>
        <p:nvSpPr>
          <p:cNvPr id="3" name="Shape 1"/>
          <p:cNvSpPr/>
          <p:nvPr/>
        </p:nvSpPr>
        <p:spPr>
          <a:xfrm>
            <a:off x="8001000" y="1325880"/>
            <a:ext cx="4023360" cy="4023360"/>
          </a:xfrm>
          <a:prstGeom prst="ellipse">
            <a:avLst/>
          </a:prstGeom>
          <a:solidFill>
            <a:srgbClr val="12A5C4">
              <a:alpha val="28000"/>
            </a:srgbClr>
          </a:solidFill>
          <a:ln/>
        </p:spPr>
      </p:sp>
      <p:pic>
        <p:nvPicPr>
          <p:cNvPr id="4" name="Image 0" descr="C:\Users\Administrator\Desktop\otw\Round2_Submission\deck\assets\bottle340.png">    </p:cNvPr>
          <p:cNvPicPr>
            <a:picLocks noChangeAspect="1"/>
          </p:cNvPicPr>
          <p:nvPr/>
        </p:nvPicPr>
        <p:blipFill>
          <a:blip r:embed="rId1"/>
          <a:stretch>
            <a:fillRect/>
          </a:stretch>
        </p:blipFill>
        <p:spPr>
          <a:xfrm>
            <a:off x="8686800" y="640080"/>
            <a:ext cx="2639873" cy="5486400"/>
          </a:xfrm>
          <a:prstGeom prst="rect">
            <a:avLst/>
          </a:prstGeom>
        </p:spPr>
      </p:pic>
      <p:sp>
        <p:nvSpPr>
          <p:cNvPr id="5" name="Shape 2"/>
          <p:cNvSpPr/>
          <p:nvPr/>
        </p:nvSpPr>
        <p:spPr>
          <a:xfrm>
            <a:off x="548640" y="457200"/>
            <a:ext cx="2057400" cy="914400"/>
          </a:xfrm>
          <a:prstGeom prst="roundRect">
            <a:avLst>
              <a:gd name="adj" fmla="val 12000"/>
            </a:avLst>
          </a:prstGeom>
          <a:solidFill>
            <a:srgbClr val="FFFFFF"/>
          </a:solidFill>
          <a:ln/>
        </p:spPr>
      </p:sp>
      <p:pic>
        <p:nvPicPr>
          <p:cNvPr id="6" name="Image 1" descr="C:\Users\Administrator\Desktop\otw\Round2_Submission\deck\assets\otw_logo.png">    </p:cNvPr>
          <p:cNvPicPr>
            <a:picLocks noChangeAspect="1"/>
          </p:cNvPicPr>
          <p:nvPr/>
        </p:nvPicPr>
        <p:blipFill>
          <a:blip r:embed="rId2"/>
          <a:stretch>
            <a:fillRect/>
          </a:stretch>
        </p:blipFill>
        <p:spPr>
          <a:xfrm>
            <a:off x="731520" y="514807"/>
            <a:ext cx="1691640" cy="799186"/>
          </a:xfrm>
          <a:prstGeom prst="rect">
            <a:avLst/>
          </a:prstGeom>
        </p:spPr>
      </p:pic>
      <p:sp>
        <p:nvSpPr>
          <p:cNvPr id="7" name="Text 3"/>
          <p:cNvSpPr txBox="1"/>
          <p:nvPr/>
        </p:nvSpPr>
        <p:spPr>
          <a:xfrm>
            <a:off x="548640" y="1783080"/>
            <a:ext cx="7772400" cy="320040"/>
          </a:xfrm>
          <a:prstGeom prst="rect">
            <a:avLst/>
          </a:prstGeom>
          <a:noFill/>
          <a:ln/>
        </p:spPr>
        <p:txBody>
          <a:bodyPr wrap="square" lIns="0" tIns="0" rIns="0" bIns="0" rtlCol="0" anchor="t"/>
          <a:lstStyle/>
          <a:p>
            <a:pPr indent="0" marL="0">
              <a:buNone/>
            </a:pPr>
            <a:r>
              <a:rPr lang="en-US" sz="1300" b="1" spc="200" kern="0" dirty="0">
                <a:solidFill>
                  <a:srgbClr val="F5A31A"/>
                </a:solidFill>
              </a:rPr>
              <a:t>ROUND 2  ·  HAIR CLEANSING  ·  BUSINESS PROPOSAL</a:t>
            </a:r>
            <a:endParaRPr lang="en-US" sz="1300" dirty="0"/>
          </a:p>
        </p:txBody>
      </p:sp>
      <p:sp>
        <p:nvSpPr>
          <p:cNvPr id="8" name="Text 4"/>
          <p:cNvSpPr txBox="1"/>
          <p:nvPr/>
        </p:nvSpPr>
        <p:spPr>
          <a:xfrm>
            <a:off x="548640" y="2148840"/>
            <a:ext cx="7863840" cy="1691640"/>
          </a:xfrm>
          <a:prstGeom prst="rect">
            <a:avLst/>
          </a:prstGeom>
          <a:noFill/>
          <a:ln/>
        </p:spPr>
        <p:txBody>
          <a:bodyPr wrap="square" lIns="0" tIns="0" rIns="0" bIns="0" rtlCol="0" anchor="t"/>
          <a:lstStyle/>
          <a:p>
            <a:pPr indent="0" marL="0">
              <a:buNone/>
            </a:pPr>
            <a:r>
              <a:rPr lang="en-US" sz="3000" dirty="0">
                <a:solidFill>
                  <a:srgbClr val="C9D3F5"/>
                </a:solidFill>
              </a:rPr>
              <a:t>Parachute Naturale</a:t>
            </a:r>
            <a:endParaRPr lang="en-US" sz="1200" dirty="0"/>
          </a:p>
          <a:p>
            <a:pPr indent="0" marL="0">
              <a:buNone/>
            </a:pPr>
            <a:r>
              <a:rPr lang="en-US" sz="6600" b="1" dirty="0">
                <a:solidFill>
                  <a:srgbClr val="FFFFFF"/>
                </a:solidFill>
              </a:rPr>
              <a:t>WaterSmart</a:t>
            </a:r>
            <a:endParaRPr lang="en-US" sz="1200" dirty="0"/>
          </a:p>
        </p:txBody>
      </p:sp>
      <p:sp>
        <p:nvSpPr>
          <p:cNvPr id="9" name="Text 5"/>
          <p:cNvSpPr txBox="1"/>
          <p:nvPr/>
        </p:nvSpPr>
        <p:spPr>
          <a:xfrm>
            <a:off x="548640" y="3840480"/>
            <a:ext cx="7772400" cy="457200"/>
          </a:xfrm>
          <a:prstGeom prst="rect">
            <a:avLst/>
          </a:prstGeom>
          <a:noFill/>
          <a:ln/>
        </p:spPr>
        <p:txBody>
          <a:bodyPr wrap="square" lIns="0" tIns="0" rIns="0" bIns="0" rtlCol="0" anchor="t"/>
          <a:lstStyle/>
          <a:p>
            <a:pPr indent="0" marL="0">
              <a:buNone/>
            </a:pPr>
            <a:r>
              <a:rPr lang="en-US" sz="2400" dirty="0">
                <a:solidFill>
                  <a:srgbClr val="9FE3F2"/>
                </a:solidFill>
              </a:rPr>
              <a:t>The shampoo that checks your water first</a:t>
            </a:r>
            <a:endParaRPr lang="en-US" sz="2400" dirty="0"/>
          </a:p>
        </p:txBody>
      </p:sp>
      <p:sp>
        <p:nvSpPr>
          <p:cNvPr id="10" name="Text 6"/>
          <p:cNvSpPr txBox="1"/>
          <p:nvPr/>
        </p:nvSpPr>
        <p:spPr>
          <a:xfrm>
            <a:off x="548640" y="4434840"/>
            <a:ext cx="7772400" cy="640080"/>
          </a:xfrm>
          <a:prstGeom prst="rect">
            <a:avLst/>
          </a:prstGeom>
          <a:noFill/>
          <a:ln/>
        </p:spPr>
        <p:txBody>
          <a:bodyPr wrap="square" lIns="0" tIns="0" rIns="0" bIns="0" rtlCol="0" anchor="t"/>
          <a:lstStyle/>
          <a:p>
            <a:pPr indent="0" marL="0">
              <a:buNone/>
            </a:pPr>
            <a:r>
              <a:rPr lang="en-US" sz="3000" dirty="0">
                <a:solidFill>
                  <a:srgbClr val="FFFFFF"/>
                </a:solidFill>
                <a:latin typeface="Nirmala UI" pitchFamily="34" charset="0"/>
                <a:ea typeface="Nirmala UI" pitchFamily="34" charset="-122"/>
                <a:cs typeface="Nirmala UI" pitchFamily="34" charset="-120"/>
              </a:rPr>
              <a:t>দোষ কি চুলের, নাকি পানির?</a:t>
            </a:r>
            <a:endParaRPr lang="en-US" sz="3000" dirty="0"/>
          </a:p>
        </p:txBody>
      </p:sp>
      <p:sp>
        <p:nvSpPr>
          <p:cNvPr id="11" name="Text 7"/>
          <p:cNvSpPr txBox="1"/>
          <p:nvPr/>
        </p:nvSpPr>
        <p:spPr>
          <a:xfrm>
            <a:off x="548640" y="5074920"/>
            <a:ext cx="7315200" cy="365760"/>
          </a:xfrm>
          <a:prstGeom prst="rect">
            <a:avLst/>
          </a:prstGeom>
          <a:noFill/>
          <a:ln/>
        </p:spPr>
        <p:txBody>
          <a:bodyPr wrap="square" lIns="0" tIns="0" rIns="0" bIns="0" rtlCol="0" anchor="t"/>
          <a:lstStyle/>
          <a:p>
            <a:pPr indent="0" marL="0">
              <a:buNone/>
            </a:pPr>
            <a:r>
              <a:rPr lang="en-US" sz="1600" i="1" dirty="0">
                <a:solidFill>
                  <a:srgbClr val="C9D3F5"/>
                </a:solidFill>
              </a:rPr>
              <a:t>Is it your hair, or your water?</a:t>
            </a:r>
            <a:endParaRPr lang="en-US" sz="1600" dirty="0"/>
          </a:p>
        </p:txBody>
      </p:sp>
      <p:sp>
        <p:nvSpPr>
          <p:cNvPr id="12" name="Text 8"/>
          <p:cNvSpPr txBox="1"/>
          <p:nvPr/>
        </p:nvSpPr>
        <p:spPr>
          <a:xfrm>
            <a:off x="548640" y="5760720"/>
            <a:ext cx="5486400" cy="365760"/>
          </a:xfrm>
          <a:prstGeom prst="rect">
            <a:avLst/>
          </a:prstGeom>
          <a:noFill/>
          <a:ln/>
        </p:spPr>
        <p:txBody>
          <a:bodyPr wrap="square" lIns="0" tIns="0" rIns="0" bIns="0" rtlCol="0" anchor="t"/>
          <a:lstStyle/>
          <a:p>
            <a:pPr indent="0" marL="0">
              <a:buNone/>
            </a:pPr>
            <a:r>
              <a:rPr lang="en-US" sz="1800" b="1" dirty="0">
                <a:solidFill>
                  <a:srgbClr val="FFFFFF"/>
                </a:solidFill>
              </a:rPr>
              <a:t>Team The Last BrainCell</a:t>
            </a:r>
            <a:endParaRPr lang="en-US" sz="1800" dirty="0"/>
          </a:p>
        </p:txBody>
      </p:sp>
      <p:sp>
        <p:nvSpPr>
          <p:cNvPr id="15" name="Team members"/>
          <p:cNvSpPr txBox="1"/>
          <p:nvPr/>
        </p:nvSpPr>
        <p:spPr>
          <a:xfrm>
            <a:off x="548640" y="6080760"/>
            <a:ext cx="7315200" cy="274320"/>
          </a:xfrm>
          <a:prstGeom prst="rect">
            <a:avLst/>
          </a:prstGeom>
          <a:noFill/>
          <a:ln/>
        </p:spPr>
        <p:txBody>
          <a:bodyPr wrap="square" lIns="0" tIns="0" rIns="0" bIns="0" rtlCol="0" anchor="t"/>
          <a:lstStyle/>
          <a:p>
            <a:pPr indent="0" marL="0">
              <a:buNone/>
            </a:pPr>
            <a:r>
              <a:rPr lang="en-US" sz="1300" dirty="0">
                <a:solidFill>
                  <a:srgbClr val="E3F5FA"/>
                </a:solidFill>
              </a:rPr>
              <a:t>Nafis Mohtasim Ramim  ·  Khandaker Shadman Sakib Siddiquee</a:t>
            </a:r>
            <a:endParaRPr lang="en-US" sz="1300" dirty="0"/>
          </a:p>
        </p:txBody>
      </p:sp>
      <p:sp>
        <p:nvSpPr>
          <p:cNvPr id="13" name="Text 9"/>
          <p:cNvSpPr txBox="1"/>
          <p:nvPr/>
        </p:nvSpPr>
        <p:spPr>
          <a:xfrm>
            <a:off x="548640" y="6400800"/>
            <a:ext cx="7315200" cy="274320"/>
          </a:xfrm>
          <a:prstGeom prst="rect">
            <a:avLst/>
          </a:prstGeom>
          <a:noFill/>
          <a:ln/>
        </p:spPr>
        <p:txBody>
          <a:bodyPr wrap="square" lIns="0" tIns="0" rIns="0" bIns="0" rtlCol="0" anchor="t"/>
          <a:lstStyle/>
          <a:p>
            <a:pPr indent="0" marL="0">
              <a:buNone/>
            </a:pPr>
            <a:r>
              <a:rPr lang="en-US" sz="1200" dirty="0">
                <a:solidFill>
                  <a:srgbClr val="AEB6D9"/>
                </a:solidFill>
              </a:rPr>
              <a:t>Over The Wall Season 5  ·  Marico Bangladesh  ·  October 2026</a:t>
            </a:r>
            <a:endParaRPr lang="en-US" sz="1200" dirty="0"/>
          </a:p>
        </p:txBody>
      </p:sp>
      <p:sp>
        <p:nvSpPr>
          <p:cNvPr id="14" name="Team members"/>
          <p:cNvSpPr txBox="1"/>
          <p:nvPr/>
        </p:nvSpPr>
        <p:spPr>
          <a:xfrm>
            <a:off x="548640" y="6126480"/>
            <a:ext cx="7315200" cy="274320"/>
          </a:xfrm>
          <a:prstGeom prst="rect">
            <a:avLst/>
          </a:prstGeom>
          <a:noFill/>
          <a:ln/>
        </p:spPr>
        <p:txBody>
          <a:bodyPr wrap="square" lIns="0" tIns="0" rIns="0" bIns="0" rtlCol="0" anchor="t"/>
          <a:lstStyle/>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48640" y="274320"/>
            <a:ext cx="9601200" cy="256032"/>
          </a:xfrm>
          <a:prstGeom prst="rect">
            <a:avLst/>
          </a:prstGeom>
          <a:noFill/>
          <a:ln/>
        </p:spPr>
        <p:txBody>
          <a:bodyPr wrap="square" lIns="0" tIns="0" rIns="0" bIns="0" rtlCol="0" anchor="t"/>
          <a:lstStyle/>
          <a:p>
            <a:pPr indent="0" marL="0">
              <a:buNone/>
            </a:pPr>
            <a:r>
              <a:rPr lang="en-US" sz="1100" b="1" spc="200" kern="0" dirty="0">
                <a:solidFill>
                  <a:srgbClr val="0E7FA0"/>
                </a:solidFill>
              </a:rPr>
              <a:t>BUSINESS PLAN  ·  COMPETITIVE LANDSCAPE</a:t>
            </a:r>
            <a:endParaRPr lang="en-US" sz="1100" dirty="0"/>
          </a:p>
        </p:txBody>
      </p:sp>
      <p:sp>
        <p:nvSpPr>
          <p:cNvPr id="3" name="Text 1"/>
          <p:cNvSpPr/>
          <p:nvPr>
            <p:ph idx="102" type="title" hasCustomPrompt="1"/>
          </p:nvPr>
        </p:nvSpPr>
        <p:spPr>
          <a:xfrm>
            <a:off x="548640" y="566928"/>
            <a:ext cx="9875520" cy="868680"/>
          </a:xfrm>
          <a:prstGeom prst="rect">
            <a:avLst/>
          </a:prstGeom>
          <a:noFill/>
          <a:ln/>
        </p:spPr>
        <p:txBody>
          <a:bodyPr wrap="square" lIns="0" tIns="0" rIns="0" bIns="0" rtlCol="0" anchor="t"/>
          <a:lstStyle/>
          <a:p>
            <a:pPr algn="l" indent="0" marL="0">
              <a:buNone/>
            </a:pPr>
            <a:r>
              <a:rPr lang="en-US" sz="2600" b="1" dirty="0">
                <a:solidFill>
                  <a:srgbClr val="141C52"/>
                </a:solidFill>
              </a:rPr>
              <a:t>A water-specific gap in the mass-priced shampoos we reviewed</a:t>
            </a:r>
            <a:endParaRPr lang="en-US" sz="2600" dirty="0"/>
          </a:p>
        </p:txBody>
      </p:sp>
      <p:sp>
        <p:nvSpPr>
          <p:cNvPr id="4" name="Text 2"/>
          <p:cNvSpPr txBox="1"/>
          <p:nvPr/>
        </p:nvSpPr>
        <p:spPr>
          <a:xfrm>
            <a:off x="548640" y="1536192"/>
            <a:ext cx="5760720" cy="320040"/>
          </a:xfrm>
          <a:prstGeom prst="rect">
            <a:avLst/>
          </a:prstGeom>
          <a:noFill/>
          <a:ln/>
        </p:spPr>
        <p:txBody>
          <a:bodyPr wrap="square" lIns="0" tIns="0" rIns="0" bIns="0" rtlCol="0" anchor="t"/>
          <a:lstStyle/>
          <a:p>
            <a:pPr indent="0" marL="0">
              <a:buNone/>
            </a:pPr>
            <a:r>
              <a:rPr lang="en-US" sz="1400" b="1" dirty="0">
                <a:solidFill>
                  <a:srgbClr val="141C52"/>
                </a:solidFill>
              </a:rPr>
              <a:t>What someone with “bad-water hair” can choose today</a:t>
            </a:r>
            <a:endParaRPr lang="en-US" sz="1400" dirty="0"/>
          </a:p>
        </p:txBody>
      </p:sp>
      <p:sp>
        <p:nvSpPr>
          <p:cNvPr id="5" name="Shape 3"/>
          <p:cNvSpPr/>
          <p:nvPr/>
        </p:nvSpPr>
        <p:spPr>
          <a:xfrm>
            <a:off x="548640" y="1938528"/>
            <a:ext cx="5760720" cy="713232"/>
          </a:xfrm>
          <a:prstGeom prst="roundRect">
            <a:avLst>
              <a:gd name="adj" fmla="val 10256"/>
            </a:avLst>
          </a:prstGeom>
          <a:solidFill>
            <a:srgbClr val="F3F6FA"/>
          </a:solidFill>
          <a:ln/>
        </p:spPr>
      </p:sp>
      <p:sp>
        <p:nvSpPr>
          <p:cNvPr id="6" name="Shape 4"/>
          <p:cNvSpPr/>
          <p:nvPr/>
        </p:nvSpPr>
        <p:spPr>
          <a:xfrm>
            <a:off x="685800" y="2066544"/>
            <a:ext cx="457200" cy="457200"/>
          </a:xfrm>
          <a:prstGeom prst="ellipse">
            <a:avLst/>
          </a:prstGeom>
          <a:solidFill>
            <a:srgbClr val="141C52"/>
          </a:solidFill>
          <a:ln/>
        </p:spPr>
      </p:sp>
      <p:pic>
        <p:nvPicPr>
          <p:cNvPr id="7" name="Image 0" descr="preencoded.png">    </p:cNvPr>
          <p:cNvPicPr>
            <a:picLocks noChangeAspect="1"/>
          </p:cNvPicPr>
          <p:nvPr/>
        </p:nvPicPr>
        <p:blipFill>
          <a:blip r:embed="rId1"/>
          <a:stretch>
            <a:fillRect/>
          </a:stretch>
        </p:blipFill>
        <p:spPr>
          <a:xfrm>
            <a:off x="795528" y="2176272"/>
            <a:ext cx="237744" cy="237744"/>
          </a:xfrm>
          <a:prstGeom prst="rect">
            <a:avLst/>
          </a:prstGeom>
        </p:spPr>
      </p:pic>
      <p:sp>
        <p:nvSpPr>
          <p:cNvPr id="8" name="Text 5"/>
          <p:cNvSpPr txBox="1"/>
          <p:nvPr/>
        </p:nvSpPr>
        <p:spPr>
          <a:xfrm>
            <a:off x="1280160" y="2011680"/>
            <a:ext cx="2926080" cy="274320"/>
          </a:xfrm>
          <a:prstGeom prst="rect">
            <a:avLst/>
          </a:prstGeom>
          <a:noFill/>
          <a:ln/>
        </p:spPr>
        <p:txBody>
          <a:bodyPr wrap="square" lIns="0" tIns="0" rIns="0" bIns="0" rtlCol="0" anchor="t"/>
          <a:lstStyle/>
          <a:p>
            <a:pPr indent="0" marL="0">
              <a:buNone/>
            </a:pPr>
            <a:r>
              <a:rPr lang="en-US" sz="1300" b="1" dirty="0">
                <a:solidFill>
                  <a:srgbClr val="141C52"/>
                </a:solidFill>
              </a:rPr>
              <a:t>Mass shampoos</a:t>
            </a:r>
            <a:endParaRPr lang="en-US" sz="1300" dirty="0"/>
          </a:p>
        </p:txBody>
      </p:sp>
      <p:sp>
        <p:nvSpPr>
          <p:cNvPr id="9" name="Text 6"/>
          <p:cNvSpPr txBox="1"/>
          <p:nvPr/>
        </p:nvSpPr>
        <p:spPr>
          <a:xfrm>
            <a:off x="1280160" y="2276856"/>
            <a:ext cx="2971800" cy="347472"/>
          </a:xfrm>
          <a:prstGeom prst="rect">
            <a:avLst/>
          </a:prstGeom>
          <a:noFill/>
          <a:ln/>
        </p:spPr>
        <p:txBody>
          <a:bodyPr wrap="square" lIns="0" tIns="0" rIns="0" bIns="0" rtlCol="0" anchor="t"/>
          <a:lstStyle/>
          <a:p>
            <a:pPr indent="0" marL="0">
              <a:buNone/>
            </a:pPr>
            <a:r>
              <a:rPr lang="en-US" sz="1100" dirty="0">
                <a:solidFill>
                  <a:srgbClr val="5B6472"/>
                </a:solidFill>
              </a:rPr>
              <a:t>Sunsilk, Clinic Plus, Naturale, Pantene · Tk 83–103 per 100 ml</a:t>
            </a:r>
            <a:endParaRPr lang="en-US" sz="1100" dirty="0"/>
          </a:p>
        </p:txBody>
      </p:sp>
      <p:sp>
        <p:nvSpPr>
          <p:cNvPr id="10" name="Text 7"/>
          <p:cNvSpPr txBox="1"/>
          <p:nvPr/>
        </p:nvSpPr>
        <p:spPr>
          <a:xfrm>
            <a:off x="4343400" y="2011680"/>
            <a:ext cx="1828800" cy="566928"/>
          </a:xfrm>
          <a:prstGeom prst="rect">
            <a:avLst/>
          </a:prstGeom>
          <a:noFill/>
          <a:ln/>
        </p:spPr>
        <p:txBody>
          <a:bodyPr wrap="square" lIns="0" tIns="0" rIns="0" bIns="0" rtlCol="0" anchor="ctr"/>
          <a:lstStyle/>
          <a:p>
            <a:pPr indent="0" marL="0">
              <a:buNone/>
            </a:pPr>
            <a:r>
              <a:rPr lang="en-US" sz="1100" b="1" dirty="0">
                <a:solidFill>
                  <a:srgbClr val="B4511F"/>
                </a:solidFill>
              </a:rPr>
              <a:t>Benefit-led, not built for minerals</a:t>
            </a:r>
            <a:endParaRPr lang="en-US" sz="1100" dirty="0"/>
          </a:p>
        </p:txBody>
      </p:sp>
      <p:sp>
        <p:nvSpPr>
          <p:cNvPr id="11" name="Shape 8"/>
          <p:cNvSpPr/>
          <p:nvPr/>
        </p:nvSpPr>
        <p:spPr>
          <a:xfrm>
            <a:off x="548640" y="2724912"/>
            <a:ext cx="5760720" cy="713232"/>
          </a:xfrm>
          <a:prstGeom prst="roundRect">
            <a:avLst>
              <a:gd name="adj" fmla="val 10256"/>
            </a:avLst>
          </a:prstGeom>
          <a:solidFill>
            <a:srgbClr val="F3F6FA"/>
          </a:solidFill>
          <a:ln/>
        </p:spPr>
      </p:sp>
      <p:sp>
        <p:nvSpPr>
          <p:cNvPr id="12" name="Shape 9"/>
          <p:cNvSpPr/>
          <p:nvPr/>
        </p:nvSpPr>
        <p:spPr>
          <a:xfrm>
            <a:off x="685800" y="2852928"/>
            <a:ext cx="457200" cy="457200"/>
          </a:xfrm>
          <a:prstGeom prst="ellipse">
            <a:avLst/>
          </a:prstGeom>
          <a:solidFill>
            <a:srgbClr val="141C52"/>
          </a:solidFill>
          <a:ln/>
        </p:spPr>
      </p:sp>
      <p:pic>
        <p:nvPicPr>
          <p:cNvPr id="13" name="Image 1" descr="preencoded.png">    </p:cNvPr>
          <p:cNvPicPr>
            <a:picLocks noChangeAspect="1"/>
          </p:cNvPicPr>
          <p:nvPr/>
        </p:nvPicPr>
        <p:blipFill>
          <a:blip r:embed="rId2"/>
          <a:stretch>
            <a:fillRect/>
          </a:stretch>
        </p:blipFill>
        <p:spPr>
          <a:xfrm>
            <a:off x="795528" y="2962656"/>
            <a:ext cx="237744" cy="237744"/>
          </a:xfrm>
          <a:prstGeom prst="rect">
            <a:avLst/>
          </a:prstGeom>
        </p:spPr>
      </p:pic>
      <p:sp>
        <p:nvSpPr>
          <p:cNvPr id="14" name="Text 10"/>
          <p:cNvSpPr txBox="1"/>
          <p:nvPr/>
        </p:nvSpPr>
        <p:spPr>
          <a:xfrm>
            <a:off x="1280160" y="2798064"/>
            <a:ext cx="2926080" cy="274320"/>
          </a:xfrm>
          <a:prstGeom prst="rect">
            <a:avLst/>
          </a:prstGeom>
          <a:noFill/>
          <a:ln/>
        </p:spPr>
        <p:txBody>
          <a:bodyPr wrap="square" lIns="0" tIns="0" rIns="0" bIns="0" rtlCol="0" anchor="t"/>
          <a:lstStyle/>
          <a:p>
            <a:pPr indent="0" marL="0">
              <a:buNone/>
            </a:pPr>
            <a:r>
              <a:rPr lang="en-US" sz="1300" b="1" dirty="0">
                <a:solidFill>
                  <a:srgbClr val="141C52"/>
                </a:solidFill>
              </a:rPr>
              <a:t>Premium and anti-dandruff</a:t>
            </a:r>
            <a:endParaRPr lang="en-US" sz="1300" dirty="0"/>
          </a:p>
        </p:txBody>
      </p:sp>
      <p:sp>
        <p:nvSpPr>
          <p:cNvPr id="15" name="Text 11"/>
          <p:cNvSpPr txBox="1"/>
          <p:nvPr/>
        </p:nvSpPr>
        <p:spPr>
          <a:xfrm>
            <a:off x="1280160" y="3063240"/>
            <a:ext cx="2971800" cy="347472"/>
          </a:xfrm>
          <a:prstGeom prst="rect">
            <a:avLst/>
          </a:prstGeom>
          <a:noFill/>
          <a:ln/>
        </p:spPr>
        <p:txBody>
          <a:bodyPr wrap="square" lIns="0" tIns="0" rIns="0" bIns="0" rtlCol="0" anchor="t"/>
          <a:lstStyle/>
          <a:p>
            <a:pPr indent="0" marL="0">
              <a:buNone/>
            </a:pPr>
            <a:r>
              <a:rPr lang="en-US" sz="1100" dirty="0">
                <a:solidFill>
                  <a:srgbClr val="5B6472"/>
                </a:solidFill>
              </a:rPr>
              <a:t>Dove, Clear, Head &amp; Shoulders, L’Oréal · Tk 142–180 per 100 ml</a:t>
            </a:r>
            <a:endParaRPr lang="en-US" sz="1100" dirty="0"/>
          </a:p>
        </p:txBody>
      </p:sp>
      <p:sp>
        <p:nvSpPr>
          <p:cNvPr id="16" name="Text 12"/>
          <p:cNvSpPr txBox="1"/>
          <p:nvPr/>
        </p:nvSpPr>
        <p:spPr>
          <a:xfrm>
            <a:off x="4343400" y="2798064"/>
            <a:ext cx="1828800" cy="566928"/>
          </a:xfrm>
          <a:prstGeom prst="rect">
            <a:avLst/>
          </a:prstGeom>
          <a:noFill/>
          <a:ln/>
        </p:spPr>
        <p:txBody>
          <a:bodyPr wrap="square" lIns="0" tIns="0" rIns="0" bIns="0" rtlCol="0" anchor="ctr"/>
          <a:lstStyle/>
          <a:p>
            <a:pPr indent="0" marL="0">
              <a:buNone/>
            </a:pPr>
            <a:r>
              <a:rPr lang="en-US" sz="1100" b="1" dirty="0">
                <a:solidFill>
                  <a:srgbClr val="B4511F"/>
                </a:solidFill>
              </a:rPr>
              <a:t>Costs more; same water problem</a:t>
            </a:r>
            <a:endParaRPr lang="en-US" sz="1100" dirty="0"/>
          </a:p>
        </p:txBody>
      </p:sp>
      <p:sp>
        <p:nvSpPr>
          <p:cNvPr id="17" name="Shape 13"/>
          <p:cNvSpPr/>
          <p:nvPr/>
        </p:nvSpPr>
        <p:spPr>
          <a:xfrm>
            <a:off x="548640" y="3511296"/>
            <a:ext cx="5760720" cy="713232"/>
          </a:xfrm>
          <a:prstGeom prst="roundRect">
            <a:avLst>
              <a:gd name="adj" fmla="val 10256"/>
            </a:avLst>
          </a:prstGeom>
          <a:solidFill>
            <a:srgbClr val="F3F6FA"/>
          </a:solidFill>
          <a:ln/>
        </p:spPr>
      </p:sp>
      <p:sp>
        <p:nvSpPr>
          <p:cNvPr id="18" name="Shape 14"/>
          <p:cNvSpPr/>
          <p:nvPr/>
        </p:nvSpPr>
        <p:spPr>
          <a:xfrm>
            <a:off x="685800" y="3639312"/>
            <a:ext cx="457200" cy="457200"/>
          </a:xfrm>
          <a:prstGeom prst="ellipse">
            <a:avLst/>
          </a:prstGeom>
          <a:solidFill>
            <a:srgbClr val="12A5C4"/>
          </a:solidFill>
          <a:ln/>
        </p:spPr>
      </p:sp>
      <p:pic>
        <p:nvPicPr>
          <p:cNvPr id="19" name="Image 2" descr="preencoded.png">    </p:cNvPr>
          <p:cNvPicPr>
            <a:picLocks noChangeAspect="1"/>
          </p:cNvPicPr>
          <p:nvPr/>
        </p:nvPicPr>
        <p:blipFill>
          <a:blip r:embed="rId3"/>
          <a:stretch>
            <a:fillRect/>
          </a:stretch>
        </p:blipFill>
        <p:spPr>
          <a:xfrm>
            <a:off x="795528" y="3749040"/>
            <a:ext cx="237744" cy="237744"/>
          </a:xfrm>
          <a:prstGeom prst="rect">
            <a:avLst/>
          </a:prstGeom>
        </p:spPr>
      </p:pic>
      <p:sp>
        <p:nvSpPr>
          <p:cNvPr id="20" name="Text 15"/>
          <p:cNvSpPr txBox="1"/>
          <p:nvPr/>
        </p:nvSpPr>
        <p:spPr>
          <a:xfrm>
            <a:off x="1280160" y="3584448"/>
            <a:ext cx="2926080" cy="274320"/>
          </a:xfrm>
          <a:prstGeom prst="rect">
            <a:avLst/>
          </a:prstGeom>
          <a:noFill/>
          <a:ln/>
        </p:spPr>
        <p:txBody>
          <a:bodyPr wrap="square" lIns="0" tIns="0" rIns="0" bIns="0" rtlCol="0" anchor="t"/>
          <a:lstStyle/>
          <a:p>
            <a:pPr indent="0" marL="0">
              <a:buNone/>
            </a:pPr>
            <a:r>
              <a:rPr lang="en-US" sz="1300" b="1" dirty="0">
                <a:solidFill>
                  <a:srgbClr val="141C52"/>
                </a:solidFill>
              </a:rPr>
              <a:t>Imported hard-water shampoos</a:t>
            </a:r>
            <a:endParaRPr lang="en-US" sz="1300" dirty="0"/>
          </a:p>
        </p:txBody>
      </p:sp>
      <p:sp>
        <p:nvSpPr>
          <p:cNvPr id="21" name="Text 16"/>
          <p:cNvSpPr txBox="1"/>
          <p:nvPr/>
        </p:nvSpPr>
        <p:spPr>
          <a:xfrm>
            <a:off x="1280160" y="3849624"/>
            <a:ext cx="2971800" cy="347472"/>
          </a:xfrm>
          <a:prstGeom prst="rect">
            <a:avLst/>
          </a:prstGeom>
          <a:noFill/>
          <a:ln/>
        </p:spPr>
        <p:txBody>
          <a:bodyPr wrap="square" lIns="0" tIns="0" rIns="0" bIns="0" rtlCol="0" anchor="t"/>
          <a:lstStyle/>
          <a:p>
            <a:pPr indent="0" marL="0">
              <a:buNone/>
            </a:pPr>
            <a:r>
              <a:rPr lang="en-US" sz="1100" dirty="0">
                <a:solidFill>
                  <a:srgbClr val="5B6472"/>
                </a:solidFill>
              </a:rPr>
              <a:t>Dove Hard Water Defense (Gulf), Malibu C, import listings</a:t>
            </a:r>
            <a:endParaRPr lang="en-US" sz="1100" dirty="0"/>
          </a:p>
        </p:txBody>
      </p:sp>
      <p:sp>
        <p:nvSpPr>
          <p:cNvPr id="22" name="Text 17"/>
          <p:cNvSpPr txBox="1"/>
          <p:nvPr/>
        </p:nvSpPr>
        <p:spPr>
          <a:xfrm>
            <a:off x="4343400" y="3584448"/>
            <a:ext cx="1828800" cy="566928"/>
          </a:xfrm>
          <a:prstGeom prst="rect">
            <a:avLst/>
          </a:prstGeom>
          <a:noFill/>
          <a:ln/>
        </p:spPr>
        <p:txBody>
          <a:bodyPr wrap="square" lIns="0" tIns="0" rIns="0" bIns="0" rtlCol="0" anchor="ctr"/>
          <a:lstStyle/>
          <a:p>
            <a:pPr indent="0" marL="0">
              <a:buNone/>
            </a:pPr>
            <a:r>
              <a:rPr lang="en-US" sz="1100" b="1" dirty="0">
                <a:solidFill>
                  <a:srgbClr val="B4511F"/>
                </a:solidFill>
              </a:rPr>
              <a:t>Proves the need; import-priced, not in general trade</a:t>
            </a:r>
            <a:endParaRPr lang="en-US" sz="1100" dirty="0"/>
          </a:p>
        </p:txBody>
      </p:sp>
      <p:sp>
        <p:nvSpPr>
          <p:cNvPr id="23" name="Shape 18"/>
          <p:cNvSpPr/>
          <p:nvPr/>
        </p:nvSpPr>
        <p:spPr>
          <a:xfrm>
            <a:off x="548640" y="4297680"/>
            <a:ext cx="5760720" cy="713232"/>
          </a:xfrm>
          <a:prstGeom prst="roundRect">
            <a:avLst>
              <a:gd name="adj" fmla="val 10256"/>
            </a:avLst>
          </a:prstGeom>
          <a:solidFill>
            <a:srgbClr val="F3F6FA"/>
          </a:solidFill>
          <a:ln/>
        </p:spPr>
      </p:sp>
      <p:sp>
        <p:nvSpPr>
          <p:cNvPr id="24" name="Shape 19"/>
          <p:cNvSpPr/>
          <p:nvPr/>
        </p:nvSpPr>
        <p:spPr>
          <a:xfrm>
            <a:off x="685800" y="4425696"/>
            <a:ext cx="457200" cy="457200"/>
          </a:xfrm>
          <a:prstGeom prst="ellipse">
            <a:avLst/>
          </a:prstGeom>
          <a:solidFill>
            <a:srgbClr val="141C52"/>
          </a:solidFill>
          <a:ln/>
        </p:spPr>
      </p:sp>
      <p:pic>
        <p:nvPicPr>
          <p:cNvPr id="25" name="Image 3" descr="preencoded.png">    </p:cNvPr>
          <p:cNvPicPr>
            <a:picLocks noChangeAspect="1"/>
          </p:cNvPicPr>
          <p:nvPr/>
        </p:nvPicPr>
        <p:blipFill>
          <a:blip r:embed="rId4"/>
          <a:stretch>
            <a:fillRect/>
          </a:stretch>
        </p:blipFill>
        <p:spPr>
          <a:xfrm>
            <a:off x="795528" y="4535424"/>
            <a:ext cx="237744" cy="237744"/>
          </a:xfrm>
          <a:prstGeom prst="rect">
            <a:avLst/>
          </a:prstGeom>
        </p:spPr>
      </p:pic>
      <p:sp>
        <p:nvSpPr>
          <p:cNvPr id="26" name="Text 20"/>
          <p:cNvSpPr txBox="1"/>
          <p:nvPr/>
        </p:nvSpPr>
        <p:spPr>
          <a:xfrm>
            <a:off x="1280160" y="4370832"/>
            <a:ext cx="2926080" cy="274320"/>
          </a:xfrm>
          <a:prstGeom prst="rect">
            <a:avLst/>
          </a:prstGeom>
          <a:noFill/>
          <a:ln/>
        </p:spPr>
        <p:txBody>
          <a:bodyPr wrap="square" lIns="0" tIns="0" rIns="0" bIns="0" rtlCol="0" anchor="t"/>
          <a:lstStyle/>
          <a:p>
            <a:pPr indent="0" marL="0">
              <a:buNone/>
            </a:pPr>
            <a:r>
              <a:rPr lang="en-US" sz="1300" b="1" dirty="0">
                <a:solidFill>
                  <a:srgbClr val="141C52"/>
                </a:solidFill>
              </a:rPr>
              <a:t>Workarounds</a:t>
            </a:r>
            <a:endParaRPr lang="en-US" sz="1300" dirty="0"/>
          </a:p>
        </p:txBody>
      </p:sp>
      <p:sp>
        <p:nvSpPr>
          <p:cNvPr id="27" name="Text 21"/>
          <p:cNvSpPr txBox="1"/>
          <p:nvPr/>
        </p:nvSpPr>
        <p:spPr>
          <a:xfrm>
            <a:off x="1280160" y="4636008"/>
            <a:ext cx="2971800" cy="347472"/>
          </a:xfrm>
          <a:prstGeom prst="rect">
            <a:avLst/>
          </a:prstGeom>
          <a:noFill/>
          <a:ln/>
        </p:spPr>
        <p:txBody>
          <a:bodyPr wrap="square" lIns="0" tIns="0" rIns="0" bIns="0" rtlCol="0" anchor="t"/>
          <a:lstStyle/>
          <a:p>
            <a:pPr indent="0" marL="0">
              <a:buNone/>
            </a:pPr>
            <a:r>
              <a:rPr lang="en-US" sz="1100" dirty="0">
                <a:solidFill>
                  <a:srgbClr val="5B6472"/>
                </a:solidFill>
              </a:rPr>
              <a:t>More shampoo, hair oil, conditioner, bottled-water rinse, filters</a:t>
            </a:r>
            <a:endParaRPr lang="en-US" sz="1100" dirty="0"/>
          </a:p>
        </p:txBody>
      </p:sp>
      <p:sp>
        <p:nvSpPr>
          <p:cNvPr id="28" name="Text 22"/>
          <p:cNvSpPr txBox="1"/>
          <p:nvPr/>
        </p:nvSpPr>
        <p:spPr>
          <a:xfrm>
            <a:off x="4343400" y="4370832"/>
            <a:ext cx="1828800" cy="566928"/>
          </a:xfrm>
          <a:prstGeom prst="rect">
            <a:avLst/>
          </a:prstGeom>
          <a:noFill/>
          <a:ln/>
        </p:spPr>
        <p:txBody>
          <a:bodyPr wrap="square" lIns="0" tIns="0" rIns="0" bIns="0" rtlCol="0" anchor="ctr"/>
          <a:lstStyle/>
          <a:p>
            <a:pPr indent="0" marL="0">
              <a:buNone/>
            </a:pPr>
            <a:r>
              <a:rPr lang="en-US" sz="1100" b="1" dirty="0">
                <a:solidFill>
                  <a:srgbClr val="B4511F"/>
                </a:solidFill>
              </a:rPr>
              <a:t>Extra steps or upfront cost</a:t>
            </a:r>
            <a:endParaRPr lang="en-US" sz="1100" dirty="0"/>
          </a:p>
        </p:txBody>
      </p:sp>
      <p:sp>
        <p:nvSpPr>
          <p:cNvPr id="29" name="Shape 23"/>
          <p:cNvSpPr/>
          <p:nvPr/>
        </p:nvSpPr>
        <p:spPr>
          <a:xfrm>
            <a:off x="548640" y="5084064"/>
            <a:ext cx="5760720" cy="713232"/>
          </a:xfrm>
          <a:prstGeom prst="roundRect">
            <a:avLst>
              <a:gd name="adj" fmla="val 10256"/>
            </a:avLst>
          </a:prstGeom>
          <a:solidFill>
            <a:srgbClr val="F3F6FA"/>
          </a:solidFill>
          <a:ln/>
        </p:spPr>
      </p:sp>
      <p:sp>
        <p:nvSpPr>
          <p:cNvPr id="30" name="Shape 24"/>
          <p:cNvSpPr/>
          <p:nvPr/>
        </p:nvSpPr>
        <p:spPr>
          <a:xfrm>
            <a:off x="685800" y="5212080"/>
            <a:ext cx="457200" cy="457200"/>
          </a:xfrm>
          <a:prstGeom prst="ellipse">
            <a:avLst/>
          </a:prstGeom>
          <a:solidFill>
            <a:srgbClr val="141C52"/>
          </a:solidFill>
          <a:ln/>
        </p:spPr>
      </p:sp>
      <p:pic>
        <p:nvPicPr>
          <p:cNvPr id="31" name="Image 4" descr="preencoded.png">    </p:cNvPr>
          <p:cNvPicPr>
            <a:picLocks noChangeAspect="1"/>
          </p:cNvPicPr>
          <p:nvPr/>
        </p:nvPicPr>
        <p:blipFill>
          <a:blip r:embed="rId5"/>
          <a:stretch>
            <a:fillRect/>
          </a:stretch>
        </p:blipFill>
        <p:spPr>
          <a:xfrm>
            <a:off x="795528" y="5321808"/>
            <a:ext cx="237744" cy="237744"/>
          </a:xfrm>
          <a:prstGeom prst="rect">
            <a:avLst/>
          </a:prstGeom>
        </p:spPr>
      </p:pic>
      <p:sp>
        <p:nvSpPr>
          <p:cNvPr id="32" name="Text 25"/>
          <p:cNvSpPr txBox="1"/>
          <p:nvPr/>
        </p:nvSpPr>
        <p:spPr>
          <a:xfrm>
            <a:off x="1280160" y="5157216"/>
            <a:ext cx="2926080" cy="274320"/>
          </a:xfrm>
          <a:prstGeom prst="rect">
            <a:avLst/>
          </a:prstGeom>
          <a:noFill/>
          <a:ln/>
        </p:spPr>
        <p:txBody>
          <a:bodyPr wrap="square" lIns="0" tIns="0" rIns="0" bIns="0" rtlCol="0" anchor="t"/>
          <a:lstStyle/>
          <a:p>
            <a:pPr indent="0" marL="0">
              <a:buNone/>
            </a:pPr>
            <a:r>
              <a:rPr lang="en-US" sz="1300" b="1" dirty="0">
                <a:solidFill>
                  <a:srgbClr val="141C52"/>
                </a:solidFill>
              </a:rPr>
              <a:t>Do nothing</a:t>
            </a:r>
            <a:endParaRPr lang="en-US" sz="1300" dirty="0"/>
          </a:p>
        </p:txBody>
      </p:sp>
      <p:sp>
        <p:nvSpPr>
          <p:cNvPr id="33" name="Text 26"/>
          <p:cNvSpPr txBox="1"/>
          <p:nvPr/>
        </p:nvSpPr>
        <p:spPr>
          <a:xfrm>
            <a:off x="1280160" y="5422392"/>
            <a:ext cx="2971800" cy="347472"/>
          </a:xfrm>
          <a:prstGeom prst="rect">
            <a:avLst/>
          </a:prstGeom>
          <a:noFill/>
          <a:ln/>
        </p:spPr>
        <p:txBody>
          <a:bodyPr wrap="square" lIns="0" tIns="0" rIns="0" bIns="0" rtlCol="0" anchor="t"/>
          <a:lstStyle/>
          <a:p>
            <a:pPr indent="0" marL="0">
              <a:buNone/>
            </a:pPr>
            <a:r>
              <a:rPr lang="en-US" sz="1100" dirty="0">
                <a:solidFill>
                  <a:srgbClr val="5B6472"/>
                </a:solidFill>
              </a:rPr>
              <a:t>Live with rough, dull hair</a:t>
            </a:r>
            <a:endParaRPr lang="en-US" sz="1100" dirty="0"/>
          </a:p>
        </p:txBody>
      </p:sp>
      <p:sp>
        <p:nvSpPr>
          <p:cNvPr id="34" name="Text 27"/>
          <p:cNvSpPr txBox="1"/>
          <p:nvPr/>
        </p:nvSpPr>
        <p:spPr>
          <a:xfrm>
            <a:off x="4343400" y="5157216"/>
            <a:ext cx="1828800" cy="566928"/>
          </a:xfrm>
          <a:prstGeom prst="rect">
            <a:avLst/>
          </a:prstGeom>
          <a:noFill/>
          <a:ln/>
        </p:spPr>
        <p:txBody>
          <a:bodyPr wrap="square" lIns="0" tIns="0" rIns="0" bIns="0" rtlCol="0" anchor="ctr"/>
          <a:lstStyle/>
          <a:p>
            <a:pPr indent="0" marL="0">
              <a:buNone/>
            </a:pPr>
            <a:r>
              <a:rPr lang="en-US" sz="1100" b="1" dirty="0">
                <a:solidFill>
                  <a:srgbClr val="B4511F"/>
                </a:solidFill>
              </a:rPr>
              <a:t>The biggest competitor</a:t>
            </a:r>
            <a:endParaRPr lang="en-US" sz="1100" dirty="0"/>
          </a:p>
        </p:txBody>
      </p:sp>
      <p:graphicFrame>
        <p:nvGraphicFramePr>
          <p:cNvPr id="37" name="Chart 0" descr=""/>
          <p:cNvGraphicFramePr/>
          <p:nvPr/>
        </p:nvGraphicFramePr>
        <p:xfrm>
          <a:off x="6492240" y="1554480"/>
          <a:ext cx="5166360" cy="3776472"/>
        </p:xfrm>
        <a:graphic xmlns:a="http://schemas.openxmlformats.org/drawingml/2006/main">
          <a:graphicData uri="http://schemas.openxmlformats.org/drawingml/2006/chart">
            <c:chart xmlns:c="http://schemas.openxmlformats.org/drawingml/2006/chart" r:id="rId6"/>
          </a:graphicData>
        </a:graphic>
      </p:graphicFrame>
      <p:sp>
        <p:nvSpPr>
          <p:cNvPr id="38" name="Text 30"/>
          <p:cNvSpPr txBox="1"/>
          <p:nvPr/>
        </p:nvSpPr>
        <p:spPr>
          <a:xfrm>
            <a:off x="6583680" y="5394960"/>
            <a:ext cx="5056632" cy="548640"/>
          </a:xfrm>
          <a:prstGeom prst="rect">
            <a:avLst/>
          </a:prstGeom>
          <a:noFill/>
          <a:ln/>
        </p:spPr>
        <p:txBody>
          <a:bodyPr wrap="square" lIns="0" tIns="0" rIns="0" bIns="0" rtlCol="0" anchor="t"/>
          <a:lstStyle/>
          <a:p>
            <a:pPr indent="0" marL="0">
              <a:buNone/>
            </a:pPr>
            <a:r>
              <a:rPr lang="en-US" sz="1200" i="1" dirty="0">
                <a:solidFill>
                  <a:srgbClr val="141C52"/>
                </a:solidFill>
              </a:rPr>
              <a:t>Unilever already sells “Hard Water Defense” in the Gulf, so the need is proven abroad. We found no mass-priced option on the Bangladeshi e-retailers we checked.</a:t>
            </a:r>
            <a:endParaRPr lang="en-US" sz="1200" dirty="0"/>
          </a:p>
        </p:txBody>
      </p:sp>
      <p:sp>
        <p:nvSpPr>
          <p:cNvPr id="39" name="Text 31"/>
          <p:cNvSpPr txBox="1"/>
          <p:nvPr/>
        </p:nvSpPr>
        <p:spPr>
          <a:xfrm>
            <a:off x="548640" y="5989320"/>
            <a:ext cx="11091672" cy="365760"/>
          </a:xfrm>
          <a:prstGeom prst="rect">
            <a:avLst/>
          </a:prstGeom>
          <a:noFill/>
          <a:ln/>
        </p:spPr>
        <p:txBody>
          <a:bodyPr wrap="square" lIns="0" tIns="0" rIns="0" bIns="0" rtlCol="0" anchor="b"/>
          <a:lstStyle/>
          <a:p>
            <a:pPr indent="0" marL="0">
              <a:buNone/>
            </a:pPr>
            <a:r>
              <a:rPr lang="en-US" sz="1000" i="1" dirty="0">
                <a:solidFill>
                  <a:srgbClr val="5B6472"/>
                </a:solidFill>
              </a:rPr>
              <a:t>Sources: Chaldal and Arogga listings (accessed 9 Oct 2026, sale prices); Dove Arabia product page; Malibu C official site; Mordor Intelligence, Bangladesh Shampoo Market (2026 estimate).</a:t>
            </a:r>
            <a:endParaRPr lang="en-US" sz="1000" dirty="0"/>
          </a:p>
        </p:txBody>
      </p:sp>
      <p:sp>
        <p:nvSpPr>
          <p:cNvPr id="40"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defRPr>
            </a:lvl1pPr>
          </a:lstStyle>
          <a:p>
            <a:pPr algn="r"/>
            <a:r>
              <a:t>2</a:t>
            </a:r>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548640" y="274320"/>
            <a:ext cx="9601200" cy="256032"/>
          </a:xfrm>
          <a:prstGeom prst="rect">
            <a:avLst/>
          </a:prstGeom>
          <a:noFill/>
          <a:ln/>
        </p:spPr>
        <p:txBody>
          <a:bodyPr wrap="square" lIns="0" tIns="0" rIns="0" bIns="0" rtlCol="0" anchor="t"/>
          <a:lstStyle/>
          <a:p>
            <a:pPr indent="0" marL="0">
              <a:buNone/>
            </a:pPr>
            <a:r>
              <a:rPr lang="en-US" sz="1100" b="1" spc="200" kern="0" dirty="0">
                <a:solidFill>
                  <a:srgbClr val="0E7FA0"/>
                </a:solidFill>
              </a:rPr>
              <a:t>BUSINESS PLAN  ·  NEW OPPORTUNITIES IDENTIFICATION</a:t>
            </a:r>
            <a:endParaRPr lang="en-US" sz="1100" dirty="0"/>
          </a:p>
        </p:txBody>
      </p:sp>
      <p:sp>
        <p:nvSpPr>
          <p:cNvPr id="3" name="Text 1"/>
          <p:cNvSpPr/>
          <p:nvPr>
            <p:ph idx="102" type="title" hasCustomPrompt="1"/>
          </p:nvPr>
        </p:nvSpPr>
        <p:spPr>
          <a:xfrm>
            <a:off x="548640" y="566928"/>
            <a:ext cx="9875520" cy="868680"/>
          </a:xfrm>
          <a:prstGeom prst="rect">
            <a:avLst/>
          </a:prstGeom>
          <a:noFill/>
          <a:ln/>
        </p:spPr>
        <p:txBody>
          <a:bodyPr wrap="square" lIns="0" tIns="0" rIns="0" bIns="0" rtlCol="0" anchor="t"/>
          <a:lstStyle/>
          <a:p>
            <a:pPr algn="l" indent="0" marL="0">
              <a:buNone/>
            </a:pPr>
            <a:r>
              <a:rPr lang="en-US" sz="2600" b="1" dirty="0">
                <a:solidFill>
                  <a:srgbClr val="141C52"/>
                </a:solidFill>
              </a:rPr>
              <a:t>The opportunity is in the water: in 58 of 61 sampled districts, most wells are iron-rich or hard</a:t>
            </a:r>
            <a:endParaRPr lang="en-US" sz="2600" dirty="0"/>
          </a:p>
        </p:txBody>
      </p:sp>
      <p:pic>
        <p:nvPicPr>
          <p:cNvPr id="4" name="Image 0" descr="C:\Users\Administrator\Desktop\otw\Round2_Submission\deck\assets\map.png">    </p:cNvPr>
          <p:cNvPicPr>
            <a:picLocks noChangeAspect="1"/>
          </p:cNvPicPr>
          <p:nvPr/>
        </p:nvPicPr>
        <p:blipFill>
          <a:blip r:embed="rId1"/>
          <a:stretch>
            <a:fillRect/>
          </a:stretch>
        </p:blipFill>
        <p:spPr>
          <a:xfrm>
            <a:off x="502920" y="1508760"/>
            <a:ext cx="3099816" cy="4343400"/>
          </a:xfrm>
          <a:prstGeom prst="rect">
            <a:avLst/>
          </a:prstGeom>
        </p:spPr>
      </p:pic>
      <p:sp>
        <p:nvSpPr>
          <p:cNvPr id="5" name="Text 2"/>
          <p:cNvSpPr txBox="1"/>
          <p:nvPr/>
        </p:nvSpPr>
        <p:spPr>
          <a:xfrm>
            <a:off x="2240280" y="1499616"/>
            <a:ext cx="1645920" cy="201168"/>
          </a:xfrm>
          <a:prstGeom prst="rect">
            <a:avLst/>
          </a:prstGeom>
          <a:noFill/>
          <a:ln/>
        </p:spPr>
        <p:txBody>
          <a:bodyPr wrap="square" lIns="0" tIns="0" rIns="0" bIns="0" rtlCol="0" anchor="t"/>
          <a:lstStyle/>
          <a:p>
            <a:pPr indent="0" marL="0">
              <a:buNone/>
            </a:pPr>
            <a:r>
              <a:rPr lang="en-US" sz="1000" b="1" dirty="0">
                <a:solidFill>
                  <a:srgbClr val="141C52"/>
                </a:solidFill>
              </a:rPr>
              <a:t>Share of wells flagged*</a:t>
            </a:r>
            <a:endParaRPr lang="en-US" sz="1000" dirty="0"/>
          </a:p>
        </p:txBody>
      </p:sp>
      <p:sp>
        <p:nvSpPr>
          <p:cNvPr id="6" name="Shape 3"/>
          <p:cNvSpPr/>
          <p:nvPr/>
        </p:nvSpPr>
        <p:spPr>
          <a:xfrm>
            <a:off x="2240280" y="1737360"/>
            <a:ext cx="137160" cy="109728"/>
          </a:xfrm>
          <a:prstGeom prst="rect">
            <a:avLst/>
          </a:prstGeom>
          <a:solidFill>
            <a:srgbClr val="8E3B12"/>
          </a:solidFill>
          <a:ln/>
        </p:spPr>
        <p:txBody>
          <a:bodyPr/>
          <a:p/>
        </p:txBody>
      </p:sp>
      <p:sp>
        <p:nvSpPr>
          <p:cNvPr id="7" name="Text 4"/>
          <p:cNvSpPr txBox="1"/>
          <p:nvPr/>
        </p:nvSpPr>
        <p:spPr>
          <a:xfrm>
            <a:off x="2432304" y="1709928"/>
            <a:ext cx="1188720" cy="164592"/>
          </a:xfrm>
          <a:prstGeom prst="rect">
            <a:avLst/>
          </a:prstGeom>
          <a:noFill/>
          <a:ln/>
        </p:spPr>
        <p:txBody>
          <a:bodyPr wrap="square" lIns="0" tIns="0" rIns="0" bIns="0" rtlCol="0" anchor="t"/>
          <a:lstStyle/>
          <a:p>
            <a:pPr indent="0" marL="0">
              <a:buNone/>
            </a:pPr>
            <a:r>
              <a:rPr lang="en-US" sz="1000" dirty="0">
                <a:solidFill>
                  <a:srgbClr val="1F2937"/>
                </a:solidFill>
              </a:rPr>
              <a:t>90% or more</a:t>
            </a:r>
            <a:endParaRPr lang="en-US" sz="1000" dirty="0"/>
          </a:p>
        </p:txBody>
      </p:sp>
      <p:sp>
        <p:nvSpPr>
          <p:cNvPr id="8" name="Shape 5"/>
          <p:cNvSpPr/>
          <p:nvPr/>
        </p:nvSpPr>
        <p:spPr>
          <a:xfrm>
            <a:off x="2240280" y="1892808"/>
            <a:ext cx="137160" cy="109728"/>
          </a:xfrm>
          <a:prstGeom prst="rect">
            <a:avLst/>
          </a:prstGeom>
          <a:solidFill>
            <a:srgbClr val="C8612A"/>
          </a:solidFill>
          <a:ln/>
        </p:spPr>
        <p:txBody>
          <a:bodyPr/>
          <a:p/>
        </p:txBody>
      </p:sp>
      <p:sp>
        <p:nvSpPr>
          <p:cNvPr id="9" name="Text 6"/>
          <p:cNvSpPr txBox="1"/>
          <p:nvPr/>
        </p:nvSpPr>
        <p:spPr>
          <a:xfrm>
            <a:off x="2432304" y="1865376"/>
            <a:ext cx="1188720" cy="164592"/>
          </a:xfrm>
          <a:prstGeom prst="rect">
            <a:avLst/>
          </a:prstGeom>
          <a:noFill/>
          <a:ln/>
        </p:spPr>
        <p:txBody>
          <a:bodyPr wrap="square" lIns="0" tIns="0" rIns="0" bIns="0" rtlCol="0" anchor="t"/>
          <a:lstStyle/>
          <a:p>
            <a:pPr indent="0" marL="0">
              <a:buNone/>
            </a:pPr>
            <a:r>
              <a:rPr lang="en-US" sz="1000" dirty="0">
                <a:solidFill>
                  <a:srgbClr val="1F2937"/>
                </a:solidFill>
              </a:rPr>
              <a:t>75–89%</a:t>
            </a:r>
            <a:endParaRPr lang="en-US" sz="1000" dirty="0"/>
          </a:p>
        </p:txBody>
      </p:sp>
      <p:sp>
        <p:nvSpPr>
          <p:cNvPr id="10" name="Shape 7"/>
          <p:cNvSpPr/>
          <p:nvPr/>
        </p:nvSpPr>
        <p:spPr>
          <a:xfrm>
            <a:off x="2240280" y="2048256"/>
            <a:ext cx="137160" cy="109728"/>
          </a:xfrm>
          <a:prstGeom prst="rect">
            <a:avLst/>
          </a:prstGeom>
          <a:solidFill>
            <a:srgbClr val="E9A06B"/>
          </a:solidFill>
          <a:ln/>
        </p:spPr>
        <p:txBody>
          <a:bodyPr/>
          <a:p/>
        </p:txBody>
      </p:sp>
      <p:sp>
        <p:nvSpPr>
          <p:cNvPr id="11" name="Text 8"/>
          <p:cNvSpPr txBox="1"/>
          <p:nvPr/>
        </p:nvSpPr>
        <p:spPr>
          <a:xfrm>
            <a:off x="2432304" y="2020824"/>
            <a:ext cx="1188720" cy="164592"/>
          </a:xfrm>
          <a:prstGeom prst="rect">
            <a:avLst/>
          </a:prstGeom>
          <a:noFill/>
          <a:ln/>
        </p:spPr>
        <p:txBody>
          <a:bodyPr wrap="square" lIns="0" tIns="0" rIns="0" bIns="0" rtlCol="0" anchor="t"/>
          <a:lstStyle/>
          <a:p>
            <a:pPr indent="0" marL="0">
              <a:buNone/>
            </a:pPr>
            <a:r>
              <a:rPr lang="en-US" sz="1000" dirty="0">
                <a:solidFill>
                  <a:srgbClr val="1F2937"/>
                </a:solidFill>
              </a:rPr>
              <a:t>50–74%</a:t>
            </a:r>
            <a:endParaRPr lang="en-US" sz="1000" dirty="0"/>
          </a:p>
        </p:txBody>
      </p:sp>
      <p:sp>
        <p:nvSpPr>
          <p:cNvPr id="12" name="Shape 9"/>
          <p:cNvSpPr/>
          <p:nvPr/>
        </p:nvSpPr>
        <p:spPr>
          <a:xfrm>
            <a:off x="2240280" y="2203704"/>
            <a:ext cx="137160" cy="109728"/>
          </a:xfrm>
          <a:prstGeom prst="rect">
            <a:avLst/>
          </a:prstGeom>
          <a:solidFill>
            <a:srgbClr val="F6DCC4"/>
          </a:solidFill>
          <a:ln/>
        </p:spPr>
        <p:txBody>
          <a:bodyPr/>
          <a:p/>
        </p:txBody>
      </p:sp>
      <p:sp>
        <p:nvSpPr>
          <p:cNvPr id="13" name="Text 10"/>
          <p:cNvSpPr txBox="1"/>
          <p:nvPr/>
        </p:nvSpPr>
        <p:spPr>
          <a:xfrm>
            <a:off x="2432304" y="2176272"/>
            <a:ext cx="1188720" cy="164592"/>
          </a:xfrm>
          <a:prstGeom prst="rect">
            <a:avLst/>
          </a:prstGeom>
          <a:noFill/>
          <a:ln/>
        </p:spPr>
        <p:txBody>
          <a:bodyPr wrap="square" lIns="0" tIns="0" rIns="0" bIns="0" rtlCol="0" anchor="t"/>
          <a:lstStyle/>
          <a:p>
            <a:pPr indent="0" marL="0">
              <a:buNone/>
            </a:pPr>
            <a:r>
              <a:rPr lang="en-US" sz="1000" dirty="0">
                <a:solidFill>
                  <a:srgbClr val="1F2937"/>
                </a:solidFill>
              </a:rPr>
              <a:t>Under 50%</a:t>
            </a:r>
            <a:endParaRPr lang="en-US" sz="1000" dirty="0"/>
          </a:p>
        </p:txBody>
      </p:sp>
      <p:sp>
        <p:nvSpPr>
          <p:cNvPr id="14" name="Shape 11"/>
          <p:cNvSpPr/>
          <p:nvPr/>
        </p:nvSpPr>
        <p:spPr>
          <a:xfrm>
            <a:off x="2240280" y="2359152"/>
            <a:ext cx="137160" cy="109728"/>
          </a:xfrm>
          <a:prstGeom prst="rect">
            <a:avLst/>
          </a:prstGeom>
          <a:solidFill>
            <a:srgbClr val="D9DEE5"/>
          </a:solidFill>
          <a:ln/>
        </p:spPr>
        <p:txBody>
          <a:bodyPr/>
          <a:p/>
        </p:txBody>
      </p:sp>
      <p:sp>
        <p:nvSpPr>
          <p:cNvPr id="15" name="Text 12"/>
          <p:cNvSpPr txBox="1"/>
          <p:nvPr/>
        </p:nvSpPr>
        <p:spPr>
          <a:xfrm>
            <a:off x="2432304" y="2331720"/>
            <a:ext cx="1188720" cy="164592"/>
          </a:xfrm>
          <a:prstGeom prst="rect">
            <a:avLst/>
          </a:prstGeom>
          <a:noFill/>
          <a:ln/>
        </p:spPr>
        <p:txBody>
          <a:bodyPr wrap="square" lIns="0" tIns="0" rIns="0" bIns="0" rtlCol="0" anchor="t"/>
          <a:lstStyle/>
          <a:p>
            <a:pPr indent="0" marL="0">
              <a:buNone/>
            </a:pPr>
            <a:r>
              <a:rPr lang="en-US" sz="1000" dirty="0">
                <a:solidFill>
                  <a:srgbClr val="1F2937"/>
                </a:solidFill>
              </a:rPr>
              <a:t>Not sampled</a:t>
            </a:r>
            <a:endParaRPr lang="en-US" sz="1000" dirty="0"/>
          </a:p>
        </p:txBody>
      </p:sp>
      <p:sp>
        <p:nvSpPr>
          <p:cNvPr id="16" name="Shape 13"/>
          <p:cNvSpPr/>
          <p:nvPr/>
        </p:nvSpPr>
        <p:spPr>
          <a:xfrm>
            <a:off x="3931920" y="1554480"/>
            <a:ext cx="3749040" cy="1325880"/>
          </a:xfrm>
          <a:prstGeom prst="roundRect">
            <a:avLst>
              <a:gd name="adj" fmla="val 5517"/>
            </a:avLst>
          </a:prstGeom>
          <a:solidFill>
            <a:srgbClr val="FBEDE3"/>
          </a:solidFill>
          <a:ln/>
        </p:spPr>
        <p:txBody>
          <a:bodyPr/>
          <a:p/>
        </p:txBody>
      </p:sp>
      <p:sp>
        <p:nvSpPr>
          <p:cNvPr id="17" name="Text 14"/>
          <p:cNvSpPr txBox="1"/>
          <p:nvPr/>
        </p:nvSpPr>
        <p:spPr>
          <a:xfrm>
            <a:off x="4114800" y="1737360"/>
            <a:ext cx="1600200" cy="960120"/>
          </a:xfrm>
          <a:prstGeom prst="rect">
            <a:avLst/>
          </a:prstGeom>
          <a:noFill/>
          <a:ln/>
        </p:spPr>
        <p:txBody>
          <a:bodyPr wrap="square" lIns="0" tIns="0" rIns="0" bIns="0" rtlCol="0" anchor="ctr"/>
          <a:lstStyle/>
          <a:p>
            <a:pPr indent="0" marL="0">
              <a:buNone/>
            </a:pPr>
            <a:r>
              <a:rPr lang="en-US" sz="3400" b="1" dirty="0">
                <a:solidFill>
                  <a:srgbClr val="B4511F"/>
                </a:solidFill>
              </a:rPr>
              <a:t>65%</a:t>
            </a:r>
            <a:endParaRPr lang="en-US" sz="3400" dirty="0"/>
          </a:p>
        </p:txBody>
      </p:sp>
      <p:sp>
        <p:nvSpPr>
          <p:cNvPr id="18" name="Text 15"/>
          <p:cNvSpPr txBox="1"/>
          <p:nvPr/>
        </p:nvSpPr>
        <p:spPr>
          <a:xfrm>
            <a:off x="5760720" y="1691640"/>
            <a:ext cx="1783080" cy="1051560"/>
          </a:xfrm>
          <a:prstGeom prst="rect">
            <a:avLst/>
          </a:prstGeom>
          <a:noFill/>
          <a:ln/>
        </p:spPr>
        <p:txBody>
          <a:bodyPr wrap="square" lIns="0" tIns="0" rIns="0" bIns="0" rtlCol="0" anchor="ctr"/>
          <a:lstStyle/>
          <a:p>
            <a:pPr indent="0" marL="0">
              <a:buNone/>
            </a:pPr>
            <a:r>
              <a:rPr lang="en-US" sz="1200" dirty="0">
                <a:solidFill>
                  <a:srgbClr val="1F2937"/>
                </a:solidFill>
              </a:rPr>
              <a:t>of 3,530 wells with results had iron above 0.3 mg/L, the level that stains buckets and tastes metallic</a:t>
            </a:r>
            <a:endParaRPr lang="en-US" sz="1200" dirty="0"/>
          </a:p>
        </p:txBody>
      </p:sp>
      <p:sp>
        <p:nvSpPr>
          <p:cNvPr id="19" name="Shape 16"/>
          <p:cNvSpPr/>
          <p:nvPr/>
        </p:nvSpPr>
        <p:spPr>
          <a:xfrm>
            <a:off x="7891272" y="1554480"/>
            <a:ext cx="3749040" cy="1325880"/>
          </a:xfrm>
          <a:prstGeom prst="roundRect">
            <a:avLst>
              <a:gd name="adj" fmla="val 5517"/>
            </a:avLst>
          </a:prstGeom>
          <a:solidFill>
            <a:srgbClr val="FBEDE3"/>
          </a:solidFill>
          <a:ln/>
        </p:spPr>
        <p:txBody>
          <a:bodyPr/>
          <a:p/>
        </p:txBody>
      </p:sp>
      <p:sp>
        <p:nvSpPr>
          <p:cNvPr id="20" name="Text 17"/>
          <p:cNvSpPr txBox="1"/>
          <p:nvPr/>
        </p:nvSpPr>
        <p:spPr>
          <a:xfrm>
            <a:off x="8074152" y="1737360"/>
            <a:ext cx="1600200" cy="960120"/>
          </a:xfrm>
          <a:prstGeom prst="rect">
            <a:avLst/>
          </a:prstGeom>
          <a:noFill/>
          <a:ln/>
        </p:spPr>
        <p:txBody>
          <a:bodyPr wrap="square" lIns="0" tIns="0" rIns="0" bIns="0" rtlCol="0" anchor="ctr"/>
          <a:lstStyle/>
          <a:p>
            <a:pPr indent="0" marL="0">
              <a:buNone/>
            </a:pPr>
            <a:r>
              <a:rPr lang="en-US" sz="3400" b="1" dirty="0">
                <a:solidFill>
                  <a:srgbClr val="B4511F"/>
                </a:solidFill>
              </a:rPr>
              <a:t>58%</a:t>
            </a:r>
            <a:endParaRPr lang="en-US" sz="3400" dirty="0"/>
          </a:p>
        </p:txBody>
      </p:sp>
      <p:sp>
        <p:nvSpPr>
          <p:cNvPr id="21" name="Text 18"/>
          <p:cNvSpPr txBox="1"/>
          <p:nvPr/>
        </p:nvSpPr>
        <p:spPr>
          <a:xfrm>
            <a:off x="9720072" y="1691640"/>
            <a:ext cx="1783080" cy="1051560"/>
          </a:xfrm>
          <a:prstGeom prst="rect">
            <a:avLst/>
          </a:prstGeom>
          <a:noFill/>
          <a:ln/>
        </p:spPr>
        <p:txBody>
          <a:bodyPr wrap="square" lIns="0" tIns="0" rIns="0" bIns="0" rtlCol="0" anchor="ctr"/>
          <a:lstStyle/>
          <a:p>
            <a:pPr indent="0" marL="0">
              <a:buNone/>
            </a:pPr>
            <a:r>
              <a:rPr lang="en-US" sz="1200" dirty="0">
                <a:solidFill>
                  <a:srgbClr val="1F2937"/>
                </a:solidFill>
              </a:rPr>
              <a:t>were hard or very hard: above 120 mg/L as CaCO₃ (USGS classes)</a:t>
            </a:r>
            <a:endParaRPr lang="en-US" sz="1200" dirty="0"/>
          </a:p>
        </p:txBody>
      </p:sp>
      <p:sp>
        <p:nvSpPr>
          <p:cNvPr id="22" name="Shape 19"/>
          <p:cNvSpPr/>
          <p:nvPr/>
        </p:nvSpPr>
        <p:spPr>
          <a:xfrm>
            <a:off x="3931920" y="3017520"/>
            <a:ext cx="3749040" cy="1325880"/>
          </a:xfrm>
          <a:prstGeom prst="roundRect">
            <a:avLst>
              <a:gd name="adj" fmla="val 5517"/>
            </a:avLst>
          </a:prstGeom>
          <a:solidFill>
            <a:srgbClr val="FBEDE3"/>
          </a:solidFill>
          <a:ln/>
        </p:spPr>
        <p:txBody>
          <a:bodyPr/>
          <a:p/>
        </p:txBody>
      </p:sp>
      <p:sp>
        <p:nvSpPr>
          <p:cNvPr id="23" name="Text 20"/>
          <p:cNvSpPr txBox="1"/>
          <p:nvPr/>
        </p:nvSpPr>
        <p:spPr>
          <a:xfrm>
            <a:off x="4114800" y="3200400"/>
            <a:ext cx="1600200" cy="960120"/>
          </a:xfrm>
          <a:prstGeom prst="rect">
            <a:avLst/>
          </a:prstGeom>
          <a:noFill/>
          <a:ln/>
        </p:spPr>
        <p:txBody>
          <a:bodyPr wrap="square" lIns="0" tIns="0" rIns="0" bIns="0" rtlCol="0" anchor="ctr"/>
          <a:lstStyle/>
          <a:p>
            <a:pPr indent="0" marL="0">
              <a:buNone/>
            </a:pPr>
            <a:r>
              <a:rPr lang="en-US" sz="3400" b="1" dirty="0">
                <a:solidFill>
                  <a:srgbClr val="B4511F"/>
                </a:solidFill>
              </a:rPr>
              <a:t>6 of 12</a:t>
            </a:r>
            <a:endParaRPr lang="en-US" sz="3400" dirty="0"/>
          </a:p>
        </p:txBody>
      </p:sp>
      <p:sp>
        <p:nvSpPr>
          <p:cNvPr id="24" name="Text 21"/>
          <p:cNvSpPr txBox="1"/>
          <p:nvPr/>
        </p:nvSpPr>
        <p:spPr>
          <a:xfrm>
            <a:off x="5760720" y="3154680"/>
            <a:ext cx="1783080" cy="1051560"/>
          </a:xfrm>
          <a:prstGeom prst="rect">
            <a:avLst/>
          </a:prstGeom>
          <a:noFill/>
          <a:ln/>
        </p:spPr>
        <p:txBody>
          <a:bodyPr wrap="square" lIns="0" tIns="0" rIns="0" bIns="0" rtlCol="0" anchor="ctr"/>
          <a:lstStyle/>
          <a:p>
            <a:pPr indent="0" marL="0">
              <a:buNone/>
            </a:pPr>
            <a:r>
              <a:rPr lang="en-US" sz="1200" dirty="0">
                <a:solidFill>
                  <a:srgbClr val="1F2937"/>
                </a:solidFill>
              </a:rPr>
              <a:t>Dhaka tap locations tested hard in a 2025 study, up to 300 mg/L at Amin Bazar</a:t>
            </a:r>
            <a:endParaRPr lang="en-US" sz="1200" dirty="0"/>
          </a:p>
        </p:txBody>
      </p:sp>
      <p:sp>
        <p:nvSpPr>
          <p:cNvPr id="25" name="Shape 22"/>
          <p:cNvSpPr/>
          <p:nvPr/>
        </p:nvSpPr>
        <p:spPr>
          <a:xfrm>
            <a:off x="7891272" y="3017520"/>
            <a:ext cx="3749040" cy="1325880"/>
          </a:xfrm>
          <a:prstGeom prst="roundRect">
            <a:avLst>
              <a:gd name="adj" fmla="val 5517"/>
            </a:avLst>
          </a:prstGeom>
          <a:solidFill>
            <a:srgbClr val="FBEDE3"/>
          </a:solidFill>
          <a:ln/>
        </p:spPr>
        <p:txBody>
          <a:bodyPr/>
          <a:p/>
        </p:txBody>
      </p:sp>
      <p:sp>
        <p:nvSpPr>
          <p:cNvPr id="26" name="Text 23"/>
          <p:cNvSpPr txBox="1"/>
          <p:nvPr/>
        </p:nvSpPr>
        <p:spPr>
          <a:xfrm>
            <a:off x="8074152" y="3200400"/>
            <a:ext cx="1600200" cy="960120"/>
          </a:xfrm>
          <a:prstGeom prst="rect">
            <a:avLst/>
          </a:prstGeom>
          <a:noFill/>
          <a:ln/>
        </p:spPr>
        <p:txBody>
          <a:bodyPr wrap="square" lIns="0" tIns="0" rIns="0" bIns="0" rtlCol="0" anchor="ctr"/>
          <a:lstStyle/>
          <a:p>
            <a:pPr indent="0" marL="0">
              <a:buNone/>
            </a:pPr>
            <a:r>
              <a:rPr lang="en-US" sz="3400" b="1" dirty="0">
                <a:solidFill>
                  <a:srgbClr val="B4511F"/>
                </a:solidFill>
              </a:rPr>
              <a:t>5 of 5</a:t>
            </a:r>
            <a:endParaRPr lang="en-US" sz="3400" dirty="0"/>
          </a:p>
        </p:txBody>
      </p:sp>
      <p:sp>
        <p:nvSpPr>
          <p:cNvPr id="27" name="Text 24"/>
          <p:cNvSpPr txBox="1"/>
          <p:nvPr/>
        </p:nvSpPr>
        <p:spPr>
          <a:xfrm>
            <a:off x="9720072" y="3154680"/>
            <a:ext cx="1783080" cy="1051560"/>
          </a:xfrm>
          <a:prstGeom prst="rect">
            <a:avLst/>
          </a:prstGeom>
          <a:noFill/>
          <a:ln/>
        </p:spPr>
        <p:txBody>
          <a:bodyPr wrap="square" lIns="0" tIns="0" rIns="0" bIns="0" rtlCol="0" anchor="ctr"/>
          <a:lstStyle/>
          <a:p>
            <a:pPr indent="0" marL="0">
              <a:buNone/>
            </a:pPr>
            <a:r>
              <a:rPr lang="en-US" sz="1200" dirty="0">
                <a:solidFill>
                  <a:srgbClr val="1F2937"/>
                </a:solidFill>
              </a:rPr>
              <a:t>division districts shown are majority-flagged: Dhaka 76%, Chattogram 86%, Rajshahi 94%, Khulna 96%, Sylhet 91%</a:t>
            </a:r>
            <a:endParaRPr lang="en-US" sz="1200" dirty="0"/>
          </a:p>
        </p:txBody>
      </p:sp>
      <p:sp>
        <p:nvSpPr>
          <p:cNvPr id="28" name="Shape 25"/>
          <p:cNvSpPr/>
          <p:nvPr/>
        </p:nvSpPr>
        <p:spPr>
          <a:xfrm>
            <a:off x="3931920" y="4526280"/>
            <a:ext cx="2331720" cy="868680"/>
          </a:xfrm>
          <a:prstGeom prst="roundRect">
            <a:avLst>
              <a:gd name="adj" fmla="val 8421"/>
            </a:avLst>
          </a:prstGeom>
          <a:solidFill>
            <a:srgbClr val="FBEDE3"/>
          </a:solidFill>
          <a:ln/>
        </p:spPr>
        <p:txBody>
          <a:bodyPr/>
          <a:p/>
        </p:txBody>
      </p:sp>
      <p:sp>
        <p:nvSpPr>
          <p:cNvPr id="29" name="Text 26"/>
          <p:cNvSpPr txBox="1"/>
          <p:nvPr/>
        </p:nvSpPr>
        <p:spPr>
          <a:xfrm>
            <a:off x="4069080" y="4526280"/>
            <a:ext cx="2057400" cy="868680"/>
          </a:xfrm>
          <a:prstGeom prst="rect">
            <a:avLst/>
          </a:prstGeom>
          <a:noFill/>
          <a:ln/>
        </p:spPr>
        <p:txBody>
          <a:bodyPr wrap="square" lIns="0" tIns="0" rIns="0" bIns="0" rtlCol="0" anchor="ctr"/>
          <a:lstStyle/>
          <a:p>
            <a:pPr indent="0" marL="0">
              <a:buNone/>
            </a:pPr>
            <a:r>
              <a:rPr lang="en-US" sz="1200" dirty="0">
                <a:solidFill>
                  <a:srgbClr val="1F2937"/>
                </a:solidFill>
              </a:rPr>
              <a:t>Calcium, magnesium and iron deposit on hair and tie up shampoo surfactant</a:t>
            </a:r>
            <a:endParaRPr lang="en-US" sz="1200" dirty="0"/>
          </a:p>
        </p:txBody>
      </p:sp>
      <p:sp>
        <p:nvSpPr>
          <p:cNvPr id="30" name="Shape 27"/>
          <p:cNvSpPr/>
          <p:nvPr/>
        </p:nvSpPr>
        <p:spPr>
          <a:xfrm>
            <a:off x="6309360" y="4818888"/>
            <a:ext cx="274320" cy="274320"/>
          </a:xfrm>
          <a:prstGeom prst="rightArrow">
            <a:avLst/>
          </a:prstGeom>
          <a:solidFill>
            <a:srgbClr val="A7B0BE"/>
          </a:solidFill>
          <a:ln/>
        </p:spPr>
        <p:txBody>
          <a:bodyPr/>
          <a:p/>
        </p:txBody>
      </p:sp>
      <p:sp>
        <p:nvSpPr>
          <p:cNvPr id="31" name="Shape 28"/>
          <p:cNvSpPr/>
          <p:nvPr/>
        </p:nvSpPr>
        <p:spPr>
          <a:xfrm>
            <a:off x="6583680" y="4526280"/>
            <a:ext cx="2331720" cy="868680"/>
          </a:xfrm>
          <a:prstGeom prst="roundRect">
            <a:avLst>
              <a:gd name="adj" fmla="val 8421"/>
            </a:avLst>
          </a:prstGeom>
          <a:solidFill>
            <a:srgbClr val="FBEDE3"/>
          </a:solidFill>
          <a:ln/>
        </p:spPr>
        <p:txBody>
          <a:bodyPr/>
          <a:p/>
        </p:txBody>
      </p:sp>
      <p:sp>
        <p:nvSpPr>
          <p:cNvPr id="32" name="Text 29"/>
          <p:cNvSpPr txBox="1"/>
          <p:nvPr/>
        </p:nvSpPr>
        <p:spPr>
          <a:xfrm>
            <a:off x="6720840" y="4526280"/>
            <a:ext cx="2057400" cy="868680"/>
          </a:xfrm>
          <a:prstGeom prst="rect">
            <a:avLst/>
          </a:prstGeom>
          <a:noFill/>
          <a:ln/>
        </p:spPr>
        <p:txBody>
          <a:bodyPr wrap="square" lIns="0" tIns="0" rIns="0" bIns="0" rtlCol="0" anchor="ctr"/>
          <a:lstStyle/>
          <a:p>
            <a:pPr indent="0" marL="0">
              <a:buNone/>
            </a:pPr>
            <a:r>
              <a:rPr lang="en-US" sz="1200" dirty="0">
                <a:solidFill>
                  <a:srgbClr val="1F2937"/>
                </a:solidFill>
              </a:rPr>
              <a:t>Less lather, a rough or dull feel, and more shampoo used per wash</a:t>
            </a:r>
            <a:endParaRPr lang="en-US" sz="1200" dirty="0"/>
          </a:p>
        </p:txBody>
      </p:sp>
      <p:sp>
        <p:nvSpPr>
          <p:cNvPr id="33" name="Shape 30"/>
          <p:cNvSpPr/>
          <p:nvPr/>
        </p:nvSpPr>
        <p:spPr>
          <a:xfrm>
            <a:off x="8961120" y="4818888"/>
            <a:ext cx="274320" cy="274320"/>
          </a:xfrm>
          <a:prstGeom prst="rightArrow">
            <a:avLst/>
          </a:prstGeom>
          <a:solidFill>
            <a:srgbClr val="A7B0BE"/>
          </a:solidFill>
          <a:ln/>
        </p:spPr>
        <p:txBody>
          <a:bodyPr/>
          <a:p/>
        </p:txBody>
      </p:sp>
      <p:sp>
        <p:nvSpPr>
          <p:cNvPr id="34" name="Shape 31"/>
          <p:cNvSpPr/>
          <p:nvPr/>
        </p:nvSpPr>
        <p:spPr>
          <a:xfrm>
            <a:off x="9235440" y="4526280"/>
            <a:ext cx="2331720" cy="868680"/>
          </a:xfrm>
          <a:prstGeom prst="roundRect">
            <a:avLst>
              <a:gd name="adj" fmla="val 8421"/>
            </a:avLst>
          </a:prstGeom>
          <a:solidFill>
            <a:srgbClr val="E3F5FA"/>
          </a:solidFill>
          <a:ln/>
        </p:spPr>
        <p:txBody>
          <a:bodyPr/>
          <a:p/>
        </p:txBody>
      </p:sp>
      <p:sp>
        <p:nvSpPr>
          <p:cNvPr id="35" name="Text 32"/>
          <p:cNvSpPr txBox="1"/>
          <p:nvPr/>
        </p:nvSpPr>
        <p:spPr>
          <a:xfrm>
            <a:off x="9372600" y="4526280"/>
            <a:ext cx="2057400" cy="868680"/>
          </a:xfrm>
          <a:prstGeom prst="rect">
            <a:avLst/>
          </a:prstGeom>
          <a:noFill/>
          <a:ln/>
        </p:spPr>
        <p:txBody>
          <a:bodyPr wrap="square" lIns="0" tIns="0" rIns="0" bIns="0" rtlCol="0" anchor="ctr"/>
          <a:lstStyle/>
          <a:p>
            <a:pPr indent="0" marL="0">
              <a:buNone/>
            </a:pPr>
            <a:r>
              <a:rPr lang="en-US" sz="1200" b="1" dirty="0">
                <a:solidFill>
                  <a:srgbClr val="1F2937"/>
                </a:solidFill>
              </a:rPr>
              <a:t>A chelator (GLDA) locks the minerals so they rinse away</a:t>
            </a:r>
            <a:endParaRPr lang="en-US" sz="1200" dirty="0"/>
          </a:p>
        </p:txBody>
      </p:sp>
      <p:sp>
        <p:nvSpPr>
          <p:cNvPr id="36" name="Text 33"/>
          <p:cNvSpPr txBox="1"/>
          <p:nvPr/>
        </p:nvSpPr>
        <p:spPr>
          <a:xfrm>
            <a:off x="3931920" y="5504688"/>
            <a:ext cx="7708392" cy="438912"/>
          </a:xfrm>
          <a:prstGeom prst="rect">
            <a:avLst/>
          </a:prstGeom>
          <a:noFill/>
          <a:ln/>
        </p:spPr>
        <p:txBody>
          <a:bodyPr wrap="square" lIns="0" tIns="0" rIns="0" bIns="0" rtlCol="0" anchor="ctr"/>
          <a:lstStyle/>
          <a:p>
            <a:pPr indent="0" marL="0">
              <a:buNone/>
            </a:pPr>
            <a:r>
              <a:rPr lang="en-US" sz="1200" b="1" dirty="0">
                <a:solidFill>
                  <a:srgbClr val="0E7FA0"/>
                </a:solidFill>
              </a:rPr>
              <a:t>Pani Map makes this district history searchable; the PaniCheck strip measures each home’s water today.</a:t>
            </a:r>
            <a:endParaRPr lang="en-US" sz="1200" dirty="0"/>
          </a:p>
        </p:txBody>
      </p:sp>
      <p:sp>
        <p:nvSpPr>
          <p:cNvPr id="37" name="Text 34"/>
          <p:cNvSpPr txBox="1"/>
          <p:nvPr/>
        </p:nvSpPr>
        <p:spPr>
          <a:xfrm>
            <a:off x="548640" y="5989320"/>
            <a:ext cx="11091672" cy="365760"/>
          </a:xfrm>
          <a:prstGeom prst="rect">
            <a:avLst/>
          </a:prstGeom>
          <a:noFill/>
          <a:ln/>
        </p:spPr>
        <p:txBody>
          <a:bodyPr wrap="square" lIns="0" tIns="0" rIns="0" bIns="0" rtlCol="0" anchor="b"/>
          <a:lstStyle/>
          <a:p>
            <a:pPr indent="0" marL="0">
              <a:buNone/>
            </a:pPr>
            <a:r>
              <a:rPr lang="en-US" sz="1000" i="1" dirty="0">
                <a:solidFill>
                  <a:srgbClr val="5B6472"/>
                </a:solidFill>
              </a:rPr>
              <a:t>*Iron &gt;0.3 mg/L or hardness &gt;120 mg/L. BGS &amp; DPHE (2001): 3,534 wells sampled 1998–99 (3,530 with iron/hardness results), team analysis (historical wells, not today’s taps). ICCEI 2025 Dhaka tap study; USGS hardness classes; US EPA iron guideline 0.3 mg/L.</a:t>
            </a:r>
            <a:endParaRPr lang="en-US" sz="1000" dirty="0"/>
          </a:p>
        </p:txBody>
      </p:sp>
      <p:sp>
        <p:nvSpPr>
          <p:cNvPr id="38"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defRPr>
            </a:lvl1pPr>
          </a:lstStyle>
          <a:p>
            <a:pPr algn="r"/>
            <a:r>
              <a:t>3</a:t>
            </a:r>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48640" y="274320"/>
            <a:ext cx="9601200" cy="256032"/>
          </a:xfrm>
          <a:prstGeom prst="rect">
            <a:avLst/>
          </a:prstGeom>
          <a:noFill/>
          <a:ln/>
        </p:spPr>
        <p:txBody>
          <a:bodyPr wrap="square" lIns="0" tIns="0" rIns="0" bIns="0" rtlCol="0" anchor="t"/>
          <a:lstStyle/>
          <a:p>
            <a:pPr indent="0" marL="0">
              <a:buNone/>
            </a:pPr>
            <a:r>
              <a:rPr lang="en-US" sz="1100" b="1" spc="200" kern="0" dirty="0">
                <a:solidFill>
                  <a:srgbClr val="0E7FA0"/>
                </a:solidFill>
              </a:rPr>
              <a:t>BUSINESS PLAN  ·  CONSUMER UNDERSTANDING &amp; INSIGHTS</a:t>
            </a:r>
            <a:endParaRPr lang="en-US" sz="1100" dirty="0"/>
          </a:p>
        </p:txBody>
      </p:sp>
      <p:sp>
        <p:nvSpPr>
          <p:cNvPr id="3" name="Text 1"/>
          <p:cNvSpPr/>
          <p:nvPr>
            <p:ph idx="102" type="title" hasCustomPrompt="1"/>
          </p:nvPr>
        </p:nvSpPr>
        <p:spPr>
          <a:xfrm>
            <a:off x="548640" y="566928"/>
            <a:ext cx="9875520" cy="868680"/>
          </a:xfrm>
          <a:prstGeom prst="rect">
            <a:avLst/>
          </a:prstGeom>
          <a:noFill/>
          <a:ln/>
        </p:spPr>
        <p:txBody>
          <a:bodyPr wrap="square" lIns="0" tIns="0" rIns="0" bIns="0" rtlCol="0" anchor="t"/>
          <a:lstStyle/>
          <a:p>
            <a:pPr algn="l" indent="0" marL="0">
              <a:buNone/>
            </a:pPr>
            <a:r>
              <a:rPr lang="en-US" sz="2600" b="1" dirty="0">
                <a:solidFill>
                  <a:srgbClr val="141C52"/>
                </a:solidFill>
              </a:rPr>
              <a:t>Movers feel it first: a new city, new water, and hair that no longer feels right</a:t>
            </a:r>
            <a:endParaRPr lang="en-US" sz="2600" dirty="0"/>
          </a:p>
        </p:txBody>
      </p:sp>
      <p:sp>
        <p:nvSpPr>
          <p:cNvPr id="4" name="Shape 2"/>
          <p:cNvSpPr/>
          <p:nvPr/>
        </p:nvSpPr>
        <p:spPr>
          <a:xfrm>
            <a:off x="548640" y="1554480"/>
            <a:ext cx="3611880" cy="3749040"/>
          </a:xfrm>
          <a:prstGeom prst="roundRect">
            <a:avLst>
              <a:gd name="adj" fmla="val 2025"/>
            </a:avLst>
          </a:prstGeom>
          <a:solidFill>
            <a:srgbClr val="141C52"/>
          </a:solidFill>
          <a:ln/>
        </p:spPr>
      </p:sp>
      <p:sp>
        <p:nvSpPr>
          <p:cNvPr id="5" name="Shape 3"/>
          <p:cNvSpPr/>
          <p:nvPr/>
        </p:nvSpPr>
        <p:spPr>
          <a:xfrm>
            <a:off x="749808" y="1737360"/>
            <a:ext cx="502920" cy="502920"/>
          </a:xfrm>
          <a:prstGeom prst="ellipse">
            <a:avLst/>
          </a:prstGeom>
          <a:solidFill>
            <a:srgbClr val="F5A31A"/>
          </a:solidFill>
          <a:ln/>
        </p:spPr>
      </p:sp>
      <p:pic>
        <p:nvPicPr>
          <p:cNvPr id="6" name="Image 0" descr="preencoded.png">    </p:cNvPr>
          <p:cNvPicPr>
            <a:picLocks noChangeAspect="1"/>
          </p:cNvPicPr>
          <p:nvPr/>
        </p:nvPicPr>
        <p:blipFill>
          <a:blip r:embed="rId1"/>
          <a:stretch>
            <a:fillRect/>
          </a:stretch>
        </p:blipFill>
        <p:spPr>
          <a:xfrm>
            <a:off x="870509" y="1858061"/>
            <a:ext cx="261518" cy="261518"/>
          </a:xfrm>
          <a:prstGeom prst="rect">
            <a:avLst/>
          </a:prstGeom>
        </p:spPr>
      </p:pic>
      <p:sp>
        <p:nvSpPr>
          <p:cNvPr id="7" name="Text 4"/>
          <p:cNvSpPr txBox="1"/>
          <p:nvPr/>
        </p:nvSpPr>
        <p:spPr>
          <a:xfrm>
            <a:off x="1371600" y="1810512"/>
            <a:ext cx="2697480" cy="365760"/>
          </a:xfrm>
          <a:prstGeom prst="rect">
            <a:avLst/>
          </a:prstGeom>
          <a:noFill/>
          <a:ln/>
        </p:spPr>
        <p:txBody>
          <a:bodyPr wrap="square" lIns="0" tIns="0" rIns="0" bIns="0" rtlCol="0" anchor="t"/>
          <a:lstStyle/>
          <a:p>
            <a:pPr indent="0" marL="0">
              <a:buNone/>
            </a:pPr>
            <a:r>
              <a:rPr lang="en-US" sz="1200" b="1" dirty="0">
                <a:solidFill>
                  <a:srgbClr val="F5A31A"/>
                </a:solidFill>
              </a:rPr>
              <a:t>TARGET: ADULT “MOVERS”, 18–35</a:t>
            </a:r>
            <a:endParaRPr lang="en-US" sz="1200" dirty="0"/>
          </a:p>
        </p:txBody>
      </p:sp>
      <p:sp>
        <p:nvSpPr>
          <p:cNvPr id="8" name="Text 5"/>
          <p:cNvSpPr txBox="1"/>
          <p:nvPr/>
        </p:nvSpPr>
        <p:spPr>
          <a:xfrm>
            <a:off x="731520" y="2377440"/>
            <a:ext cx="3291840" cy="2834640"/>
          </a:xfrm>
          <a:prstGeom prst="rect">
            <a:avLst/>
          </a:prstGeom>
          <a:noFill/>
          <a:ln/>
        </p:spPr>
        <p:txBody>
          <a:bodyPr wrap="square" lIns="0" tIns="0" rIns="0" bIns="0" rtlCol="0" anchor="t"/>
          <a:lstStyle/>
          <a:p>
            <a:pPr marL="152400" indent="-152400">
              <a:spcAft>
                <a:spcPts val="500"/>
              </a:spcAft>
              <a:buSzPct val="100000"/>
              <a:buChar char="•"/>
            </a:pPr>
            <a:r>
              <a:rPr lang="en-US" sz="1200" dirty="0">
                <a:solidFill>
                  <a:srgbClr val="FFFFFF"/>
                </a:solidFill>
              </a:rPr>
              <a:t>University and hall students: 4.82M in public universities and affiliated colleges (UGC, 2023)</a:t>
            </a:r>
            <a:endParaRPr lang="en-US" sz="1200" dirty="0"/>
          </a:p>
          <a:p>
            <a:pPr marL="152400" indent="-152400">
              <a:spcAft>
                <a:spcPts val="500"/>
              </a:spcAft>
              <a:buSzPct val="100000"/>
              <a:buChar char="•"/>
            </a:pPr>
            <a:r>
              <a:rPr lang="en-US" sz="1200" dirty="0">
                <a:solidFill>
                  <a:srgbClr val="FFFFFF"/>
                </a:solidFill>
              </a:rPr>
              <a:t>Mess residents and young workers who moved city or changed water source</a:t>
            </a:r>
            <a:endParaRPr lang="en-US" sz="1200" dirty="0"/>
          </a:p>
          <a:p>
            <a:pPr marL="152400" indent="-152400">
              <a:spcAft>
                <a:spcPts val="500"/>
              </a:spcAft>
              <a:buSzPct val="100000"/>
              <a:buChar char="•"/>
            </a:pPr>
            <a:r>
              <a:rPr lang="en-US" sz="1200" dirty="0">
                <a:solidFill>
                  <a:srgbClr val="FFFFFF"/>
                </a:solidFill>
              </a:rPr>
              <a:t>Urban and peri-urban, women and men; price-aware but brand-aware</a:t>
            </a:r>
            <a:endParaRPr lang="en-US" sz="1200" dirty="0"/>
          </a:p>
          <a:p>
            <a:pPr marL="152400" indent="-152400">
              <a:spcAft>
                <a:spcPts val="500"/>
              </a:spcAft>
              <a:buSzPct val="100000"/>
              <a:buChar char="•"/>
            </a:pPr>
            <a:r>
              <a:rPr lang="en-US" sz="1200" dirty="0">
                <a:solidFill>
                  <a:srgbClr val="FFFFFF"/>
                </a:solidFill>
              </a:rPr>
              <a:t>Where: hall, mess and rented-flat bathrooms on tube-well or supply water</a:t>
            </a:r>
            <a:endParaRPr lang="en-US" sz="1200" dirty="0"/>
          </a:p>
          <a:p>
            <a:pPr marL="152400" indent="-152400">
              <a:spcAft>
                <a:spcPts val="500"/>
              </a:spcAft>
              <a:buSzPct val="100000"/>
              <a:buChar char="•"/>
            </a:pPr>
            <a:r>
              <a:rPr lang="en-US" sz="1200" dirty="0">
                <a:solidFill>
                  <a:srgbClr val="FFFFFF"/>
                </a:solidFill>
              </a:rPr>
              <a:t>Want: hair that feels like home, proof rather than promises, a fair price</a:t>
            </a:r>
            <a:endParaRPr lang="en-US" sz="1200" dirty="0"/>
          </a:p>
          <a:p>
            <a:pPr marL="152400" indent="-152400">
              <a:spcAft>
                <a:spcPts val="500"/>
              </a:spcAft>
              <a:buSzPct val="100000"/>
              <a:buChar char="•"/>
            </a:pPr>
            <a:r>
              <a:rPr lang="en-US" sz="1200" dirty="0">
                <a:solidFill>
                  <a:srgbClr val="FFFFFF"/>
                </a:solidFill>
              </a:rPr>
              <a:t>Phase 2: coastal households on saline water (LonaJol)</a:t>
            </a:r>
            <a:endParaRPr lang="en-US" sz="1200" dirty="0"/>
          </a:p>
        </p:txBody>
      </p:sp>
      <p:sp>
        <p:nvSpPr>
          <p:cNvPr id="9" name="Shape 6"/>
          <p:cNvSpPr/>
          <p:nvPr/>
        </p:nvSpPr>
        <p:spPr>
          <a:xfrm>
            <a:off x="4389120" y="1554480"/>
            <a:ext cx="3657600" cy="1188720"/>
          </a:xfrm>
          <a:prstGeom prst="roundRect">
            <a:avLst>
              <a:gd name="adj" fmla="val 6154"/>
            </a:avLst>
          </a:prstGeom>
          <a:solidFill>
            <a:srgbClr val="F3F6FA"/>
          </a:solidFill>
          <a:ln/>
        </p:spPr>
      </p:sp>
      <p:sp>
        <p:nvSpPr>
          <p:cNvPr id="10" name="Text 7"/>
          <p:cNvSpPr txBox="1"/>
          <p:nvPr/>
        </p:nvSpPr>
        <p:spPr>
          <a:xfrm>
            <a:off x="4572000" y="1645920"/>
            <a:ext cx="3291840" cy="384048"/>
          </a:xfrm>
          <a:prstGeom prst="rect">
            <a:avLst/>
          </a:prstGeom>
          <a:noFill/>
          <a:ln/>
        </p:spPr>
        <p:txBody>
          <a:bodyPr wrap="square" lIns="0" tIns="0" rIns="0" bIns="0" rtlCol="0" anchor="t"/>
          <a:lstStyle/>
          <a:p>
            <a:pPr indent="0" marL="0">
              <a:buNone/>
            </a:pPr>
            <a:r>
              <a:rPr lang="en-US" sz="2000" b="1" dirty="0">
                <a:solidFill>
                  <a:srgbClr val="0E7FA0"/>
                </a:solidFill>
              </a:rPr>
              <a:t>#1 = function</a:t>
            </a:r>
            <a:endParaRPr lang="en-US" sz="2000" dirty="0"/>
          </a:p>
        </p:txBody>
      </p:sp>
      <p:sp>
        <p:nvSpPr>
          <p:cNvPr id="11" name="Text 8"/>
          <p:cNvSpPr txBox="1"/>
          <p:nvPr/>
        </p:nvSpPr>
        <p:spPr>
          <a:xfrm>
            <a:off x="4572000" y="2011680"/>
            <a:ext cx="3337560" cy="566928"/>
          </a:xfrm>
          <a:prstGeom prst="rect">
            <a:avLst/>
          </a:prstGeom>
          <a:noFill/>
          <a:ln/>
        </p:spPr>
        <p:txBody>
          <a:bodyPr wrap="square" lIns="0" tIns="0" rIns="0" bIns="0" rtlCol="0" anchor="t"/>
          <a:lstStyle/>
          <a:p>
            <a:pPr indent="0" marL="0">
              <a:buNone/>
            </a:pPr>
            <a:r>
              <a:rPr lang="en-US" sz="1100" dirty="0">
                <a:solidFill>
                  <a:srgbClr val="1F2937"/>
                </a:solidFill>
              </a:rPr>
              <a:t>Women shampoo users (n=390, Dhaka and Chattogram) rank functionality first (4.21/5), above brand image (4.15) and price (4.13). Packaging ranks 8th of 9 (3.40).</a:t>
            </a:r>
            <a:endParaRPr lang="en-US" sz="1100" dirty="0"/>
          </a:p>
        </p:txBody>
      </p:sp>
      <p:sp>
        <p:nvSpPr>
          <p:cNvPr id="12" name="Text 9"/>
          <p:cNvSpPr txBox="1"/>
          <p:nvPr/>
        </p:nvSpPr>
        <p:spPr>
          <a:xfrm>
            <a:off x="4572000" y="2505456"/>
            <a:ext cx="3291840" cy="201168"/>
          </a:xfrm>
          <a:prstGeom prst="rect">
            <a:avLst/>
          </a:prstGeom>
          <a:noFill/>
          <a:ln/>
        </p:spPr>
        <p:txBody>
          <a:bodyPr wrap="square" lIns="0" tIns="0" rIns="0" bIns="0" rtlCol="0" anchor="t"/>
          <a:lstStyle/>
          <a:p>
            <a:pPr indent="0" marL="0">
              <a:buNone/>
            </a:pPr>
            <a:r>
              <a:rPr lang="en-US" sz="1000" i="1" dirty="0">
                <a:solidFill>
                  <a:srgbClr val="5B6472"/>
                </a:solidFill>
              </a:rPr>
              <a:t>Khanam &amp; Rahman, 2022</a:t>
            </a:r>
            <a:endParaRPr lang="en-US" sz="1000" dirty="0"/>
          </a:p>
        </p:txBody>
      </p:sp>
      <p:sp>
        <p:nvSpPr>
          <p:cNvPr id="13" name="Shape 10"/>
          <p:cNvSpPr/>
          <p:nvPr/>
        </p:nvSpPr>
        <p:spPr>
          <a:xfrm>
            <a:off x="4389120" y="2834640"/>
            <a:ext cx="3657600" cy="1188720"/>
          </a:xfrm>
          <a:prstGeom prst="roundRect">
            <a:avLst>
              <a:gd name="adj" fmla="val 6154"/>
            </a:avLst>
          </a:prstGeom>
          <a:solidFill>
            <a:srgbClr val="F3F6FA"/>
          </a:solidFill>
          <a:ln/>
        </p:spPr>
      </p:sp>
      <p:sp>
        <p:nvSpPr>
          <p:cNvPr id="14" name="Text 11"/>
          <p:cNvSpPr txBox="1"/>
          <p:nvPr/>
        </p:nvSpPr>
        <p:spPr>
          <a:xfrm>
            <a:off x="4572000" y="2926080"/>
            <a:ext cx="3291840" cy="384048"/>
          </a:xfrm>
          <a:prstGeom prst="rect">
            <a:avLst/>
          </a:prstGeom>
          <a:noFill/>
          <a:ln/>
        </p:spPr>
        <p:txBody>
          <a:bodyPr wrap="square" lIns="0" tIns="0" rIns="0" bIns="0" rtlCol="0" anchor="t"/>
          <a:lstStyle/>
          <a:p>
            <a:pPr indent="0" marL="0">
              <a:buNone/>
            </a:pPr>
            <a:r>
              <a:rPr lang="en-US" sz="2000" b="1" dirty="0">
                <a:solidFill>
                  <a:srgbClr val="0E7FA0"/>
                </a:solidFill>
              </a:rPr>
              <a:t>47%</a:t>
            </a:r>
            <a:endParaRPr lang="en-US" sz="2000" dirty="0"/>
          </a:p>
        </p:txBody>
      </p:sp>
      <p:sp>
        <p:nvSpPr>
          <p:cNvPr id="15" name="Text 12"/>
          <p:cNvSpPr txBox="1"/>
          <p:nvPr/>
        </p:nvSpPr>
        <p:spPr>
          <a:xfrm>
            <a:off x="4572000" y="3291840"/>
            <a:ext cx="3337560" cy="566928"/>
          </a:xfrm>
          <a:prstGeom prst="rect">
            <a:avLst/>
          </a:prstGeom>
          <a:noFill/>
          <a:ln/>
        </p:spPr>
        <p:txBody>
          <a:bodyPr wrap="square" lIns="0" tIns="0" rIns="0" bIns="0" rtlCol="0" anchor="t"/>
          <a:lstStyle/>
          <a:p>
            <a:pPr indent="0" marL="0">
              <a:buNone/>
            </a:pPr>
            <a:r>
              <a:rPr lang="en-US" sz="1100" dirty="0">
                <a:solidFill>
                  <a:srgbClr val="1F2937"/>
                </a:solidFill>
              </a:rPr>
              <a:t>of coastal adults (182 of 391, Ramgati) say saline water frequently or very frequently causes hair loss, as they perceive it.</a:t>
            </a:r>
            <a:endParaRPr lang="en-US" sz="1100" dirty="0"/>
          </a:p>
        </p:txBody>
      </p:sp>
      <p:sp>
        <p:nvSpPr>
          <p:cNvPr id="16" name="Text 13"/>
          <p:cNvSpPr txBox="1"/>
          <p:nvPr/>
        </p:nvSpPr>
        <p:spPr>
          <a:xfrm>
            <a:off x="4572000" y="3785616"/>
            <a:ext cx="3291840" cy="201168"/>
          </a:xfrm>
          <a:prstGeom prst="rect">
            <a:avLst/>
          </a:prstGeom>
          <a:noFill/>
          <a:ln/>
        </p:spPr>
        <p:txBody>
          <a:bodyPr wrap="square" lIns="0" tIns="0" rIns="0" bIns="0" rtlCol="0" anchor="t"/>
          <a:lstStyle/>
          <a:p>
            <a:pPr indent="0" marL="0">
              <a:buNone/>
            </a:pPr>
            <a:r>
              <a:rPr lang="en-US" sz="1000" i="1" dirty="0">
                <a:solidFill>
                  <a:srgbClr val="5B6472"/>
                </a:solidFill>
              </a:rPr>
              <a:t>Zakaria et al., 2025</a:t>
            </a:r>
            <a:endParaRPr lang="en-US" sz="1000" dirty="0"/>
          </a:p>
        </p:txBody>
      </p:sp>
      <p:sp>
        <p:nvSpPr>
          <p:cNvPr id="17" name="Shape 14"/>
          <p:cNvSpPr/>
          <p:nvPr/>
        </p:nvSpPr>
        <p:spPr>
          <a:xfrm>
            <a:off x="4389120" y="4114800"/>
            <a:ext cx="3657600" cy="1188720"/>
          </a:xfrm>
          <a:prstGeom prst="roundRect">
            <a:avLst>
              <a:gd name="adj" fmla="val 6154"/>
            </a:avLst>
          </a:prstGeom>
          <a:solidFill>
            <a:srgbClr val="F3F6FA"/>
          </a:solidFill>
          <a:ln/>
        </p:spPr>
      </p:sp>
      <p:sp>
        <p:nvSpPr>
          <p:cNvPr id="18" name="Text 15"/>
          <p:cNvSpPr txBox="1"/>
          <p:nvPr/>
        </p:nvSpPr>
        <p:spPr>
          <a:xfrm>
            <a:off x="4572000" y="4206240"/>
            <a:ext cx="3291840" cy="384048"/>
          </a:xfrm>
          <a:prstGeom prst="rect">
            <a:avLst/>
          </a:prstGeom>
          <a:noFill/>
          <a:ln/>
        </p:spPr>
        <p:txBody>
          <a:bodyPr wrap="square" lIns="0" tIns="0" rIns="0" bIns="0" rtlCol="0" anchor="t"/>
          <a:lstStyle/>
          <a:p>
            <a:pPr indent="0" marL="0">
              <a:buNone/>
            </a:pPr>
            <a:r>
              <a:rPr lang="en-US" sz="2000" b="1" dirty="0">
                <a:solidFill>
                  <a:srgbClr val="0E7FA0"/>
                </a:solidFill>
              </a:rPr>
              <a:t>53.8M</a:t>
            </a:r>
            <a:endParaRPr lang="en-US" sz="2000" dirty="0"/>
          </a:p>
        </p:txBody>
      </p:sp>
      <p:sp>
        <p:nvSpPr>
          <p:cNvPr id="19" name="Text 16"/>
          <p:cNvSpPr txBox="1"/>
          <p:nvPr/>
        </p:nvSpPr>
        <p:spPr>
          <a:xfrm>
            <a:off x="4572000" y="4572000"/>
            <a:ext cx="3337560" cy="566928"/>
          </a:xfrm>
          <a:prstGeom prst="rect">
            <a:avLst/>
          </a:prstGeom>
          <a:noFill/>
          <a:ln/>
        </p:spPr>
        <p:txBody>
          <a:bodyPr wrap="square" lIns="0" tIns="0" rIns="0" bIns="0" rtlCol="0" anchor="t"/>
          <a:lstStyle/>
          <a:p>
            <a:pPr indent="0" marL="0">
              <a:buNone/>
            </a:pPr>
            <a:r>
              <a:rPr lang="en-US" sz="1100" dirty="0">
                <a:solidFill>
                  <a:srgbClr val="1F2937"/>
                </a:solidFill>
              </a:rPr>
              <a:t>Bangladeshis live in urban areas (31.7%). The cities Movers move to are majority-flagged for iron or hardness.</a:t>
            </a:r>
            <a:endParaRPr lang="en-US" sz="1100" dirty="0"/>
          </a:p>
        </p:txBody>
      </p:sp>
      <p:sp>
        <p:nvSpPr>
          <p:cNvPr id="20" name="Text 17"/>
          <p:cNvSpPr txBox="1"/>
          <p:nvPr/>
        </p:nvSpPr>
        <p:spPr>
          <a:xfrm>
            <a:off x="4572000" y="5065776"/>
            <a:ext cx="3291840" cy="201168"/>
          </a:xfrm>
          <a:prstGeom prst="rect">
            <a:avLst/>
          </a:prstGeom>
          <a:noFill/>
          <a:ln/>
        </p:spPr>
        <p:txBody>
          <a:bodyPr wrap="square" lIns="0" tIns="0" rIns="0" bIns="0" rtlCol="0" anchor="t"/>
          <a:lstStyle/>
          <a:p>
            <a:pPr indent="0" marL="0">
              <a:buNone/>
            </a:pPr>
            <a:r>
              <a:rPr lang="en-US" sz="1000" i="1" dirty="0">
                <a:solidFill>
                  <a:srgbClr val="5B6472"/>
                </a:solidFill>
              </a:rPr>
              <a:t>BBS Census 2022; BGS/DPHE</a:t>
            </a:r>
            <a:endParaRPr lang="en-US" sz="1000" dirty="0"/>
          </a:p>
        </p:txBody>
      </p:sp>
      <p:sp>
        <p:nvSpPr>
          <p:cNvPr id="21" name="Shape 18"/>
          <p:cNvSpPr/>
          <p:nvPr/>
        </p:nvSpPr>
        <p:spPr>
          <a:xfrm>
            <a:off x="8275320" y="1554480"/>
            <a:ext cx="3364992" cy="3749040"/>
          </a:xfrm>
          <a:prstGeom prst="roundRect">
            <a:avLst>
              <a:gd name="adj" fmla="val 2174"/>
            </a:avLst>
          </a:prstGeom>
          <a:solidFill>
            <a:srgbClr val="E3F5FA"/>
          </a:solidFill>
          <a:ln/>
        </p:spPr>
      </p:sp>
      <p:sp>
        <p:nvSpPr>
          <p:cNvPr id="22" name="Text 19"/>
          <p:cNvSpPr txBox="1"/>
          <p:nvPr/>
        </p:nvSpPr>
        <p:spPr>
          <a:xfrm>
            <a:off x="8458200" y="1691640"/>
            <a:ext cx="3017520" cy="3520440"/>
          </a:xfrm>
          <a:prstGeom prst="rect">
            <a:avLst/>
          </a:prstGeom>
          <a:noFill/>
          <a:ln/>
        </p:spPr>
        <p:txBody>
          <a:bodyPr wrap="square" lIns="0" tIns="0" rIns="0" bIns="0" rtlCol="0" anchor="t"/>
          <a:lstStyle/>
          <a:p>
            <a:pPr indent="0" marL="0">
              <a:buNone/>
            </a:pPr>
            <a:r>
              <a:rPr lang="en-US" sz="1100" b="1" spc="100" kern="0" dirty="0">
                <a:solidFill>
                  <a:srgbClr val="0E7FA0"/>
                </a:solidFill>
              </a:rPr>
              <a:t>OUR CONSUMER SURVEY · 3–9 OCT 2026</a:t>
            </a:r>
            <a:endParaRPr lang="en-US" sz="1200" dirty="0"/>
          </a:p>
          <a:p>
            <a:pPr indent="0" marL="0">
              <a:spcBef>
                <a:spcPts val="600"/>
              </a:spcBef>
              <a:buNone/>
            </a:pPr>
            <a:r>
              <a:rPr lang="en-US" sz="1200" dirty="0">
                <a:solidFill>
                  <a:srgbClr val="1F2937"/>
                </a:solidFill>
              </a:rPr>
              <a:t>49 consenting adults from 50 Google Form submissions</a:t>
            </a:r>
            <a:endParaRPr lang="en-US" sz="1200" dirty="0"/>
          </a:p>
          <a:p>
            <a:pPr indent="0" marL="0">
              <a:spcBef>
                <a:spcPts val="600"/>
              </a:spcBef>
              <a:buNone/>
            </a:pPr>
            <a:r>
              <a:rPr lang="en-US" sz="1200" dirty="0">
                <a:solidFill>
                  <a:srgbClr val="1F2937"/>
                </a:solidFill>
              </a:rPr>
              <a:t>18 of 22 water-source changers reported worse hair problems (81.8%)</a:t>
            </a:r>
            <a:endParaRPr lang="en-US" sz="1200" dirty="0"/>
          </a:p>
          <a:p>
            <a:pPr indent="0" marL="0">
              <a:spcBef>
                <a:spcPts val="600"/>
              </a:spcBef>
              <a:buNone/>
            </a:pPr>
            <a:r>
              <a:rPr lang="en-US" sz="1200" dirty="0">
                <a:solidFill>
                  <a:srgbClr val="1F2937"/>
                </a:solidFill>
              </a:rPr>
              <a:t>38 of 49 rated the concept 4 or 5 out of 5 (77.6%)</a:t>
            </a:r>
            <a:endParaRPr lang="en-US" sz="1200" dirty="0"/>
          </a:p>
          <a:p>
            <a:pPr indent="0" marL="0">
              <a:spcBef>
                <a:spcPts val="600"/>
              </a:spcBef>
              <a:buNone/>
            </a:pPr>
            <a:r>
              <a:rPr lang="en-US" sz="1200" dirty="0">
                <a:solidFill>
                  <a:srgbClr val="1F2937"/>
                </a:solidFill>
              </a:rPr>
              <a:t>Median maximum price for 340 ml: Tk 320 (n=47)</a:t>
            </a:r>
            <a:endParaRPr lang="en-US" sz="1200" dirty="0"/>
          </a:p>
          <a:p>
            <a:pPr indent="0" marL="0">
              <a:spcBef>
                <a:spcPts val="600"/>
              </a:spcBef>
              <a:buNone/>
            </a:pPr>
            <a:r>
              <a:rPr lang="en-US" sz="1200" dirty="0">
                <a:solidFill>
                  <a:srgbClr val="1F2937"/>
                </a:solidFill>
              </a:rPr>
              <a:t>15 of 47 stated a maximum price of at least Tk 360 (31.9%)</a:t>
            </a:r>
            <a:endParaRPr lang="en-US" sz="1200" dirty="0"/>
          </a:p>
          <a:p>
            <a:pPr indent="0" marL="0">
              <a:spcBef>
                <a:spcPts val="600"/>
              </a:spcBef>
              <a:buNone/>
            </a:pPr>
            <a:r>
              <a:rPr lang="en-US" sz="1200" dirty="0">
                <a:solidFill>
                  <a:srgbClr val="1F2937"/>
                </a:solidFill>
              </a:rPr>
              <a:t>Convenience sample; self-reports. The water–shampoo effect is shown as an illustrative animation in our pitch video; lab tests are planned (slide 15).</a:t>
            </a:r>
            <a:endParaRPr lang="en-US" sz="1200" dirty="0"/>
          </a:p>
        </p:txBody>
      </p:sp>
      <p:sp>
        <p:nvSpPr>
          <p:cNvPr id="23" name="Shape 20"/>
          <p:cNvSpPr/>
          <p:nvPr/>
        </p:nvSpPr>
        <p:spPr>
          <a:xfrm>
            <a:off x="548640" y="5440680"/>
            <a:ext cx="11091672" cy="502920"/>
          </a:xfrm>
          <a:prstGeom prst="roundRect">
            <a:avLst>
              <a:gd name="adj" fmla="val 14545"/>
            </a:avLst>
          </a:prstGeom>
          <a:solidFill>
            <a:srgbClr val="E3F5FA"/>
          </a:solidFill>
          <a:ln/>
        </p:spPr>
      </p:sp>
      <p:sp>
        <p:nvSpPr>
          <p:cNvPr id="24" name="Text 21"/>
          <p:cNvSpPr txBox="1"/>
          <p:nvPr/>
        </p:nvSpPr>
        <p:spPr>
          <a:xfrm>
            <a:off x="777240" y="5440680"/>
            <a:ext cx="10698480" cy="502920"/>
          </a:xfrm>
          <a:prstGeom prst="rect">
            <a:avLst/>
          </a:prstGeom>
          <a:noFill/>
          <a:ln/>
        </p:spPr>
        <p:txBody>
          <a:bodyPr wrap="square" lIns="0" tIns="0" rIns="0" bIns="0" rtlCol="0" anchor="ctr"/>
          <a:lstStyle/>
          <a:p>
            <a:pPr indent="0" marL="0">
              <a:buNone/>
            </a:pPr>
            <a:r>
              <a:rPr lang="en-US" sz="1400" b="1" spc="100" kern="0" dirty="0">
                <a:solidFill>
                  <a:srgbClr val="0E7FA0"/>
                </a:solidFill>
              </a:rPr>
              <a:t/>
            </a:r>
            <a:pPr indent="0" marL="0">
              <a:buNone/>
            </a:pPr>
            <a:r>
              <a:rPr lang="en-US" sz="1400" dirty="0">
                <a:solidFill>
                  <a:srgbClr val="141C52"/>
                </a:solidFill>
              </a:rPr>
              <a:t>Among water-source changers (our Movers): median maximum Tk 350; 10 of 22 (45.5%) at least Tk 360.</a:t>
            </a:r>
            <a:endParaRPr lang="en-US" sz="1400" dirty="0"/>
          </a:p>
        </p:txBody>
      </p:sp>
      <p:sp>
        <p:nvSpPr>
          <p:cNvPr id="25" name="Text 22"/>
          <p:cNvSpPr txBox="1"/>
          <p:nvPr/>
        </p:nvSpPr>
        <p:spPr>
          <a:xfrm>
            <a:off x="548640" y="5989320"/>
            <a:ext cx="11091672" cy="365760"/>
          </a:xfrm>
          <a:prstGeom prst="rect">
            <a:avLst/>
          </a:prstGeom>
          <a:noFill/>
          <a:ln/>
        </p:spPr>
        <p:txBody>
          <a:bodyPr wrap="square" lIns="0" tIns="0" rIns="0" bIns="0" rtlCol="0" anchor="b"/>
          <a:lstStyle/>
          <a:p>
            <a:pPr indent="0" marL="0">
              <a:buNone/>
            </a:pPr>
            <a:r>
              <a:rPr lang="en-US" sz="1000" i="1" dirty="0">
                <a:solidFill>
                  <a:srgbClr val="5B6472"/>
                </a:solidFill>
              </a:rPr>
              <a:t>Sources: Khanam &amp; Rahman (2022); Zakaria et al. (2025); UGC Annual Report 2023 via Prothom Alo (4 Oct 2025); BBS Census 2022. Team Google Form survey, 3–9 Oct 2026 (n=49; maximum-price answers n=47).</a:t>
            </a:r>
            <a:endParaRPr lang="en-US" sz="1000" dirty="0"/>
          </a:p>
        </p:txBody>
      </p:sp>
      <p:sp>
        <p:nvSpPr>
          <p:cNvPr id="26"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defRPr>
            </a:lvl1pPr>
          </a:lstStyle>
          <a:p>
            <a:pPr algn="r"/>
            <a:r>
              <a:t>4</a:t>
            </a:r>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48640" y="274320"/>
            <a:ext cx="9601200" cy="256032"/>
          </a:xfrm>
          <a:prstGeom prst="rect">
            <a:avLst/>
          </a:prstGeom>
          <a:noFill/>
          <a:ln/>
        </p:spPr>
        <p:txBody>
          <a:bodyPr wrap="square" lIns="0" tIns="0" rIns="0" bIns="0" rtlCol="0" anchor="t"/>
          <a:lstStyle/>
          <a:p>
            <a:pPr indent="0" marL="0">
              <a:buNone/>
            </a:pPr>
            <a:r>
              <a:rPr lang="en-US" sz="1100" b="1" spc="200" kern="0" dirty="0">
                <a:solidFill>
                  <a:srgbClr val="0E7FA0"/>
                </a:solidFill>
              </a:rPr>
              <a:t>BUSINESS PLAN  ·  YOUR BIG IDEA</a:t>
            </a:r>
            <a:endParaRPr lang="en-US" sz="1100" dirty="0"/>
          </a:p>
        </p:txBody>
      </p:sp>
      <p:sp>
        <p:nvSpPr>
          <p:cNvPr id="3" name="Text 1"/>
          <p:cNvSpPr/>
          <p:nvPr>
            <p:ph idx="102" type="title" hasCustomPrompt="1"/>
          </p:nvPr>
        </p:nvSpPr>
        <p:spPr>
          <a:xfrm>
            <a:off x="548640" y="566928"/>
            <a:ext cx="9875520" cy="868680"/>
          </a:xfrm>
          <a:prstGeom prst="rect">
            <a:avLst/>
          </a:prstGeom>
          <a:noFill/>
          <a:ln/>
        </p:spPr>
        <p:txBody>
          <a:bodyPr wrap="square" lIns="0" tIns="0" rIns="0" bIns="0" rtlCol="0" anchor="t"/>
          <a:lstStyle/>
          <a:p>
            <a:pPr algn="l" indent="0" marL="0">
              <a:buNone/>
            </a:pPr>
            <a:r>
              <a:rPr lang="en-US" sz="2600" b="1" dirty="0">
                <a:solidFill>
                  <a:srgbClr val="141C52"/>
                </a:solidFill>
              </a:rPr>
              <a:t>Parachute Naturale WaterSmart: check your water, then wash smarter</a:t>
            </a:r>
            <a:endParaRPr lang="en-US" sz="2600" dirty="0"/>
          </a:p>
        </p:txBody>
      </p:sp>
      <p:sp>
        <p:nvSpPr>
          <p:cNvPr id="4" name="Shape 2"/>
          <p:cNvSpPr/>
          <p:nvPr/>
        </p:nvSpPr>
        <p:spPr>
          <a:xfrm>
            <a:off x="411480" y="1828800"/>
            <a:ext cx="4754880" cy="4023360"/>
          </a:xfrm>
          <a:prstGeom prst="ellipse">
            <a:avLst/>
          </a:prstGeom>
          <a:solidFill>
            <a:srgbClr val="E3F5FA"/>
          </a:solidFill>
          <a:ln/>
        </p:spPr>
      </p:sp>
      <p:pic>
        <p:nvPicPr>
          <p:cNvPr id="5" name="Image 0" descr="C:\Users\Administrator\Desktop\otw\Round2_Submission\deck\assets\bottle340.png">    </p:cNvPr>
          <p:cNvPicPr>
            <a:picLocks noChangeAspect="1"/>
          </p:cNvPicPr>
          <p:nvPr/>
        </p:nvPicPr>
        <p:blipFill>
          <a:blip r:embed="rId1"/>
          <a:stretch>
            <a:fillRect/>
          </a:stretch>
        </p:blipFill>
        <p:spPr>
          <a:xfrm>
            <a:off x="548640" y="1481328"/>
            <a:ext cx="2068373" cy="4297680"/>
          </a:xfrm>
          <a:prstGeom prst="rect">
            <a:avLst/>
          </a:prstGeom>
        </p:spPr>
      </p:pic>
      <p:pic>
        <p:nvPicPr>
          <p:cNvPr id="6" name="Image 1" descr="C:\Users\Administrator\Desktop\otw\Round2_Submission\deck\assets\bottle180.png">    </p:cNvPr>
          <p:cNvPicPr>
            <a:picLocks noChangeAspect="1"/>
          </p:cNvPicPr>
          <p:nvPr/>
        </p:nvPicPr>
        <p:blipFill>
          <a:blip r:embed="rId2"/>
          <a:stretch>
            <a:fillRect/>
          </a:stretch>
        </p:blipFill>
        <p:spPr>
          <a:xfrm>
            <a:off x="2468880" y="2651760"/>
            <a:ext cx="1495958" cy="3108960"/>
          </a:xfrm>
          <a:prstGeom prst="rect">
            <a:avLst/>
          </a:prstGeom>
        </p:spPr>
      </p:pic>
      <p:pic>
        <p:nvPicPr>
          <p:cNvPr id="7" name="Image 2" descr="C:\Users\Administrator\Desktop\otw\Round2_Submission\deck\assets\sachet.png">    </p:cNvPr>
          <p:cNvPicPr>
            <a:picLocks noChangeAspect="1"/>
          </p:cNvPicPr>
          <p:nvPr/>
        </p:nvPicPr>
        <p:blipFill>
          <a:blip r:embed="rId3"/>
          <a:stretch>
            <a:fillRect/>
          </a:stretch>
        </p:blipFill>
        <p:spPr>
          <a:xfrm>
            <a:off x="3886200" y="4160520"/>
            <a:ext cx="1143000" cy="1600200"/>
          </a:xfrm>
          <a:prstGeom prst="rect">
            <a:avLst/>
          </a:prstGeom>
        </p:spPr>
      </p:pic>
      <p:sp>
        <p:nvSpPr>
          <p:cNvPr id="8" name="Shape 3"/>
          <p:cNvSpPr/>
          <p:nvPr/>
        </p:nvSpPr>
        <p:spPr>
          <a:xfrm>
            <a:off x="5394960" y="1554480"/>
            <a:ext cx="6245352" cy="1005840"/>
          </a:xfrm>
          <a:prstGeom prst="roundRect">
            <a:avLst>
              <a:gd name="adj" fmla="val 7273"/>
            </a:avLst>
          </a:prstGeom>
          <a:solidFill>
            <a:srgbClr val="F3F6FA"/>
          </a:solidFill>
          <a:ln/>
        </p:spPr>
      </p:sp>
      <p:sp>
        <p:nvSpPr>
          <p:cNvPr id="9" name="Shape 4"/>
          <p:cNvSpPr/>
          <p:nvPr/>
        </p:nvSpPr>
        <p:spPr>
          <a:xfrm>
            <a:off x="5559552" y="1755648"/>
            <a:ext cx="566928" cy="566928"/>
          </a:xfrm>
          <a:prstGeom prst="ellipse">
            <a:avLst/>
          </a:prstGeom>
          <a:solidFill>
            <a:srgbClr val="12A5C4"/>
          </a:solidFill>
          <a:ln/>
        </p:spPr>
      </p:sp>
      <p:pic>
        <p:nvPicPr>
          <p:cNvPr id="10" name="Image 3" descr="preencoded.png">    </p:cNvPr>
          <p:cNvPicPr>
            <a:picLocks noChangeAspect="1"/>
          </p:cNvPicPr>
          <p:nvPr/>
        </p:nvPicPr>
        <p:blipFill>
          <a:blip r:embed="rId4"/>
          <a:stretch>
            <a:fillRect/>
          </a:stretch>
        </p:blipFill>
        <p:spPr>
          <a:xfrm>
            <a:off x="5695615" y="1891711"/>
            <a:ext cx="294803" cy="294803"/>
          </a:xfrm>
          <a:prstGeom prst="rect">
            <a:avLst/>
          </a:prstGeom>
        </p:spPr>
      </p:pic>
      <p:sp>
        <p:nvSpPr>
          <p:cNvPr id="11" name="Text 5"/>
          <p:cNvSpPr txBox="1"/>
          <p:nvPr/>
        </p:nvSpPr>
        <p:spPr>
          <a:xfrm>
            <a:off x="6309360" y="1645920"/>
            <a:ext cx="5212080" cy="274320"/>
          </a:xfrm>
          <a:prstGeom prst="rect">
            <a:avLst/>
          </a:prstGeom>
          <a:noFill/>
          <a:ln/>
        </p:spPr>
        <p:txBody>
          <a:bodyPr wrap="square" lIns="0" tIns="0" rIns="0" bIns="0" rtlCol="0" anchor="t"/>
          <a:lstStyle/>
          <a:p>
            <a:pPr indent="0" marL="0">
              <a:buNone/>
            </a:pPr>
            <a:r>
              <a:rPr lang="en-US" sz="1300" b="1" dirty="0">
                <a:solidFill>
                  <a:srgbClr val="141C52"/>
                </a:solidFill>
              </a:rPr>
              <a:t>THE FORMULA  ·  chelating cleanse</a:t>
            </a:r>
            <a:endParaRPr lang="en-US" sz="1300" dirty="0"/>
          </a:p>
        </p:txBody>
      </p:sp>
      <p:sp>
        <p:nvSpPr>
          <p:cNvPr id="12" name="Text 6"/>
          <p:cNvSpPr txBox="1"/>
          <p:nvPr/>
        </p:nvSpPr>
        <p:spPr>
          <a:xfrm>
            <a:off x="6309360" y="1920240"/>
            <a:ext cx="5212080" cy="594360"/>
          </a:xfrm>
          <a:prstGeom prst="rect">
            <a:avLst/>
          </a:prstGeom>
          <a:noFill/>
          <a:ln/>
        </p:spPr>
        <p:txBody>
          <a:bodyPr wrap="square" lIns="0" tIns="0" rIns="0" bIns="0" rtlCol="0" anchor="t"/>
          <a:lstStyle/>
          <a:p>
            <a:pPr indent="0" marL="0">
              <a:buNone/>
            </a:pPr>
            <a:r>
              <a:rPr lang="en-US" sz="1200" dirty="0">
                <a:solidFill>
                  <a:srgbClr val="1F2937"/>
                </a:solidFill>
              </a:rPr>
              <a:t>GLDA, a readily biodegradable chelator, binds iron, calcium and magnesium so they rinse away. Coconut-derived surfactants lather in hard water; Coconut Milk Protein conditions.</a:t>
            </a:r>
            <a:endParaRPr lang="en-US" sz="1200" dirty="0"/>
          </a:p>
        </p:txBody>
      </p:sp>
      <p:sp>
        <p:nvSpPr>
          <p:cNvPr id="13" name="Shape 7"/>
          <p:cNvSpPr/>
          <p:nvPr/>
        </p:nvSpPr>
        <p:spPr>
          <a:xfrm>
            <a:off x="5394960" y="2670048"/>
            <a:ext cx="6245352" cy="1005840"/>
          </a:xfrm>
          <a:prstGeom prst="roundRect">
            <a:avLst>
              <a:gd name="adj" fmla="val 7273"/>
            </a:avLst>
          </a:prstGeom>
          <a:solidFill>
            <a:srgbClr val="F3F6FA"/>
          </a:solidFill>
          <a:ln/>
        </p:spPr>
      </p:sp>
      <p:sp>
        <p:nvSpPr>
          <p:cNvPr id="14" name="Shape 8"/>
          <p:cNvSpPr/>
          <p:nvPr/>
        </p:nvSpPr>
        <p:spPr>
          <a:xfrm>
            <a:off x="5559552" y="2871216"/>
            <a:ext cx="566928" cy="566928"/>
          </a:xfrm>
          <a:prstGeom prst="ellipse">
            <a:avLst/>
          </a:prstGeom>
          <a:solidFill>
            <a:srgbClr val="F5A31A"/>
          </a:solidFill>
          <a:ln/>
        </p:spPr>
      </p:sp>
      <p:pic>
        <p:nvPicPr>
          <p:cNvPr id="15" name="Image 4" descr="preencoded.png">    </p:cNvPr>
          <p:cNvPicPr>
            <a:picLocks noChangeAspect="1"/>
          </p:cNvPicPr>
          <p:nvPr/>
        </p:nvPicPr>
        <p:blipFill>
          <a:blip r:embed="rId5"/>
          <a:stretch>
            <a:fillRect/>
          </a:stretch>
        </p:blipFill>
        <p:spPr>
          <a:xfrm>
            <a:off x="5695615" y="3007279"/>
            <a:ext cx="294803" cy="294803"/>
          </a:xfrm>
          <a:prstGeom prst="rect">
            <a:avLst/>
          </a:prstGeom>
        </p:spPr>
      </p:pic>
      <p:sp>
        <p:nvSpPr>
          <p:cNvPr id="16" name="Text 9"/>
          <p:cNvSpPr txBox="1"/>
          <p:nvPr/>
        </p:nvSpPr>
        <p:spPr>
          <a:xfrm>
            <a:off x="6309360" y="2761488"/>
            <a:ext cx="5212080" cy="274320"/>
          </a:xfrm>
          <a:prstGeom prst="rect">
            <a:avLst/>
          </a:prstGeom>
          <a:noFill/>
          <a:ln/>
        </p:spPr>
        <p:txBody>
          <a:bodyPr wrap="square" lIns="0" tIns="0" rIns="0" bIns="0" rtlCol="0" anchor="t"/>
          <a:lstStyle/>
          <a:p>
            <a:pPr indent="0" marL="0">
              <a:buNone/>
            </a:pPr>
            <a:r>
              <a:rPr lang="en-US" sz="1300" b="1" dirty="0">
                <a:solidFill>
                  <a:srgbClr val="141C52"/>
                </a:solidFill>
              </a:rPr>
              <a:t>THE PACK  ·  PaniCheck cap</a:t>
            </a:r>
            <a:endParaRPr lang="en-US" sz="1300" dirty="0"/>
          </a:p>
        </p:txBody>
      </p:sp>
      <p:sp>
        <p:nvSpPr>
          <p:cNvPr id="17" name="Text 10"/>
          <p:cNvSpPr txBox="1"/>
          <p:nvPr/>
        </p:nvSpPr>
        <p:spPr>
          <a:xfrm>
            <a:off x="6309360" y="3035808"/>
            <a:ext cx="5212080" cy="594360"/>
          </a:xfrm>
          <a:prstGeom prst="rect">
            <a:avLst/>
          </a:prstGeom>
          <a:noFill/>
          <a:ln/>
        </p:spPr>
        <p:txBody>
          <a:bodyPr wrap="square" lIns="0" tIns="0" rIns="0" bIns="0" rtlCol="0" anchor="t"/>
          <a:lstStyle/>
          <a:p>
            <a:pPr indent="0" marL="0">
              <a:buNone/>
            </a:pPr>
            <a:r>
              <a:rPr lang="en-US" sz="1200" dirty="0">
                <a:solidFill>
                  <a:srgbClr val="1F2937"/>
                </a:solidFill>
              </a:rPr>
              <a:t>A foil-sealed hardness strip in every 340 ml cap. Dip for one second, match the colour, and know your water’s hardness in under a minute.</a:t>
            </a:r>
            <a:endParaRPr lang="en-US" sz="1200" dirty="0"/>
          </a:p>
        </p:txBody>
      </p:sp>
      <p:sp>
        <p:nvSpPr>
          <p:cNvPr id="18" name="Shape 11"/>
          <p:cNvSpPr/>
          <p:nvPr/>
        </p:nvSpPr>
        <p:spPr>
          <a:xfrm>
            <a:off x="5394960" y="3785616"/>
            <a:ext cx="6245352" cy="1005840"/>
          </a:xfrm>
          <a:prstGeom prst="roundRect">
            <a:avLst>
              <a:gd name="adj" fmla="val 7273"/>
            </a:avLst>
          </a:prstGeom>
          <a:solidFill>
            <a:srgbClr val="F3F6FA"/>
          </a:solidFill>
          <a:ln/>
        </p:spPr>
      </p:sp>
      <p:sp>
        <p:nvSpPr>
          <p:cNvPr id="19" name="Shape 12"/>
          <p:cNvSpPr/>
          <p:nvPr/>
        </p:nvSpPr>
        <p:spPr>
          <a:xfrm>
            <a:off x="5559552" y="3986784"/>
            <a:ext cx="566928" cy="566928"/>
          </a:xfrm>
          <a:prstGeom prst="ellipse">
            <a:avLst/>
          </a:prstGeom>
          <a:solidFill>
            <a:srgbClr val="0B6FB8"/>
          </a:solidFill>
          <a:ln/>
        </p:spPr>
      </p:sp>
      <p:pic>
        <p:nvPicPr>
          <p:cNvPr id="20" name="Image 5" descr="preencoded.png">    </p:cNvPr>
          <p:cNvPicPr>
            <a:picLocks noChangeAspect="1"/>
          </p:cNvPicPr>
          <p:nvPr/>
        </p:nvPicPr>
        <p:blipFill>
          <a:blip r:embed="rId6"/>
          <a:stretch>
            <a:fillRect/>
          </a:stretch>
        </p:blipFill>
        <p:spPr>
          <a:xfrm>
            <a:off x="5695615" y="4122847"/>
            <a:ext cx="294803" cy="294803"/>
          </a:xfrm>
          <a:prstGeom prst="rect">
            <a:avLst/>
          </a:prstGeom>
        </p:spPr>
      </p:pic>
      <p:sp>
        <p:nvSpPr>
          <p:cNvPr id="21" name="Text 13"/>
          <p:cNvSpPr txBox="1"/>
          <p:nvPr/>
        </p:nvSpPr>
        <p:spPr>
          <a:xfrm>
            <a:off x="6309360" y="3877056"/>
            <a:ext cx="5212080" cy="274320"/>
          </a:xfrm>
          <a:prstGeom prst="rect">
            <a:avLst/>
          </a:prstGeom>
          <a:noFill/>
          <a:ln/>
        </p:spPr>
        <p:txBody>
          <a:bodyPr wrap="square" lIns="0" tIns="0" rIns="0" bIns="0" rtlCol="0" anchor="t"/>
          <a:lstStyle/>
          <a:p>
            <a:pPr indent="0" marL="0">
              <a:buNone/>
            </a:pPr>
            <a:r>
              <a:rPr lang="en-US" sz="1300" b="1" dirty="0">
                <a:solidFill>
                  <a:srgbClr val="141C52"/>
                </a:solidFill>
              </a:rPr>
              <a:t>THE SERVICE  ·  Pani Map</a:t>
            </a:r>
            <a:endParaRPr lang="en-US" sz="1300" dirty="0"/>
          </a:p>
        </p:txBody>
      </p:sp>
      <p:sp>
        <p:nvSpPr>
          <p:cNvPr id="22" name="Text 14"/>
          <p:cNvSpPr txBox="1"/>
          <p:nvPr/>
        </p:nvSpPr>
        <p:spPr>
          <a:xfrm>
            <a:off x="6309360" y="4151376"/>
            <a:ext cx="5212080" cy="594360"/>
          </a:xfrm>
          <a:prstGeom prst="rect">
            <a:avLst/>
          </a:prstGeom>
          <a:noFill/>
          <a:ln/>
        </p:spPr>
        <p:txBody>
          <a:bodyPr wrap="square" lIns="0" tIns="0" rIns="0" bIns="0" rtlCol="0" anchor="t"/>
          <a:lstStyle/>
          <a:p>
            <a:pPr indent="0" marL="0">
              <a:buNone/>
            </a:pPr>
            <a:r>
              <a:rPr lang="en-US" sz="1200" dirty="0">
                <a:solidFill>
                  <a:srgbClr val="1F2937"/>
                </a:solidFill>
              </a:rPr>
              <a:t>A QR code on every pack, sachets included, opens your area’s water profile (BGS/DPHE data) and a step-by-step guide to testing your own water.</a:t>
            </a:r>
            <a:endParaRPr lang="en-US" sz="1200" dirty="0"/>
          </a:p>
        </p:txBody>
      </p:sp>
      <p:sp>
        <p:nvSpPr>
          <p:cNvPr id="23" name="Text 15"/>
          <p:cNvSpPr txBox="1"/>
          <p:nvPr/>
        </p:nvSpPr>
        <p:spPr>
          <a:xfrm>
            <a:off x="5394960" y="4919472"/>
            <a:ext cx="6245352" cy="320040"/>
          </a:xfrm>
          <a:prstGeom prst="rect">
            <a:avLst/>
          </a:prstGeom>
          <a:noFill/>
          <a:ln/>
        </p:spPr>
        <p:txBody>
          <a:bodyPr wrap="square" lIns="0" tIns="0" rIns="0" bIns="0" rtlCol="0" anchor="t"/>
          <a:lstStyle/>
          <a:p>
            <a:pPr indent="0" marL="0">
              <a:buNone/>
            </a:pPr>
            <a:r>
              <a:rPr lang="en-US" sz="1200" b="1" dirty="0">
                <a:solidFill>
                  <a:srgbClr val="0E7FA0"/>
                </a:solidFill>
              </a:rPr>
              <a:t>Sachet Tk 3  ·  180 ml Tk 180  ·  340 ml + PaniCheck Tk 360  ·  Phase 2: LonaJol (saline)</a:t>
            </a:r>
            <a:endParaRPr lang="en-US" sz="1200" dirty="0"/>
          </a:p>
        </p:txBody>
      </p:sp>
      <p:sp>
        <p:nvSpPr>
          <p:cNvPr id="24" name="Shape 16"/>
          <p:cNvSpPr/>
          <p:nvPr/>
        </p:nvSpPr>
        <p:spPr>
          <a:xfrm>
            <a:off x="5394960" y="5321808"/>
            <a:ext cx="6245352" cy="603504"/>
          </a:xfrm>
          <a:prstGeom prst="roundRect">
            <a:avLst>
              <a:gd name="adj" fmla="val 12121"/>
            </a:avLst>
          </a:prstGeom>
          <a:solidFill>
            <a:srgbClr val="141C52"/>
          </a:solidFill>
          <a:ln/>
        </p:spPr>
      </p:sp>
      <p:sp>
        <p:nvSpPr>
          <p:cNvPr id="25" name="Text 17"/>
          <p:cNvSpPr txBox="1"/>
          <p:nvPr/>
        </p:nvSpPr>
        <p:spPr>
          <a:xfrm>
            <a:off x="5577840" y="5321808"/>
            <a:ext cx="5943600" cy="603504"/>
          </a:xfrm>
          <a:prstGeom prst="rect">
            <a:avLst/>
          </a:prstGeom>
          <a:noFill/>
          <a:ln/>
        </p:spPr>
        <p:txBody>
          <a:bodyPr wrap="square" lIns="0" tIns="0" rIns="0" bIns="0" rtlCol="0" anchor="ctr"/>
          <a:lstStyle/>
          <a:p>
            <a:pPr indent="0" marL="0">
              <a:buNone/>
            </a:pPr>
            <a:r>
              <a:rPr lang="en-US" sz="1700" dirty="0">
                <a:solidFill>
                  <a:srgbClr val="FFFFFF"/>
                </a:solidFill>
                <a:latin typeface="Nirmala UI" pitchFamily="34" charset="0"/>
                <a:ea typeface="Nirmala UI" pitchFamily="34" charset="-122"/>
                <a:cs typeface="Nirmala UI" pitchFamily="34" charset="-120"/>
              </a:rPr>
              <a:t>দোষ কি চুলের, নাকি পানির?  আগে পানি চেক করুন।</a:t>
            </a:r>
            <a:endParaRPr lang="en-US" sz="1200" dirty="0"/>
          </a:p>
          <a:p>
            <a:pPr indent="0" marL="0">
              <a:buNone/>
            </a:pPr>
            <a:r>
              <a:rPr lang="en-US" sz="1100" i="1" dirty="0">
                <a:solidFill>
                  <a:srgbClr val="C9D3F5"/>
                </a:solidFill>
              </a:rPr>
              <a:t>Is it your hair, or your water? Check your water first.</a:t>
            </a:r>
            <a:endParaRPr lang="en-US" sz="1200" dirty="0"/>
          </a:p>
        </p:txBody>
      </p:sp>
      <p:sp>
        <p:nvSpPr>
          <p:cNvPr id="26" name="Text 18"/>
          <p:cNvSpPr txBox="1"/>
          <p:nvPr/>
        </p:nvSpPr>
        <p:spPr>
          <a:xfrm>
            <a:off x="548640" y="5989320"/>
            <a:ext cx="11091672" cy="365760"/>
          </a:xfrm>
          <a:prstGeom prst="rect">
            <a:avLst/>
          </a:prstGeom>
          <a:noFill/>
          <a:ln/>
        </p:spPr>
        <p:txBody>
          <a:bodyPr wrap="square" lIns="0" tIns="0" rIns="0" bIns="0" rtlCol="0" anchor="b"/>
          <a:lstStyle/>
          <a:p>
            <a:pPr indent="0" marL="0">
              <a:buNone/>
            </a:pPr>
            <a:r>
              <a:rPr lang="en-US" sz="1000" i="1" dirty="0">
                <a:solidFill>
                  <a:srgbClr val="5B6472"/>
                </a:solidFill>
              </a:rPr>
              <a:t>Mock-ups are illustrative concepts. Product claims are proposed and subject to Marico R&amp;D substantiation. GLDA: Nouryon Dissolvine product guide (readily biodegradable).</a:t>
            </a:r>
            <a:endParaRPr lang="en-US" sz="1000" dirty="0"/>
          </a:p>
        </p:txBody>
      </p:sp>
      <p:sp>
        <p:nvSpPr>
          <p:cNvPr id="27"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defRPr>
            </a:lvl1pPr>
          </a:lstStyle>
          <a:p>
            <a:pPr algn="r"/>
            <a:r>
              <a:t>5</a:t>
            </a:r>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48640" y="274320"/>
            <a:ext cx="9601200" cy="256032"/>
          </a:xfrm>
          <a:prstGeom prst="rect">
            <a:avLst/>
          </a:prstGeom>
          <a:noFill/>
          <a:ln/>
        </p:spPr>
        <p:txBody>
          <a:bodyPr wrap="square" lIns="0" tIns="0" rIns="0" bIns="0" rtlCol="0" anchor="t"/>
          <a:lstStyle/>
          <a:p>
            <a:pPr indent="0" marL="0">
              <a:buNone/>
            </a:pPr>
            <a:r>
              <a:rPr lang="en-US" sz="1100" b="1" spc="200" kern="0" dirty="0">
                <a:solidFill>
                  <a:srgbClr val="0E7FA0"/>
                </a:solidFill>
              </a:rPr>
              <a:t>BUSINESS PLAN  ·  BRAND DEFINITION &amp; CATEGORY FIT</a:t>
            </a:r>
            <a:endParaRPr lang="en-US" sz="1100" dirty="0"/>
          </a:p>
        </p:txBody>
      </p:sp>
      <p:sp>
        <p:nvSpPr>
          <p:cNvPr id="3" name="Text 1"/>
          <p:cNvSpPr/>
          <p:nvPr>
            <p:ph idx="102" type="title" hasCustomPrompt="1"/>
          </p:nvPr>
        </p:nvSpPr>
        <p:spPr>
          <a:xfrm>
            <a:off x="548640" y="566928"/>
            <a:ext cx="9875520" cy="868680"/>
          </a:xfrm>
          <a:prstGeom prst="rect">
            <a:avLst/>
          </a:prstGeom>
          <a:noFill/>
          <a:ln/>
        </p:spPr>
        <p:txBody>
          <a:bodyPr wrap="square" lIns="0" tIns="0" rIns="0" bIns="0" rtlCol="0" anchor="t"/>
          <a:lstStyle/>
          <a:p>
            <a:pPr algn="l" indent="0" marL="0">
              <a:buNone/>
            </a:pPr>
            <a:r>
              <a:rPr lang="en-US" sz="2600" b="1" dirty="0">
                <a:solidFill>
                  <a:srgbClr val="141C52"/>
                </a:solidFill>
              </a:rPr>
              <a:t>A Naturale variant, not a new brand: natural care upgraded with water science</a:t>
            </a:r>
            <a:endParaRPr lang="en-US" sz="2600" dirty="0"/>
          </a:p>
        </p:txBody>
      </p:sp>
      <p:sp>
        <p:nvSpPr>
          <p:cNvPr id="4" name="Shape 2"/>
          <p:cNvSpPr/>
          <p:nvPr/>
        </p:nvSpPr>
        <p:spPr>
          <a:xfrm>
            <a:off x="548640" y="1554480"/>
            <a:ext cx="5760720" cy="731520"/>
          </a:xfrm>
          <a:prstGeom prst="roundRect">
            <a:avLst>
              <a:gd name="adj" fmla="val 10000"/>
            </a:avLst>
          </a:prstGeom>
          <a:solidFill>
            <a:srgbClr val="141C52"/>
          </a:solidFill>
          <a:ln/>
        </p:spPr>
        <p:txBody>
          <a:bodyPr/>
          <a:p/>
        </p:txBody>
      </p:sp>
      <p:sp>
        <p:nvSpPr>
          <p:cNvPr id="5" name="Text 3"/>
          <p:cNvSpPr txBox="1"/>
          <p:nvPr/>
        </p:nvSpPr>
        <p:spPr>
          <a:xfrm>
            <a:off x="777240" y="1554480"/>
            <a:ext cx="5394960" cy="731520"/>
          </a:xfrm>
          <a:prstGeom prst="rect">
            <a:avLst/>
          </a:prstGeom>
          <a:noFill/>
          <a:ln/>
        </p:spPr>
        <p:txBody>
          <a:bodyPr wrap="square" lIns="0" tIns="0" rIns="0" bIns="0" rtlCol="0" anchor="ctr"/>
          <a:lstStyle/>
          <a:p>
            <a:pPr indent="0" marL="0">
              <a:buNone/>
            </a:pPr>
            <a:r>
              <a:rPr lang="en-US" sz="1000" b="1" spc="200" kern="0" dirty="0">
                <a:solidFill>
                  <a:srgbClr val="F5A31A"/>
                </a:solidFill>
              </a:rPr>
              <a:t>BRAND PROMISE</a:t>
            </a:r>
            <a:endParaRPr lang="en-US" sz="1200" dirty="0"/>
          </a:p>
          <a:p>
            <a:pPr indent="0" marL="0">
              <a:buNone/>
            </a:pPr>
            <a:r>
              <a:rPr lang="en-US" sz="2000" b="1" dirty="0">
                <a:solidFill>
                  <a:srgbClr val="FFFFFF"/>
                </a:solidFill>
              </a:rPr>
              <a:t>Clean you can feel, with water-smart care</a:t>
            </a:r>
            <a:endParaRPr lang="en-US" sz="1200" dirty="0"/>
          </a:p>
        </p:txBody>
      </p:sp>
      <p:sp>
        <p:nvSpPr>
          <p:cNvPr id="6" name="Shape 4"/>
          <p:cNvSpPr/>
          <p:nvPr/>
        </p:nvSpPr>
        <p:spPr>
          <a:xfrm>
            <a:off x="548640" y="2395728"/>
            <a:ext cx="1792224" cy="2057400"/>
          </a:xfrm>
          <a:prstGeom prst="roundRect">
            <a:avLst>
              <a:gd name="adj" fmla="val 4082"/>
            </a:avLst>
          </a:prstGeom>
          <a:solidFill>
            <a:srgbClr val="E3F5FA"/>
          </a:solidFill>
          <a:ln/>
        </p:spPr>
        <p:txBody>
          <a:bodyPr/>
          <a:p/>
        </p:txBody>
      </p:sp>
      <p:sp>
        <p:nvSpPr>
          <p:cNvPr id="7" name="Shape 5"/>
          <p:cNvSpPr/>
          <p:nvPr/>
        </p:nvSpPr>
        <p:spPr>
          <a:xfrm>
            <a:off x="1170432" y="2560320"/>
            <a:ext cx="548640" cy="548640"/>
          </a:xfrm>
          <a:prstGeom prst="ellipse">
            <a:avLst/>
          </a:prstGeom>
          <a:solidFill>
            <a:srgbClr val="12A5C4"/>
          </a:solidFill>
          <a:ln/>
        </p:spPr>
        <p:txBody>
          <a:bodyPr/>
          <a:p/>
        </p:txBody>
      </p:sp>
      <p:pic>
        <p:nvPicPr>
          <p:cNvPr id="8" name="Image 0" descr="preencoded.png">    </p:cNvPr>
          <p:cNvPicPr>
            <a:picLocks noChangeAspect="1"/>
          </p:cNvPicPr>
          <p:nvPr/>
        </p:nvPicPr>
        <p:blipFill>
          <a:blip r:embed="rId1"/>
          <a:stretch>
            <a:fillRect/>
          </a:stretch>
        </p:blipFill>
        <p:spPr>
          <a:xfrm>
            <a:off x="1302106" y="2691994"/>
            <a:ext cx="285293" cy="285293"/>
          </a:xfrm>
          <a:prstGeom prst="rect">
            <a:avLst/>
          </a:prstGeom>
        </p:spPr>
      </p:pic>
      <p:sp>
        <p:nvSpPr>
          <p:cNvPr id="9" name="Text 6"/>
          <p:cNvSpPr txBox="1"/>
          <p:nvPr/>
        </p:nvSpPr>
        <p:spPr>
          <a:xfrm>
            <a:off x="658368" y="3200400"/>
            <a:ext cx="1572768" cy="320040"/>
          </a:xfrm>
          <a:prstGeom prst="rect">
            <a:avLst/>
          </a:prstGeom>
          <a:noFill/>
          <a:ln/>
        </p:spPr>
        <p:txBody>
          <a:bodyPr wrap="square" lIns="0" tIns="0" rIns="0" bIns="0" rtlCol="0" anchor="t"/>
          <a:lstStyle/>
          <a:p>
            <a:pPr algn="ctr" indent="0" marL="0">
              <a:buNone/>
            </a:pPr>
            <a:r>
              <a:rPr lang="en-US" sz="1400" b="1" dirty="0">
                <a:solidFill>
                  <a:srgbClr val="141C52"/>
                </a:solidFill>
              </a:rPr>
              <a:t>Water science</a:t>
            </a:r>
            <a:endParaRPr lang="en-US" sz="1400" dirty="0"/>
          </a:p>
        </p:txBody>
      </p:sp>
      <p:sp>
        <p:nvSpPr>
          <p:cNvPr id="10" name="Text 7"/>
          <p:cNvSpPr txBox="1"/>
          <p:nvPr/>
        </p:nvSpPr>
        <p:spPr>
          <a:xfrm>
            <a:off x="685800" y="3547872"/>
            <a:ext cx="1517904" cy="868680"/>
          </a:xfrm>
          <a:prstGeom prst="rect">
            <a:avLst/>
          </a:prstGeom>
          <a:noFill/>
          <a:ln/>
        </p:spPr>
        <p:txBody>
          <a:bodyPr wrap="square" lIns="0" tIns="0" rIns="0" bIns="0" rtlCol="0" anchor="t"/>
          <a:lstStyle/>
          <a:p>
            <a:pPr algn="ctr" indent="0" marL="0">
              <a:buNone/>
            </a:pPr>
            <a:r>
              <a:rPr lang="en-US" sz="1100" dirty="0">
                <a:solidFill>
                  <a:srgbClr val="1F2937"/>
                </a:solidFill>
              </a:rPr>
              <a:t>GLDA chelation; lathers in hard water</a:t>
            </a:r>
            <a:endParaRPr lang="en-US" sz="1100" dirty="0"/>
          </a:p>
        </p:txBody>
      </p:sp>
      <p:sp>
        <p:nvSpPr>
          <p:cNvPr id="11" name="Shape 8"/>
          <p:cNvSpPr/>
          <p:nvPr/>
        </p:nvSpPr>
        <p:spPr>
          <a:xfrm>
            <a:off x="2532888" y="2395728"/>
            <a:ext cx="1792224" cy="2057400"/>
          </a:xfrm>
          <a:prstGeom prst="roundRect">
            <a:avLst>
              <a:gd name="adj" fmla="val 4082"/>
            </a:avLst>
          </a:prstGeom>
          <a:solidFill>
            <a:srgbClr val="E3F5FA"/>
          </a:solidFill>
          <a:ln/>
        </p:spPr>
        <p:txBody>
          <a:bodyPr/>
          <a:p/>
        </p:txBody>
      </p:sp>
      <p:sp>
        <p:nvSpPr>
          <p:cNvPr id="12" name="Shape 9"/>
          <p:cNvSpPr/>
          <p:nvPr/>
        </p:nvSpPr>
        <p:spPr>
          <a:xfrm>
            <a:off x="3154680" y="2560320"/>
            <a:ext cx="548640" cy="548640"/>
          </a:xfrm>
          <a:prstGeom prst="ellipse">
            <a:avLst/>
          </a:prstGeom>
          <a:solidFill>
            <a:srgbClr val="12A5C4"/>
          </a:solidFill>
          <a:ln/>
        </p:spPr>
        <p:txBody>
          <a:bodyPr/>
          <a:p/>
        </p:txBody>
      </p:sp>
      <p:pic>
        <p:nvPicPr>
          <p:cNvPr id="13" name="Image 1" descr="preencoded.png">    </p:cNvPr>
          <p:cNvPicPr>
            <a:picLocks noChangeAspect="1"/>
          </p:cNvPicPr>
          <p:nvPr/>
        </p:nvPicPr>
        <p:blipFill>
          <a:blip r:embed="rId2"/>
          <a:stretch>
            <a:fillRect/>
          </a:stretch>
        </p:blipFill>
        <p:spPr>
          <a:xfrm>
            <a:off x="3286354" y="2691994"/>
            <a:ext cx="285293" cy="285293"/>
          </a:xfrm>
          <a:prstGeom prst="rect">
            <a:avLst/>
          </a:prstGeom>
        </p:spPr>
      </p:pic>
      <p:sp>
        <p:nvSpPr>
          <p:cNvPr id="14" name="Text 10"/>
          <p:cNvSpPr txBox="1"/>
          <p:nvPr/>
        </p:nvSpPr>
        <p:spPr>
          <a:xfrm>
            <a:off x="2642616" y="3200400"/>
            <a:ext cx="1572768" cy="320040"/>
          </a:xfrm>
          <a:prstGeom prst="rect">
            <a:avLst/>
          </a:prstGeom>
          <a:noFill/>
          <a:ln/>
        </p:spPr>
        <p:txBody>
          <a:bodyPr wrap="square" lIns="0" tIns="0" rIns="0" bIns="0" rtlCol="0" anchor="t"/>
          <a:lstStyle/>
          <a:p>
            <a:pPr algn="ctr" indent="0" marL="0">
              <a:buNone/>
            </a:pPr>
            <a:r>
              <a:rPr lang="en-US" sz="1400" b="1" dirty="0">
                <a:solidFill>
                  <a:srgbClr val="141C52"/>
                </a:solidFill>
              </a:rPr>
              <a:t>Natural care</a:t>
            </a:r>
            <a:endParaRPr lang="en-US" sz="1400" dirty="0"/>
          </a:p>
        </p:txBody>
      </p:sp>
      <p:sp>
        <p:nvSpPr>
          <p:cNvPr id="15" name="Text 11"/>
          <p:cNvSpPr txBox="1"/>
          <p:nvPr/>
        </p:nvSpPr>
        <p:spPr>
          <a:xfrm>
            <a:off x="2670048" y="3547872"/>
            <a:ext cx="1517904" cy="868680"/>
          </a:xfrm>
          <a:prstGeom prst="rect">
            <a:avLst/>
          </a:prstGeom>
          <a:noFill/>
          <a:ln/>
        </p:spPr>
        <p:txBody>
          <a:bodyPr wrap="square" lIns="0" tIns="0" rIns="0" bIns="0" rtlCol="0" anchor="t"/>
          <a:lstStyle/>
          <a:p>
            <a:pPr algn="ctr" indent="0" marL="0">
              <a:buNone/>
            </a:pPr>
            <a:r>
              <a:rPr lang="en-US" sz="1100" dirty="0">
                <a:solidFill>
                  <a:srgbClr val="1F2937"/>
                </a:solidFill>
              </a:rPr>
              <a:t>Coconut Milk Protein; paraben-free and to be dermatologically tested, like all Naturale</a:t>
            </a:r>
            <a:endParaRPr lang="en-US" sz="1100" dirty="0"/>
          </a:p>
        </p:txBody>
      </p:sp>
      <p:sp>
        <p:nvSpPr>
          <p:cNvPr id="16" name="Shape 12"/>
          <p:cNvSpPr/>
          <p:nvPr/>
        </p:nvSpPr>
        <p:spPr>
          <a:xfrm>
            <a:off x="4517136" y="2395728"/>
            <a:ext cx="1792224" cy="2057400"/>
          </a:xfrm>
          <a:prstGeom prst="roundRect">
            <a:avLst>
              <a:gd name="adj" fmla="val 4082"/>
            </a:avLst>
          </a:prstGeom>
          <a:solidFill>
            <a:srgbClr val="E3F5FA"/>
          </a:solidFill>
          <a:ln/>
        </p:spPr>
        <p:txBody>
          <a:bodyPr/>
          <a:p/>
        </p:txBody>
      </p:sp>
      <p:sp>
        <p:nvSpPr>
          <p:cNvPr id="17" name="Shape 13"/>
          <p:cNvSpPr/>
          <p:nvPr/>
        </p:nvSpPr>
        <p:spPr>
          <a:xfrm>
            <a:off x="5138928" y="2560320"/>
            <a:ext cx="548640" cy="548640"/>
          </a:xfrm>
          <a:prstGeom prst="ellipse">
            <a:avLst/>
          </a:prstGeom>
          <a:solidFill>
            <a:srgbClr val="12A5C4"/>
          </a:solidFill>
          <a:ln/>
        </p:spPr>
        <p:txBody>
          <a:bodyPr/>
          <a:p/>
        </p:txBody>
      </p:sp>
      <p:pic>
        <p:nvPicPr>
          <p:cNvPr id="18" name="Image 2" descr="preencoded.png">    </p:cNvPr>
          <p:cNvPicPr>
            <a:picLocks noChangeAspect="1"/>
          </p:cNvPicPr>
          <p:nvPr/>
        </p:nvPicPr>
        <p:blipFill>
          <a:blip r:embed="rId3"/>
          <a:stretch>
            <a:fillRect/>
          </a:stretch>
        </p:blipFill>
        <p:spPr>
          <a:xfrm>
            <a:off x="5270602" y="2691994"/>
            <a:ext cx="285293" cy="285293"/>
          </a:xfrm>
          <a:prstGeom prst="rect">
            <a:avLst/>
          </a:prstGeom>
        </p:spPr>
      </p:pic>
      <p:sp>
        <p:nvSpPr>
          <p:cNvPr id="19" name="Text 14"/>
          <p:cNvSpPr txBox="1"/>
          <p:nvPr/>
        </p:nvSpPr>
        <p:spPr>
          <a:xfrm>
            <a:off x="4626864" y="3200400"/>
            <a:ext cx="1572768" cy="320040"/>
          </a:xfrm>
          <a:prstGeom prst="rect">
            <a:avLst/>
          </a:prstGeom>
          <a:noFill/>
          <a:ln/>
        </p:spPr>
        <p:txBody>
          <a:bodyPr wrap="square" lIns="0" tIns="0" rIns="0" bIns="0" rtlCol="0" anchor="t"/>
          <a:lstStyle/>
          <a:p>
            <a:pPr algn="ctr" indent="0" marL="0">
              <a:buNone/>
            </a:pPr>
            <a:r>
              <a:rPr lang="en-US" sz="1400" b="1" dirty="0">
                <a:solidFill>
                  <a:srgbClr val="141C52"/>
                </a:solidFill>
              </a:rPr>
              <a:t>Know your water</a:t>
            </a:r>
            <a:endParaRPr lang="en-US" sz="1400" dirty="0"/>
          </a:p>
        </p:txBody>
      </p:sp>
      <p:sp>
        <p:nvSpPr>
          <p:cNvPr id="20" name="Text 15"/>
          <p:cNvSpPr txBox="1"/>
          <p:nvPr/>
        </p:nvSpPr>
        <p:spPr>
          <a:xfrm>
            <a:off x="4654296" y="3547872"/>
            <a:ext cx="1517904" cy="868680"/>
          </a:xfrm>
          <a:prstGeom prst="rect">
            <a:avLst/>
          </a:prstGeom>
          <a:noFill/>
          <a:ln/>
        </p:spPr>
        <p:txBody>
          <a:bodyPr wrap="square" lIns="0" tIns="0" rIns="0" bIns="0" rtlCol="0" anchor="t"/>
          <a:lstStyle/>
          <a:p>
            <a:pPr algn="ctr" indent="0" marL="0">
              <a:buNone/>
            </a:pPr>
            <a:r>
              <a:rPr lang="en-US" sz="1100" dirty="0">
                <a:solidFill>
                  <a:srgbClr val="1F2937"/>
                </a:solidFill>
              </a:rPr>
              <a:t>PaniCheck strip and Pani Map</a:t>
            </a:r>
            <a:endParaRPr lang="en-US" sz="1100" dirty="0"/>
          </a:p>
        </p:txBody>
      </p:sp>
      <p:sp>
        <p:nvSpPr>
          <p:cNvPr id="21" name="Shape 16"/>
          <p:cNvSpPr/>
          <p:nvPr/>
        </p:nvSpPr>
        <p:spPr>
          <a:xfrm>
            <a:off x="548640" y="4562856"/>
            <a:ext cx="5760720" cy="640080"/>
          </a:xfrm>
          <a:prstGeom prst="roundRect">
            <a:avLst>
              <a:gd name="adj" fmla="val 11429"/>
            </a:avLst>
          </a:prstGeom>
          <a:solidFill>
            <a:srgbClr val="E9F5E7"/>
          </a:solidFill>
          <a:ln/>
        </p:spPr>
        <p:txBody>
          <a:bodyPr/>
          <a:p/>
        </p:txBody>
      </p:sp>
      <p:sp>
        <p:nvSpPr>
          <p:cNvPr id="22" name="Text 17"/>
          <p:cNvSpPr txBox="1"/>
          <p:nvPr/>
        </p:nvSpPr>
        <p:spPr>
          <a:xfrm>
            <a:off x="731520" y="4562856"/>
            <a:ext cx="5486400" cy="640080"/>
          </a:xfrm>
          <a:prstGeom prst="rect">
            <a:avLst/>
          </a:prstGeom>
          <a:noFill/>
          <a:ln/>
        </p:spPr>
        <p:txBody>
          <a:bodyPr wrap="square" lIns="0" tIns="0" rIns="0" bIns="0" rtlCol="0" anchor="ctr"/>
          <a:lstStyle/>
          <a:p>
            <a:pPr indent="0" marL="0">
              <a:buNone/>
            </a:pPr>
            <a:r>
              <a:rPr lang="en-US" sz="1100" b="1" spc="100" kern="0" dirty="0">
                <a:solidFill>
                  <a:srgbClr val="3E9B3A"/>
                </a:solidFill>
              </a:rPr>
              <a:t>FOUNDATION   </a:t>
            </a:r>
            <a:pPr indent="0" marL="0">
              <a:buNone/>
            </a:pPr>
            <a:r>
              <a:rPr lang="en-US" sz="1300" dirty="0">
                <a:solidFill>
                  <a:srgbClr val="1F2937"/>
                </a:solidFill>
              </a:rPr>
              <a:t>Parachute Naturale — established shampoo platform in Bangladesh</a:t>
            </a:r>
            <a:endParaRPr lang="en-US" sz="1200" dirty="0"/>
          </a:p>
        </p:txBody>
      </p:sp>
      <p:sp>
        <p:nvSpPr>
          <p:cNvPr id="23" name="Text 18"/>
          <p:cNvSpPr txBox="1"/>
          <p:nvPr/>
        </p:nvSpPr>
        <p:spPr>
          <a:xfrm>
            <a:off x="548640" y="5394960"/>
            <a:ext cx="1097280" cy="365760"/>
          </a:xfrm>
          <a:prstGeom prst="rect">
            <a:avLst/>
          </a:prstGeom>
          <a:noFill/>
          <a:ln/>
        </p:spPr>
        <p:txBody>
          <a:bodyPr wrap="square" lIns="0" tIns="0" rIns="0" bIns="0" rtlCol="0" anchor="ctr"/>
          <a:lstStyle/>
          <a:p>
            <a:pPr indent="0" marL="0">
              <a:buNone/>
            </a:pPr>
            <a:r>
              <a:rPr lang="en-US" sz="1200" b="1" dirty="0">
                <a:solidFill>
                  <a:srgbClr val="141C52"/>
                </a:solidFill>
              </a:rPr>
              <a:t>Personality</a:t>
            </a:r>
            <a:endParaRPr lang="en-US" sz="1200" dirty="0"/>
          </a:p>
        </p:txBody>
      </p:sp>
      <p:sp>
        <p:nvSpPr>
          <p:cNvPr id="24" name="Shape 19"/>
          <p:cNvSpPr/>
          <p:nvPr/>
        </p:nvSpPr>
        <p:spPr>
          <a:xfrm>
            <a:off x="1691640" y="5394960"/>
            <a:ext cx="1051560" cy="365760"/>
          </a:xfrm>
          <a:prstGeom prst="roundRect">
            <a:avLst>
              <a:gd name="adj" fmla="val 20000"/>
            </a:avLst>
          </a:prstGeom>
          <a:solidFill>
            <a:srgbClr val="FFFFFF"/>
          </a:solidFill>
          <a:ln w="12700">
            <a:solidFill>
              <a:srgbClr val="12A5C4"/>
            </a:solidFill>
            <a:prstDash val="solid"/>
          </a:ln>
        </p:spPr>
        <p:txBody>
          <a:bodyPr/>
          <a:p/>
        </p:txBody>
      </p:sp>
      <p:sp>
        <p:nvSpPr>
          <p:cNvPr id="25" name="Text 20"/>
          <p:cNvSpPr txBox="1"/>
          <p:nvPr/>
        </p:nvSpPr>
        <p:spPr>
          <a:xfrm>
            <a:off x="1691640" y="5394960"/>
            <a:ext cx="1051560" cy="365760"/>
          </a:xfrm>
          <a:prstGeom prst="rect">
            <a:avLst/>
          </a:prstGeom>
          <a:noFill/>
          <a:ln/>
        </p:spPr>
        <p:txBody>
          <a:bodyPr wrap="square" lIns="0" tIns="0" rIns="0" bIns="0" rtlCol="0" anchor="ctr"/>
          <a:lstStyle/>
          <a:p>
            <a:pPr algn="ctr" indent="0" marL="0">
              <a:buNone/>
            </a:pPr>
            <a:r>
              <a:rPr lang="en-US" sz="1200" dirty="0">
                <a:solidFill>
                  <a:srgbClr val="0E7FA0"/>
                </a:solidFill>
              </a:rPr>
              <a:t>Smart</a:t>
            </a:r>
            <a:endParaRPr lang="en-US" sz="1200" dirty="0"/>
          </a:p>
        </p:txBody>
      </p:sp>
      <p:sp>
        <p:nvSpPr>
          <p:cNvPr id="26" name="Shape 21"/>
          <p:cNvSpPr/>
          <p:nvPr/>
        </p:nvSpPr>
        <p:spPr>
          <a:xfrm>
            <a:off x="2852928" y="5394960"/>
            <a:ext cx="1051560" cy="365760"/>
          </a:xfrm>
          <a:prstGeom prst="roundRect">
            <a:avLst>
              <a:gd name="adj" fmla="val 20000"/>
            </a:avLst>
          </a:prstGeom>
          <a:solidFill>
            <a:srgbClr val="FFFFFF"/>
          </a:solidFill>
          <a:ln w="12700">
            <a:solidFill>
              <a:srgbClr val="12A5C4"/>
            </a:solidFill>
            <a:prstDash val="solid"/>
          </a:ln>
        </p:spPr>
        <p:txBody>
          <a:bodyPr/>
          <a:p/>
        </p:txBody>
      </p:sp>
      <p:sp>
        <p:nvSpPr>
          <p:cNvPr id="27" name="Text 22"/>
          <p:cNvSpPr txBox="1"/>
          <p:nvPr/>
        </p:nvSpPr>
        <p:spPr>
          <a:xfrm>
            <a:off x="2852928" y="5394960"/>
            <a:ext cx="1051560" cy="365760"/>
          </a:xfrm>
          <a:prstGeom prst="rect">
            <a:avLst/>
          </a:prstGeom>
          <a:noFill/>
          <a:ln/>
        </p:spPr>
        <p:txBody>
          <a:bodyPr wrap="square" lIns="0" tIns="0" rIns="0" bIns="0" rtlCol="0" anchor="ctr"/>
          <a:lstStyle/>
          <a:p>
            <a:pPr algn="ctr" indent="0" marL="0">
              <a:buNone/>
            </a:pPr>
            <a:r>
              <a:rPr lang="en-US" sz="1200" dirty="0">
                <a:solidFill>
                  <a:srgbClr val="0E7FA0"/>
                </a:solidFill>
              </a:rPr>
              <a:t>Honest</a:t>
            </a:r>
            <a:endParaRPr lang="en-US" sz="1200" dirty="0"/>
          </a:p>
        </p:txBody>
      </p:sp>
      <p:sp>
        <p:nvSpPr>
          <p:cNvPr id="28" name="Shape 23"/>
          <p:cNvSpPr/>
          <p:nvPr/>
        </p:nvSpPr>
        <p:spPr>
          <a:xfrm>
            <a:off x="4014216" y="5394960"/>
            <a:ext cx="1051560" cy="365760"/>
          </a:xfrm>
          <a:prstGeom prst="roundRect">
            <a:avLst>
              <a:gd name="adj" fmla="val 20000"/>
            </a:avLst>
          </a:prstGeom>
          <a:solidFill>
            <a:srgbClr val="FFFFFF"/>
          </a:solidFill>
          <a:ln w="12700">
            <a:solidFill>
              <a:srgbClr val="12A5C4"/>
            </a:solidFill>
            <a:prstDash val="solid"/>
          </a:ln>
        </p:spPr>
        <p:txBody>
          <a:bodyPr/>
          <a:p/>
        </p:txBody>
      </p:sp>
      <p:sp>
        <p:nvSpPr>
          <p:cNvPr id="29" name="Text 24"/>
          <p:cNvSpPr txBox="1"/>
          <p:nvPr/>
        </p:nvSpPr>
        <p:spPr>
          <a:xfrm>
            <a:off x="4014216" y="5394960"/>
            <a:ext cx="1051560" cy="365760"/>
          </a:xfrm>
          <a:prstGeom prst="rect">
            <a:avLst/>
          </a:prstGeom>
          <a:noFill/>
          <a:ln/>
        </p:spPr>
        <p:txBody>
          <a:bodyPr wrap="square" lIns="0" tIns="0" rIns="0" bIns="0" rtlCol="0" anchor="ctr"/>
          <a:lstStyle/>
          <a:p>
            <a:pPr algn="ctr" indent="0" marL="0">
              <a:buNone/>
            </a:pPr>
            <a:r>
              <a:rPr lang="en-US" sz="1200" dirty="0">
                <a:solidFill>
                  <a:srgbClr val="0E7FA0"/>
                </a:solidFill>
              </a:rPr>
              <a:t>Reassuring</a:t>
            </a:r>
            <a:endParaRPr lang="en-US" sz="1200" dirty="0"/>
          </a:p>
        </p:txBody>
      </p:sp>
      <p:sp>
        <p:nvSpPr>
          <p:cNvPr id="30" name="Shape 25"/>
          <p:cNvSpPr/>
          <p:nvPr/>
        </p:nvSpPr>
        <p:spPr>
          <a:xfrm>
            <a:off x="5175504" y="5394960"/>
            <a:ext cx="1051560" cy="365760"/>
          </a:xfrm>
          <a:prstGeom prst="roundRect">
            <a:avLst>
              <a:gd name="adj" fmla="val 20000"/>
            </a:avLst>
          </a:prstGeom>
          <a:solidFill>
            <a:srgbClr val="FFFFFF"/>
          </a:solidFill>
          <a:ln w="12700">
            <a:solidFill>
              <a:srgbClr val="12A5C4"/>
            </a:solidFill>
            <a:prstDash val="solid"/>
          </a:ln>
        </p:spPr>
        <p:txBody>
          <a:bodyPr/>
          <a:p/>
        </p:txBody>
      </p:sp>
      <p:sp>
        <p:nvSpPr>
          <p:cNvPr id="31" name="Text 26"/>
          <p:cNvSpPr txBox="1"/>
          <p:nvPr/>
        </p:nvSpPr>
        <p:spPr>
          <a:xfrm>
            <a:off x="5175504" y="5394960"/>
            <a:ext cx="1051560" cy="365760"/>
          </a:xfrm>
          <a:prstGeom prst="rect">
            <a:avLst/>
          </a:prstGeom>
          <a:noFill/>
          <a:ln/>
        </p:spPr>
        <p:txBody>
          <a:bodyPr wrap="square" lIns="0" tIns="0" rIns="0" bIns="0" rtlCol="0" anchor="ctr"/>
          <a:lstStyle/>
          <a:p>
            <a:pPr algn="ctr" indent="0" marL="0">
              <a:buNone/>
            </a:pPr>
            <a:r>
              <a:rPr lang="en-US" sz="1200" dirty="0">
                <a:solidFill>
                  <a:srgbClr val="0E7FA0"/>
                </a:solidFill>
              </a:rPr>
              <a:t>Youthful</a:t>
            </a:r>
            <a:endParaRPr lang="en-US" sz="1200" dirty="0"/>
          </a:p>
        </p:txBody>
      </p:sp>
      <p:sp>
        <p:nvSpPr>
          <p:cNvPr id="32" name="Shape 27"/>
          <p:cNvSpPr/>
          <p:nvPr/>
        </p:nvSpPr>
        <p:spPr>
          <a:xfrm>
            <a:off x="6583680" y="1554480"/>
            <a:ext cx="5056632" cy="1417320"/>
          </a:xfrm>
          <a:prstGeom prst="roundRect">
            <a:avLst>
              <a:gd name="adj" fmla="val 5161"/>
            </a:avLst>
          </a:prstGeom>
          <a:solidFill>
            <a:srgbClr val="F3F6FA"/>
          </a:solidFill>
          <a:ln/>
        </p:spPr>
        <p:txBody>
          <a:bodyPr/>
          <a:p/>
        </p:txBody>
      </p:sp>
      <p:sp>
        <p:nvSpPr>
          <p:cNvPr id="33" name="Text 28"/>
          <p:cNvSpPr txBox="1"/>
          <p:nvPr/>
        </p:nvSpPr>
        <p:spPr>
          <a:xfrm>
            <a:off x="6766560" y="1664208"/>
            <a:ext cx="4709160" cy="1234440"/>
          </a:xfrm>
          <a:prstGeom prst="rect">
            <a:avLst/>
          </a:prstGeom>
          <a:noFill/>
          <a:ln/>
        </p:spPr>
        <p:txBody>
          <a:bodyPr wrap="square" lIns="0" tIns="0" rIns="0" bIns="0" rtlCol="0" anchor="t"/>
          <a:lstStyle/>
          <a:p>
            <a:pPr indent="0" marL="0">
              <a:buNone/>
            </a:pPr>
            <a:r>
              <a:rPr lang="en-US" sz="1100" b="1" spc="100" kern="0" dirty="0">
                <a:solidFill>
                  <a:srgbClr val="0E7FA0"/>
                </a:solidFill>
              </a:rPr>
              <a:t>CATEGORY FIT</a:t>
            </a:r>
            <a:endParaRPr lang="en-US" sz="1200" dirty="0"/>
          </a:p>
          <a:p>
            <a:pPr indent="0" marL="0">
              <a:buNone/>
            </a:pPr>
            <a:r>
              <a:rPr lang="en-US" sz="1200" dirty="0">
                <a:solidFill>
                  <a:srgbClr val="1F2937"/>
                </a:solidFill>
              </a:rPr>
              <a:t>Existing category: hair cleansing. New need-state: water-smart cleansing, the first Naturale variant chosen by your water rather than your hair type. It answers the brief’s call for “hair cleansing solutions for emerging consumer needs and usage occasions”.</a:t>
            </a:r>
            <a:endParaRPr lang="en-US" sz="1200" dirty="0"/>
          </a:p>
        </p:txBody>
      </p:sp>
      <p:sp>
        <p:nvSpPr>
          <p:cNvPr id="34" name="Shape 29"/>
          <p:cNvSpPr/>
          <p:nvPr/>
        </p:nvSpPr>
        <p:spPr>
          <a:xfrm>
            <a:off x="6583680" y="3081528"/>
            <a:ext cx="5056632" cy="1691640"/>
          </a:xfrm>
          <a:prstGeom prst="roundRect">
            <a:avLst>
              <a:gd name="adj" fmla="val 4324"/>
            </a:avLst>
          </a:prstGeom>
          <a:solidFill>
            <a:srgbClr val="F3F6FA"/>
          </a:solidFill>
          <a:ln/>
        </p:spPr>
        <p:txBody>
          <a:bodyPr/>
          <a:p/>
        </p:txBody>
      </p:sp>
      <p:sp>
        <p:nvSpPr>
          <p:cNvPr id="35" name="Text 30"/>
          <p:cNvSpPr txBox="1"/>
          <p:nvPr/>
        </p:nvSpPr>
        <p:spPr>
          <a:xfrm>
            <a:off x="6766560" y="3182112"/>
            <a:ext cx="4709160" cy="1536192"/>
          </a:xfrm>
          <a:prstGeom prst="rect">
            <a:avLst/>
          </a:prstGeom>
          <a:noFill/>
          <a:ln/>
        </p:spPr>
        <p:txBody>
          <a:bodyPr wrap="square" lIns="0" tIns="0" rIns="0" bIns="0" rtlCol="0" anchor="t"/>
          <a:lstStyle/>
          <a:p>
            <a:pPr indent="0" marL="0">
              <a:buNone/>
            </a:pPr>
            <a:r>
              <a:rPr lang="en-US" sz="1100" b="1" spc="100" kern="0" dirty="0">
                <a:solidFill>
                  <a:srgbClr val="0E7FA0"/>
                </a:solidFill>
              </a:rPr>
              <a:t>WHY UNDER NATURALE</a:t>
            </a:r>
            <a:endParaRPr lang="en-US" sz="1200" dirty="0"/>
          </a:p>
          <a:p>
            <a:pPr marL="152400" indent="-152400">
              <a:spcBef>
                <a:spcPts val="400"/>
              </a:spcBef>
              <a:buSzPct val="100000"/>
              <a:buChar char="•"/>
            </a:pPr>
            <a:r>
              <a:rPr lang="en-US" sz="1200" dirty="0">
                <a:solidFill>
                  <a:srgbClr val="1F2937"/>
                </a:solidFill>
              </a:rPr>
              <a:t>2nd most penetrated shampoo brand (Marico FY26)</a:t>
            </a:r>
            <a:endParaRPr lang="en-US" sz="1200" dirty="0"/>
          </a:p>
          <a:p>
            <a:pPr marL="152400" indent="-152400">
              <a:spcBef>
                <a:spcPts val="400"/>
              </a:spcBef>
              <a:buSzPct val="100000"/>
              <a:buChar char="•"/>
            </a:pPr>
            <a:r>
              <a:rPr lang="en-US" sz="1200" dirty="0">
                <a:solidFill>
                  <a:srgbClr val="1F2937"/>
                </a:solidFill>
              </a:rPr>
              <a:t>Same hero ingredient: Coconut Milk Protein</a:t>
            </a:r>
            <a:endParaRPr lang="en-US" sz="1200" dirty="0"/>
          </a:p>
          <a:p>
            <a:pPr marL="152400" indent="-152400">
              <a:spcBef>
                <a:spcPts val="400"/>
              </a:spcBef>
              <a:buSzPct val="100000"/>
              <a:buChar char="•"/>
            </a:pPr>
            <a:r>
              <a:rPr lang="en-US" sz="1200" dirty="0">
                <a:solidFill>
                  <a:srgbClr val="1F2937"/>
                </a:solidFill>
              </a:rPr>
              <a:t>Existing general trade, modern trade and e-commerce reach; e-commerce shampoo grew about 45% in FY26</a:t>
            </a:r>
            <a:endParaRPr lang="en-US" sz="1200" dirty="0"/>
          </a:p>
          <a:p>
            <a:pPr marL="152400" indent="-152400">
              <a:spcBef>
                <a:spcPts val="400"/>
              </a:spcBef>
              <a:buSzPct val="100000"/>
              <a:buChar char="•"/>
            </a:pPr>
            <a:r>
              <a:rPr lang="en-US" sz="1200" dirty="0">
                <a:solidFill>
                  <a:srgbClr val="1F2937"/>
                </a:solidFill>
              </a:rPr>
              <a:t>Cheaper to launch than a new brand</a:t>
            </a:r>
            <a:endParaRPr lang="en-US" sz="1200" dirty="0"/>
          </a:p>
        </p:txBody>
      </p:sp>
      <p:sp>
        <p:nvSpPr>
          <p:cNvPr id="36" name="Shape 31"/>
          <p:cNvSpPr/>
          <p:nvPr/>
        </p:nvSpPr>
        <p:spPr>
          <a:xfrm>
            <a:off x="6583680" y="4882896"/>
            <a:ext cx="1618488" cy="877824"/>
          </a:xfrm>
          <a:prstGeom prst="roundRect">
            <a:avLst>
              <a:gd name="adj" fmla="val 8333"/>
            </a:avLst>
          </a:prstGeom>
          <a:solidFill>
            <a:srgbClr val="FFF4E0"/>
          </a:solidFill>
          <a:ln/>
        </p:spPr>
        <p:txBody>
          <a:bodyPr/>
          <a:p/>
        </p:txBody>
      </p:sp>
      <p:sp>
        <p:nvSpPr>
          <p:cNvPr id="37" name="Text 32"/>
          <p:cNvSpPr txBox="1"/>
          <p:nvPr/>
        </p:nvSpPr>
        <p:spPr>
          <a:xfrm>
            <a:off x="6675120" y="4937760"/>
            <a:ext cx="1463040" cy="786384"/>
          </a:xfrm>
          <a:prstGeom prst="rect">
            <a:avLst/>
          </a:prstGeom>
          <a:noFill/>
          <a:ln/>
        </p:spPr>
        <p:txBody>
          <a:bodyPr wrap="square" lIns="0" tIns="0" rIns="0" bIns="0" rtlCol="0" anchor="t"/>
          <a:lstStyle/>
          <a:p>
            <a:pPr indent="0" marL="0">
              <a:buNone/>
            </a:pPr>
            <a:r>
              <a:rPr lang="en-US" sz="1000" b="1" spc="100" kern="0" dirty="0">
                <a:solidFill>
                  <a:srgbClr val="B26B00"/>
                </a:solidFill>
              </a:rPr>
              <a:t>INNOVATION</a:t>
            </a:r>
            <a:endParaRPr lang="en-US" sz="1200" dirty="0"/>
          </a:p>
          <a:p>
            <a:pPr indent="0" marL="0">
              <a:buNone/>
            </a:pPr>
            <a:r>
              <a:rPr lang="en-US" sz="1100" dirty="0">
                <a:solidFill>
                  <a:srgbClr val="1F2937"/>
                </a:solidFill>
              </a:rPr>
              <a:t>Formula + a test in the cap</a:t>
            </a:r>
            <a:endParaRPr lang="en-US" sz="1200" dirty="0"/>
          </a:p>
        </p:txBody>
      </p:sp>
      <p:sp>
        <p:nvSpPr>
          <p:cNvPr id="38" name="Shape 33"/>
          <p:cNvSpPr/>
          <p:nvPr/>
        </p:nvSpPr>
        <p:spPr>
          <a:xfrm>
            <a:off x="8302752" y="4882896"/>
            <a:ext cx="1618488" cy="877824"/>
          </a:xfrm>
          <a:prstGeom prst="roundRect">
            <a:avLst>
              <a:gd name="adj" fmla="val 8333"/>
            </a:avLst>
          </a:prstGeom>
          <a:solidFill>
            <a:srgbClr val="FFF4E0"/>
          </a:solidFill>
          <a:ln/>
        </p:spPr>
        <p:txBody>
          <a:bodyPr/>
          <a:p/>
        </p:txBody>
      </p:sp>
      <p:sp>
        <p:nvSpPr>
          <p:cNvPr id="39" name="Text 34"/>
          <p:cNvSpPr txBox="1"/>
          <p:nvPr/>
        </p:nvSpPr>
        <p:spPr>
          <a:xfrm>
            <a:off x="8394192" y="4937760"/>
            <a:ext cx="1463040" cy="786384"/>
          </a:xfrm>
          <a:prstGeom prst="rect">
            <a:avLst/>
          </a:prstGeom>
          <a:noFill/>
          <a:ln/>
        </p:spPr>
        <p:txBody>
          <a:bodyPr wrap="square" lIns="0" tIns="0" rIns="0" bIns="0" rtlCol="0" anchor="t"/>
          <a:lstStyle/>
          <a:p>
            <a:pPr indent="0" marL="0">
              <a:buNone/>
            </a:pPr>
            <a:r>
              <a:rPr lang="en-US" sz="1000" b="1" spc="100" kern="0" dirty="0">
                <a:solidFill>
                  <a:srgbClr val="B26B00"/>
                </a:solidFill>
              </a:rPr>
              <a:t>DIVERSIFICATION</a:t>
            </a:r>
            <a:endParaRPr lang="en-US" sz="1200" dirty="0"/>
          </a:p>
          <a:p>
            <a:pPr indent="0" marL="0">
              <a:buNone/>
            </a:pPr>
            <a:r>
              <a:rPr lang="en-US" sz="1100" dirty="0">
                <a:solidFill>
                  <a:srgbClr val="1F2937"/>
                </a:solidFill>
              </a:rPr>
              <a:t>New need-state; coastal Phase 2</a:t>
            </a:r>
            <a:endParaRPr lang="en-US" sz="1200" dirty="0"/>
          </a:p>
        </p:txBody>
      </p:sp>
      <p:sp>
        <p:nvSpPr>
          <p:cNvPr id="40" name="Shape 35"/>
          <p:cNvSpPr/>
          <p:nvPr/>
        </p:nvSpPr>
        <p:spPr>
          <a:xfrm>
            <a:off x="10021824" y="4882896"/>
            <a:ext cx="1618488" cy="877824"/>
          </a:xfrm>
          <a:prstGeom prst="roundRect">
            <a:avLst>
              <a:gd name="adj" fmla="val 8333"/>
            </a:avLst>
          </a:prstGeom>
          <a:solidFill>
            <a:srgbClr val="FFF4E0"/>
          </a:solidFill>
          <a:ln/>
        </p:spPr>
        <p:txBody>
          <a:bodyPr/>
          <a:p/>
        </p:txBody>
      </p:sp>
      <p:sp>
        <p:nvSpPr>
          <p:cNvPr id="41" name="Text 36"/>
          <p:cNvSpPr txBox="1"/>
          <p:nvPr/>
        </p:nvSpPr>
        <p:spPr>
          <a:xfrm>
            <a:off x="10113264" y="4937760"/>
            <a:ext cx="1463040" cy="786384"/>
          </a:xfrm>
          <a:prstGeom prst="rect">
            <a:avLst/>
          </a:prstGeom>
          <a:noFill/>
          <a:ln/>
        </p:spPr>
        <p:txBody>
          <a:bodyPr wrap="square" lIns="0" tIns="0" rIns="0" bIns="0" rtlCol="0" anchor="t"/>
          <a:lstStyle/>
          <a:p>
            <a:pPr indent="0" marL="0">
              <a:buNone/>
            </a:pPr>
            <a:r>
              <a:rPr lang="en-US" sz="1000" b="1" spc="100" kern="0" dirty="0">
                <a:solidFill>
                  <a:srgbClr val="B26B00"/>
                </a:solidFill>
              </a:rPr>
              <a:t>SCALING UP</a:t>
            </a:r>
            <a:endParaRPr lang="en-US" sz="1200" dirty="0"/>
          </a:p>
          <a:p>
            <a:pPr indent="0" marL="0">
              <a:buNone/>
            </a:pPr>
            <a:r>
              <a:rPr lang="en-US" sz="1100" dirty="0">
                <a:solidFill>
                  <a:srgbClr val="1F2937"/>
                </a:solidFill>
              </a:rPr>
              <a:t>Existing lines; sachet-to-bottle ladder</a:t>
            </a:r>
            <a:endParaRPr lang="en-US" sz="1200" dirty="0"/>
          </a:p>
        </p:txBody>
      </p:sp>
      <p:sp>
        <p:nvSpPr>
          <p:cNvPr id="42" name="Text 37"/>
          <p:cNvSpPr txBox="1"/>
          <p:nvPr/>
        </p:nvSpPr>
        <p:spPr>
          <a:xfrm>
            <a:off x="548640" y="5989320"/>
            <a:ext cx="11091672" cy="365760"/>
          </a:xfrm>
          <a:prstGeom prst="rect">
            <a:avLst/>
          </a:prstGeom>
          <a:noFill/>
          <a:ln/>
        </p:spPr>
        <p:txBody>
          <a:bodyPr wrap="square" lIns="0" tIns="0" rIns="0" bIns="0" rtlCol="0" anchor="b"/>
          <a:lstStyle/>
          <a:p>
            <a:pPr indent="0" marL="0">
              <a:buNone/>
            </a:pPr>
            <a:r>
              <a:rPr lang="en-US" sz="1000" i="1" dirty="0">
                <a:solidFill>
                  <a:srgbClr val="5B6472"/>
                </a:solidFill>
              </a:rPr>
              <a:t>Sources: Marico Bangladesh Annual Report FY2025-26 (Naturale penetration, e-commerce shampoo growth); OTW Season 5 case brief. Innovation, Diversification and Scaling Up are the Season 5 pivots.</a:t>
            </a:r>
            <a:endParaRPr lang="en-US" sz="1000" dirty="0"/>
          </a:p>
        </p:txBody>
      </p:sp>
      <p:sp>
        <p:nvSpPr>
          <p:cNvPr id="43"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defRPr>
            </a:lvl1pPr>
          </a:lstStyle>
          <a:p>
            <a:pPr algn="r"/>
            <a:r>
              <a:t>6</a:t>
            </a:r>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548640" y="274320"/>
            <a:ext cx="9601200" cy="256032"/>
          </a:xfrm>
          <a:prstGeom prst="rect">
            <a:avLst/>
          </a:prstGeom>
          <a:noFill/>
          <a:ln/>
        </p:spPr>
        <p:txBody>
          <a:bodyPr wrap="square" lIns="0" tIns="0" rIns="0" bIns="0" rtlCol="0" anchor="t"/>
          <a:lstStyle/>
          <a:p>
            <a:pPr indent="0" marL="0">
              <a:buNone/>
            </a:pPr>
            <a:r>
              <a:rPr lang="en-US" sz="1100" b="1" spc="200" kern="0" dirty="0">
                <a:solidFill>
                  <a:srgbClr val="0E7FA0"/>
                </a:solidFill>
              </a:rPr>
              <a:t>BUSINESS PLAN  ·  MARKET / OPPORTUNITY SIZE</a:t>
            </a:r>
            <a:endParaRPr lang="en-US" sz="1100" dirty="0"/>
          </a:p>
        </p:txBody>
      </p:sp>
      <p:sp>
        <p:nvSpPr>
          <p:cNvPr id="3" name="Text 1"/>
          <p:cNvSpPr/>
          <p:nvPr>
            <p:ph idx="102" type="title" hasCustomPrompt="1"/>
          </p:nvPr>
        </p:nvSpPr>
        <p:spPr>
          <a:xfrm>
            <a:off x="548640" y="566928"/>
            <a:ext cx="9875520" cy="868680"/>
          </a:xfrm>
          <a:prstGeom prst="rect">
            <a:avLst/>
          </a:prstGeom>
          <a:noFill/>
          <a:ln/>
        </p:spPr>
        <p:txBody>
          <a:bodyPr wrap="square" lIns="0" tIns="0" rIns="0" bIns="0" rtlCol="0" anchor="t"/>
          <a:lstStyle/>
          <a:p>
            <a:pPr algn="l" indent="0" marL="0">
              <a:buNone/>
            </a:pPr>
            <a:r>
              <a:rPr lang="en-US" sz="2600" b="1" dirty="0">
                <a:solidFill>
                  <a:srgbClr val="141C52"/>
                </a:solidFill>
              </a:rPr>
              <a:t>A mass-market problem: a Tk ~2,150 Cr category and Tk 71 Cr of WaterSmart sales by Year 3</a:t>
            </a:r>
            <a:endParaRPr lang="en-US" sz="2600" dirty="0"/>
          </a:p>
        </p:txBody>
      </p:sp>
      <p:sp>
        <p:nvSpPr>
          <p:cNvPr id="4" name="Shape 2"/>
          <p:cNvSpPr/>
          <p:nvPr/>
        </p:nvSpPr>
        <p:spPr>
          <a:xfrm>
            <a:off x="548640" y="1691640"/>
            <a:ext cx="4160520" cy="4160520"/>
          </a:xfrm>
          <a:prstGeom prst="ellipse">
            <a:avLst/>
          </a:prstGeom>
          <a:solidFill>
            <a:srgbClr val="DCE3F3"/>
          </a:solidFill>
          <a:ln/>
        </p:spPr>
      </p:sp>
      <p:sp>
        <p:nvSpPr>
          <p:cNvPr id="5" name="Shape 3"/>
          <p:cNvSpPr/>
          <p:nvPr/>
        </p:nvSpPr>
        <p:spPr>
          <a:xfrm>
            <a:off x="1161288" y="2880360"/>
            <a:ext cx="2926080" cy="2926080"/>
          </a:xfrm>
          <a:prstGeom prst="ellipse">
            <a:avLst/>
          </a:prstGeom>
          <a:solidFill>
            <a:srgbClr val="9ED9E8"/>
          </a:solidFill>
          <a:ln/>
        </p:spPr>
      </p:sp>
      <p:sp>
        <p:nvSpPr>
          <p:cNvPr id="6" name="Shape 4"/>
          <p:cNvSpPr/>
          <p:nvPr/>
        </p:nvSpPr>
        <p:spPr>
          <a:xfrm>
            <a:off x="1847088" y="4206240"/>
            <a:ext cx="1554480" cy="1554480"/>
          </a:xfrm>
          <a:prstGeom prst="ellipse">
            <a:avLst/>
          </a:prstGeom>
          <a:solidFill>
            <a:srgbClr val="F5A31A"/>
          </a:solidFill>
          <a:ln/>
        </p:spPr>
      </p:sp>
      <p:sp>
        <p:nvSpPr>
          <p:cNvPr id="7" name="Text 5"/>
          <p:cNvSpPr txBox="1"/>
          <p:nvPr/>
        </p:nvSpPr>
        <p:spPr>
          <a:xfrm>
            <a:off x="1280160" y="1920240"/>
            <a:ext cx="2697480" cy="731520"/>
          </a:xfrm>
          <a:prstGeom prst="rect">
            <a:avLst/>
          </a:prstGeom>
          <a:noFill/>
          <a:ln/>
        </p:spPr>
        <p:txBody>
          <a:bodyPr wrap="square" lIns="0" tIns="0" rIns="0" bIns="0" rtlCol="0" anchor="t"/>
          <a:lstStyle/>
          <a:p>
            <a:pPr algn="ctr" indent="0" marL="0">
              <a:buNone/>
            </a:pPr>
            <a:r>
              <a:rPr lang="en-US" sz="1100" b="1" dirty="0">
                <a:solidFill>
                  <a:srgbClr val="141C52"/>
                </a:solidFill>
              </a:rPr>
              <a:t>TAM</a:t>
            </a:r>
            <a:endParaRPr lang="en-US" sz="1200" dirty="0"/>
          </a:p>
          <a:p>
            <a:pPr algn="ctr" indent="0" marL="0">
              <a:buNone/>
            </a:pPr>
            <a:r>
              <a:rPr lang="en-US" sz="1800" b="1" dirty="0">
                <a:solidFill>
                  <a:srgbClr val="141C52"/>
                </a:solidFill>
              </a:rPr>
              <a:t>Tk ~2,150 Cr</a:t>
            </a:r>
            <a:endParaRPr lang="en-US" sz="1200" dirty="0"/>
          </a:p>
        </p:txBody>
      </p:sp>
      <p:sp>
        <p:nvSpPr>
          <p:cNvPr id="8" name="Text 6"/>
          <p:cNvSpPr txBox="1"/>
          <p:nvPr/>
        </p:nvSpPr>
        <p:spPr>
          <a:xfrm>
            <a:off x="1463040" y="3154680"/>
            <a:ext cx="2331720" cy="731520"/>
          </a:xfrm>
          <a:prstGeom prst="rect">
            <a:avLst/>
          </a:prstGeom>
          <a:noFill/>
          <a:ln/>
        </p:spPr>
        <p:txBody>
          <a:bodyPr wrap="square" lIns="0" tIns="0" rIns="0" bIns="0" rtlCol="0" anchor="t"/>
          <a:lstStyle/>
          <a:p>
            <a:pPr algn="ctr" indent="0" marL="0">
              <a:buNone/>
            </a:pPr>
            <a:r>
              <a:rPr lang="en-US" sz="1100" b="1" dirty="0">
                <a:solidFill>
                  <a:srgbClr val="141C52"/>
                </a:solidFill>
              </a:rPr>
              <a:t>SAM</a:t>
            </a:r>
            <a:endParaRPr lang="en-US" sz="1200" dirty="0"/>
          </a:p>
          <a:p>
            <a:pPr algn="ctr" indent="0" marL="0">
              <a:buNone/>
            </a:pPr>
            <a:r>
              <a:rPr lang="en-US" sz="1500" b="1" dirty="0">
                <a:solidFill>
                  <a:srgbClr val="141C52"/>
                </a:solidFill>
              </a:rPr>
              <a:t>Up to ~21M Movers</a:t>
            </a:r>
            <a:endParaRPr lang="en-US" sz="1200" dirty="0"/>
          </a:p>
        </p:txBody>
      </p:sp>
      <p:sp>
        <p:nvSpPr>
          <p:cNvPr id="9" name="Text 7"/>
          <p:cNvSpPr txBox="1"/>
          <p:nvPr/>
        </p:nvSpPr>
        <p:spPr>
          <a:xfrm>
            <a:off x="1847088" y="4617720"/>
            <a:ext cx="1554480" cy="731520"/>
          </a:xfrm>
          <a:prstGeom prst="rect">
            <a:avLst/>
          </a:prstGeom>
          <a:noFill/>
          <a:ln/>
        </p:spPr>
        <p:txBody>
          <a:bodyPr wrap="square" lIns="0" tIns="0" rIns="0" bIns="0" rtlCol="0" anchor="t"/>
          <a:lstStyle/>
          <a:p>
            <a:pPr algn="ctr" indent="0" marL="0">
              <a:buNone/>
            </a:pPr>
            <a:r>
              <a:rPr lang="en-US" sz="1000" b="1" dirty="0">
                <a:solidFill>
                  <a:srgbClr val="141C52"/>
                </a:solidFill>
              </a:rPr>
              <a:t>SOM, Y3</a:t>
            </a:r>
            <a:endParaRPr lang="en-US" sz="1200" dirty="0"/>
          </a:p>
          <a:p>
            <a:pPr algn="ctr" indent="0" marL="0">
              <a:buNone/>
            </a:pPr>
            <a:r>
              <a:rPr lang="en-US" sz="1700" b="1" dirty="0">
                <a:solidFill>
                  <a:srgbClr val="141C52"/>
                </a:solidFill>
              </a:rPr>
              <a:t>Tk 71 Cr</a:t>
            </a:r>
            <a:endParaRPr lang="en-US" sz="1200" dirty="0"/>
          </a:p>
        </p:txBody>
      </p:sp>
      <p:sp>
        <p:nvSpPr>
          <p:cNvPr id="10" name="Shape 8"/>
          <p:cNvSpPr/>
          <p:nvPr/>
        </p:nvSpPr>
        <p:spPr>
          <a:xfrm>
            <a:off x="5120640" y="1600200"/>
            <a:ext cx="6519672" cy="1115568"/>
          </a:xfrm>
          <a:prstGeom prst="roundRect">
            <a:avLst>
              <a:gd name="adj" fmla="val 6557"/>
            </a:avLst>
          </a:prstGeom>
          <a:solidFill>
            <a:srgbClr val="F3F6FA"/>
          </a:solidFill>
          <a:ln/>
        </p:spPr>
      </p:sp>
      <p:sp>
        <p:nvSpPr>
          <p:cNvPr id="11" name="Shape 9"/>
          <p:cNvSpPr/>
          <p:nvPr/>
        </p:nvSpPr>
        <p:spPr>
          <a:xfrm>
            <a:off x="5285232" y="1929384"/>
            <a:ext cx="868680" cy="457200"/>
          </a:xfrm>
          <a:prstGeom prst="roundRect">
            <a:avLst>
              <a:gd name="adj" fmla="val 16000"/>
            </a:avLst>
          </a:prstGeom>
          <a:solidFill>
            <a:srgbClr val="141C52"/>
          </a:solidFill>
          <a:ln/>
        </p:spPr>
      </p:sp>
      <p:sp>
        <p:nvSpPr>
          <p:cNvPr id="12" name="Text 10"/>
          <p:cNvSpPr txBox="1"/>
          <p:nvPr/>
        </p:nvSpPr>
        <p:spPr>
          <a:xfrm>
            <a:off x="5285232" y="1929384"/>
            <a:ext cx="868680" cy="457200"/>
          </a:xfrm>
          <a:prstGeom prst="rect">
            <a:avLst/>
          </a:prstGeom>
          <a:noFill/>
          <a:ln/>
        </p:spPr>
        <p:txBody>
          <a:bodyPr wrap="square" lIns="0" tIns="0" rIns="0" bIns="0" rtlCol="0" anchor="ctr"/>
          <a:lstStyle/>
          <a:p>
            <a:pPr algn="ctr" indent="0" marL="0">
              <a:buNone/>
            </a:pPr>
            <a:r>
              <a:rPr lang="en-US" sz="1400" b="1" dirty="0">
                <a:solidFill>
                  <a:srgbClr val="FFFFFF"/>
                </a:solidFill>
              </a:rPr>
              <a:t>TAM</a:t>
            </a:r>
            <a:endParaRPr lang="en-US" sz="1400" dirty="0"/>
          </a:p>
        </p:txBody>
      </p:sp>
      <p:sp>
        <p:nvSpPr>
          <p:cNvPr id="13" name="Text 11"/>
          <p:cNvSpPr txBox="1"/>
          <p:nvPr/>
        </p:nvSpPr>
        <p:spPr>
          <a:xfrm>
            <a:off x="6355080" y="1691640"/>
            <a:ext cx="5120640" cy="932688"/>
          </a:xfrm>
          <a:prstGeom prst="rect">
            <a:avLst/>
          </a:prstGeom>
          <a:noFill/>
          <a:ln/>
        </p:spPr>
        <p:txBody>
          <a:bodyPr wrap="square" lIns="0" tIns="0" rIns="0" bIns="0" rtlCol="0" anchor="ctr"/>
          <a:lstStyle/>
          <a:p>
            <a:pPr indent="0" marL="0">
              <a:buNone/>
            </a:pPr>
            <a:r>
              <a:rPr lang="en-US" sz="1200" dirty="0">
                <a:solidFill>
                  <a:srgbClr val="1F2937"/>
                </a:solidFill>
              </a:rPr>
              <a:t>Tk ~2,150 Cr: Bangladesh shampoo market value, 2026 estimate (USD 176M, Mordor; Tk 122/USD). The problem is national: 58 of 61 sampled districts are majority-flagged for iron or hardness.</a:t>
            </a:r>
            <a:endParaRPr lang="en-US" sz="1200" dirty="0"/>
          </a:p>
        </p:txBody>
      </p:sp>
      <p:sp>
        <p:nvSpPr>
          <p:cNvPr id="14" name="Shape 12"/>
          <p:cNvSpPr/>
          <p:nvPr/>
        </p:nvSpPr>
        <p:spPr>
          <a:xfrm>
            <a:off x="5120640" y="2834640"/>
            <a:ext cx="6519672" cy="1115568"/>
          </a:xfrm>
          <a:prstGeom prst="roundRect">
            <a:avLst>
              <a:gd name="adj" fmla="val 6557"/>
            </a:avLst>
          </a:prstGeom>
          <a:solidFill>
            <a:srgbClr val="F3F6FA"/>
          </a:solidFill>
          <a:ln/>
        </p:spPr>
      </p:sp>
      <p:sp>
        <p:nvSpPr>
          <p:cNvPr id="15" name="Shape 13"/>
          <p:cNvSpPr/>
          <p:nvPr/>
        </p:nvSpPr>
        <p:spPr>
          <a:xfrm>
            <a:off x="5285232" y="3163824"/>
            <a:ext cx="868680" cy="457200"/>
          </a:xfrm>
          <a:prstGeom prst="roundRect">
            <a:avLst>
              <a:gd name="adj" fmla="val 16000"/>
            </a:avLst>
          </a:prstGeom>
          <a:solidFill>
            <a:srgbClr val="9ED9E8"/>
          </a:solidFill>
          <a:ln/>
        </p:spPr>
      </p:sp>
      <p:sp>
        <p:nvSpPr>
          <p:cNvPr id="16" name="Text 14"/>
          <p:cNvSpPr txBox="1"/>
          <p:nvPr/>
        </p:nvSpPr>
        <p:spPr>
          <a:xfrm>
            <a:off x="5285232" y="3163824"/>
            <a:ext cx="868680" cy="457200"/>
          </a:xfrm>
          <a:prstGeom prst="rect">
            <a:avLst/>
          </a:prstGeom>
          <a:noFill/>
          <a:ln/>
        </p:spPr>
        <p:txBody>
          <a:bodyPr wrap="square" lIns="0" tIns="0" rIns="0" bIns="0" rtlCol="0" anchor="ctr"/>
          <a:lstStyle/>
          <a:p>
            <a:pPr algn="ctr" indent="0" marL="0">
              <a:buNone/>
            </a:pPr>
            <a:r>
              <a:rPr lang="en-US" sz="1400" b="1" dirty="0">
                <a:solidFill>
                  <a:srgbClr val="141C52"/>
                </a:solidFill>
              </a:rPr>
              <a:t>SAM</a:t>
            </a:r>
            <a:endParaRPr lang="en-US" sz="1400" dirty="0"/>
          </a:p>
        </p:txBody>
      </p:sp>
      <p:sp>
        <p:nvSpPr>
          <p:cNvPr id="17" name="Text 15"/>
          <p:cNvSpPr txBox="1"/>
          <p:nvPr/>
        </p:nvSpPr>
        <p:spPr>
          <a:xfrm>
            <a:off x="6355080" y="2926080"/>
            <a:ext cx="5120640" cy="932688"/>
          </a:xfrm>
          <a:prstGeom prst="rect">
            <a:avLst/>
          </a:prstGeom>
          <a:noFill/>
          <a:ln/>
        </p:spPr>
        <p:txBody>
          <a:bodyPr wrap="square" lIns="0" tIns="0" rIns="0" bIns="0" rtlCol="0" anchor="ctr"/>
          <a:lstStyle/>
          <a:p>
            <a:pPr indent="0" marL="0">
              <a:buNone/>
            </a:pPr>
            <a:r>
              <a:rPr lang="en-US" sz="1200" dirty="0">
                <a:solidFill>
                  <a:srgbClr val="1F2937"/>
                </a:solidFill>
              </a:rPr>
              <a:t>Up to ~21M Movers: 4.82M students in public universities and affiliated colleges (UGC 2023) plus ~16.5M lifetime internal migrants (9.7% of 169.8M people, 2011 census share). The groups overlap.</a:t>
            </a:r>
            <a:endParaRPr lang="en-US" sz="1200" dirty="0"/>
          </a:p>
        </p:txBody>
      </p:sp>
      <p:sp>
        <p:nvSpPr>
          <p:cNvPr id="18" name="Shape 16"/>
          <p:cNvSpPr/>
          <p:nvPr/>
        </p:nvSpPr>
        <p:spPr>
          <a:xfrm>
            <a:off x="5120640" y="4069080"/>
            <a:ext cx="6519672" cy="1115568"/>
          </a:xfrm>
          <a:prstGeom prst="roundRect">
            <a:avLst>
              <a:gd name="adj" fmla="val 6557"/>
            </a:avLst>
          </a:prstGeom>
          <a:solidFill>
            <a:srgbClr val="F3F6FA"/>
          </a:solidFill>
          <a:ln/>
        </p:spPr>
      </p:sp>
      <p:sp>
        <p:nvSpPr>
          <p:cNvPr id="19" name="Shape 17"/>
          <p:cNvSpPr/>
          <p:nvPr/>
        </p:nvSpPr>
        <p:spPr>
          <a:xfrm>
            <a:off x="5285232" y="4398264"/>
            <a:ext cx="868680" cy="457200"/>
          </a:xfrm>
          <a:prstGeom prst="roundRect">
            <a:avLst>
              <a:gd name="adj" fmla="val 16000"/>
            </a:avLst>
          </a:prstGeom>
          <a:solidFill>
            <a:srgbClr val="F5A31A"/>
          </a:solidFill>
          <a:ln/>
        </p:spPr>
      </p:sp>
      <p:sp>
        <p:nvSpPr>
          <p:cNvPr id="20" name="Text 18"/>
          <p:cNvSpPr txBox="1"/>
          <p:nvPr/>
        </p:nvSpPr>
        <p:spPr>
          <a:xfrm>
            <a:off x="5285232" y="4398264"/>
            <a:ext cx="868680" cy="457200"/>
          </a:xfrm>
          <a:prstGeom prst="rect">
            <a:avLst/>
          </a:prstGeom>
          <a:noFill/>
          <a:ln/>
        </p:spPr>
        <p:txBody>
          <a:bodyPr wrap="square" lIns="0" tIns="0" rIns="0" bIns="0" rtlCol="0" anchor="ctr"/>
          <a:lstStyle/>
          <a:p>
            <a:pPr algn="ctr" indent="0" marL="0">
              <a:buNone/>
            </a:pPr>
            <a:r>
              <a:rPr lang="en-US" sz="1400" b="1" dirty="0">
                <a:solidFill>
                  <a:srgbClr val="141C52"/>
                </a:solidFill>
              </a:rPr>
              <a:t>SOM</a:t>
            </a:r>
            <a:endParaRPr lang="en-US" sz="1400" dirty="0"/>
          </a:p>
        </p:txBody>
      </p:sp>
      <p:sp>
        <p:nvSpPr>
          <p:cNvPr id="21" name="Text 19"/>
          <p:cNvSpPr txBox="1"/>
          <p:nvPr/>
        </p:nvSpPr>
        <p:spPr>
          <a:xfrm>
            <a:off x="6355080" y="4160520"/>
            <a:ext cx="5120640" cy="932688"/>
          </a:xfrm>
          <a:prstGeom prst="rect">
            <a:avLst/>
          </a:prstGeom>
          <a:noFill/>
          <a:ln/>
        </p:spPr>
        <p:txBody>
          <a:bodyPr wrap="square" lIns="0" tIns="0" rIns="0" bIns="0" rtlCol="0" anchor="ctr"/>
          <a:lstStyle/>
          <a:p>
            <a:pPr indent="0" marL="0">
              <a:buNone/>
            </a:pPr>
            <a:r>
              <a:rPr lang="en-US" sz="1200" dirty="0">
                <a:solidFill>
                  <a:srgbClr val="1F2937"/>
                </a:solidFill>
              </a:rPr>
              <a:t>Tk 70.8 Cr gross sales in Year 3, 3.3% of today’s category. 131M washes a year is about 1.3M regular users at two washes a week, roughly 6% of Movers.</a:t>
            </a:r>
            <a:endParaRPr lang="en-US" sz="1200" dirty="0"/>
          </a:p>
        </p:txBody>
      </p:sp>
      <p:sp>
        <p:nvSpPr>
          <p:cNvPr id="22" name="Shape 20"/>
          <p:cNvSpPr/>
          <p:nvPr/>
        </p:nvSpPr>
        <p:spPr>
          <a:xfrm>
            <a:off x="5120640" y="5349240"/>
            <a:ext cx="6519672" cy="566928"/>
          </a:xfrm>
          <a:prstGeom prst="roundRect">
            <a:avLst>
              <a:gd name="adj" fmla="val 12903"/>
            </a:avLst>
          </a:prstGeom>
          <a:solidFill>
            <a:srgbClr val="E3F5FA"/>
          </a:solidFill>
          <a:ln/>
        </p:spPr>
      </p:sp>
      <p:sp>
        <p:nvSpPr>
          <p:cNvPr id="23" name="Text 21"/>
          <p:cNvSpPr txBox="1"/>
          <p:nvPr/>
        </p:nvSpPr>
        <p:spPr>
          <a:xfrm>
            <a:off x="5303520" y="5349240"/>
            <a:ext cx="6217920" cy="566928"/>
          </a:xfrm>
          <a:prstGeom prst="rect">
            <a:avLst/>
          </a:prstGeom>
          <a:noFill/>
          <a:ln/>
        </p:spPr>
        <p:txBody>
          <a:bodyPr wrap="square" lIns="0" tIns="0" rIns="0" bIns="0" rtlCol="0" anchor="ctr"/>
          <a:lstStyle/>
          <a:p>
            <a:pPr indent="0" marL="0">
              <a:buNone/>
            </a:pPr>
            <a:r>
              <a:rPr lang="en-US" sz="1200" dirty="0">
                <a:solidFill>
                  <a:srgbClr val="141C52"/>
                </a:solidFill>
              </a:rPr>
              <a:t>Cross-checks: Year-3 net revenue Tk 41.4 Cr is 2.0% of Marico Bangladesh’s FY26 revenue (Tk 2,071 Cr). Mass, not niche: a Tk 3 sachet entry and 104k outlets by Year 3.</a:t>
            </a:r>
            <a:endParaRPr lang="en-US" sz="1200" dirty="0"/>
          </a:p>
        </p:txBody>
      </p:sp>
      <p:sp>
        <p:nvSpPr>
          <p:cNvPr id="24" name="Text 22"/>
          <p:cNvSpPr txBox="1"/>
          <p:nvPr/>
        </p:nvSpPr>
        <p:spPr>
          <a:xfrm>
            <a:off x="548640" y="5989320"/>
            <a:ext cx="11091672" cy="365760"/>
          </a:xfrm>
          <a:prstGeom prst="rect">
            <a:avLst/>
          </a:prstGeom>
          <a:noFill/>
          <a:ln/>
        </p:spPr>
        <p:txBody>
          <a:bodyPr wrap="square" lIns="0" tIns="0" rIns="0" bIns="0" rtlCol="0" anchor="b"/>
          <a:lstStyle/>
          <a:p>
            <a:pPr indent="0" marL="0">
              <a:buNone/>
            </a:pPr>
            <a:r>
              <a:rPr lang="en-US" sz="1000" i="1" dirty="0">
                <a:solidFill>
                  <a:srgbClr val="5B6472"/>
                </a:solidFill>
              </a:rPr>
              <a:t>Sources: Mordor Intelligence (2026e); UGC Annual Report 2023 via Prothom Alo; BBS Census 2011 (lifetime migration) and 2022 (population); Marico FY26; team model v4. Usage assumption: one wash per 6 ml sachet, 7 ml per bottle wash, two washes a week.</a:t>
            </a:r>
            <a:endParaRPr lang="en-US" sz="10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defRPr>
            </a:lvl1pPr>
          </a:lstStyle>
          <a:p>
            <a:pPr algn="r"/>
            <a:r>
              <a:t>7</a:t>
            </a:r>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548640" y="274320"/>
            <a:ext cx="9601200" cy="256032"/>
          </a:xfrm>
          <a:prstGeom prst="rect">
            <a:avLst/>
          </a:prstGeom>
          <a:noFill/>
          <a:ln/>
        </p:spPr>
        <p:txBody>
          <a:bodyPr wrap="square" lIns="0" tIns="0" rIns="0" bIns="0" rtlCol="0" anchor="t"/>
          <a:lstStyle/>
          <a:p>
            <a:pPr indent="0" marL="0">
              <a:buNone/>
            </a:pPr>
            <a:r>
              <a:rPr lang="en-US" sz="1100" b="1" spc="200" kern="0" dirty="0">
                <a:solidFill>
                  <a:srgbClr val="0E7FA0"/>
                </a:solidFill>
              </a:rPr>
              <a:t>BUSINESS PLAN  ·  VALUE PROPOSITION</a:t>
            </a:r>
            <a:endParaRPr lang="en-US" sz="1100" dirty="0"/>
          </a:p>
        </p:txBody>
      </p:sp>
      <p:sp>
        <p:nvSpPr>
          <p:cNvPr id="3" name="Text 1"/>
          <p:cNvSpPr/>
          <p:nvPr>
            <p:ph idx="102" type="title" hasCustomPrompt="1"/>
          </p:nvPr>
        </p:nvSpPr>
        <p:spPr>
          <a:xfrm>
            <a:off x="548640" y="566928"/>
            <a:ext cx="9875520" cy="868680"/>
          </a:xfrm>
          <a:prstGeom prst="rect">
            <a:avLst/>
          </a:prstGeom>
          <a:noFill/>
          <a:ln/>
        </p:spPr>
        <p:txBody>
          <a:bodyPr wrap="square" lIns="0" tIns="0" rIns="0" bIns="0" rtlCol="0" anchor="t"/>
          <a:lstStyle/>
          <a:p>
            <a:pPr algn="l" indent="0" marL="0">
              <a:buNone/>
            </a:pPr>
            <a:r>
              <a:rPr lang="en-US" sz="2600" b="1" dirty="0">
                <a:solidFill>
                  <a:srgbClr val="141C52"/>
                </a:solidFill>
              </a:rPr>
              <a:t>Our promise: hair that feels clean again, whatever water you live with</a:t>
            </a:r>
            <a:endParaRPr lang="en-US" sz="2600" dirty="0"/>
          </a:p>
        </p:txBody>
      </p:sp>
      <p:sp>
        <p:nvSpPr>
          <p:cNvPr id="4" name="Shape 2"/>
          <p:cNvSpPr/>
          <p:nvPr/>
        </p:nvSpPr>
        <p:spPr>
          <a:xfrm>
            <a:off x="548640" y="1554480"/>
            <a:ext cx="5212080" cy="3611880"/>
          </a:xfrm>
          <a:prstGeom prst="roundRect">
            <a:avLst>
              <a:gd name="adj" fmla="val 2025"/>
            </a:avLst>
          </a:prstGeom>
          <a:solidFill>
            <a:srgbClr val="FBEDE3"/>
          </a:solidFill>
          <a:ln/>
        </p:spPr>
      </p:sp>
      <p:sp>
        <p:nvSpPr>
          <p:cNvPr id="5" name="Shape 3"/>
          <p:cNvSpPr/>
          <p:nvPr/>
        </p:nvSpPr>
        <p:spPr>
          <a:xfrm>
            <a:off x="777240" y="1719072"/>
            <a:ext cx="502920" cy="502920"/>
          </a:xfrm>
          <a:prstGeom prst="ellipse">
            <a:avLst/>
          </a:prstGeom>
          <a:solidFill>
            <a:srgbClr val="B4511F"/>
          </a:solidFill>
          <a:ln/>
        </p:spPr>
      </p:sp>
      <p:pic>
        <p:nvPicPr>
          <p:cNvPr id="6" name="Image 0" descr="preencoded.png">    </p:cNvPr>
          <p:cNvPicPr>
            <a:picLocks noChangeAspect="1"/>
          </p:cNvPicPr>
          <p:nvPr/>
        </p:nvPicPr>
        <p:blipFill>
          <a:blip r:embed="rId1"/>
          <a:stretch>
            <a:fillRect/>
          </a:stretch>
        </p:blipFill>
        <p:spPr>
          <a:xfrm>
            <a:off x="897941" y="1839773"/>
            <a:ext cx="261518" cy="261518"/>
          </a:xfrm>
          <a:prstGeom prst="rect">
            <a:avLst/>
          </a:prstGeom>
        </p:spPr>
      </p:pic>
      <p:sp>
        <p:nvSpPr>
          <p:cNvPr id="7" name="Text 4"/>
          <p:cNvSpPr txBox="1"/>
          <p:nvPr/>
        </p:nvSpPr>
        <p:spPr>
          <a:xfrm>
            <a:off x="1417320" y="1783080"/>
            <a:ext cx="4114800" cy="384048"/>
          </a:xfrm>
          <a:prstGeom prst="rect">
            <a:avLst/>
          </a:prstGeom>
          <a:noFill/>
          <a:ln/>
        </p:spPr>
        <p:txBody>
          <a:bodyPr wrap="square" lIns="0" tIns="0" rIns="0" bIns="0" rtlCol="0" anchor="t"/>
          <a:lstStyle/>
          <a:p>
            <a:pPr indent="0" marL="0">
              <a:buNone/>
            </a:pPr>
            <a:r>
              <a:rPr lang="en-US" sz="1600" b="1" dirty="0">
                <a:solidFill>
                  <a:srgbClr val="141C52"/>
                </a:solidFill>
              </a:rPr>
              <a:t>The Mover</a:t>
            </a:r>
            <a:endParaRPr lang="en-US" sz="1600" dirty="0"/>
          </a:p>
        </p:txBody>
      </p:sp>
      <p:sp>
        <p:nvSpPr>
          <p:cNvPr id="8" name="Text 5"/>
          <p:cNvSpPr txBox="1"/>
          <p:nvPr/>
        </p:nvSpPr>
        <p:spPr>
          <a:xfrm>
            <a:off x="822960" y="2377440"/>
            <a:ext cx="4663440" cy="237744"/>
          </a:xfrm>
          <a:prstGeom prst="rect">
            <a:avLst/>
          </a:prstGeom>
          <a:noFill/>
          <a:ln/>
        </p:spPr>
        <p:txBody>
          <a:bodyPr wrap="square" lIns="0" tIns="0" rIns="0" bIns="0" rtlCol="0" anchor="t"/>
          <a:lstStyle/>
          <a:p>
            <a:pPr indent="0" marL="0">
              <a:buNone/>
            </a:pPr>
            <a:r>
              <a:rPr lang="en-US" sz="1100" b="1" spc="100" kern="0" dirty="0">
                <a:solidFill>
                  <a:srgbClr val="B4511F"/>
                </a:solidFill>
              </a:rPr>
              <a:t>JOB TO BE DONE</a:t>
            </a:r>
            <a:endParaRPr lang="en-US" sz="1100" dirty="0"/>
          </a:p>
        </p:txBody>
      </p:sp>
      <p:sp>
        <p:nvSpPr>
          <p:cNvPr id="9" name="Text 6"/>
          <p:cNvSpPr txBox="1"/>
          <p:nvPr/>
        </p:nvSpPr>
        <p:spPr>
          <a:xfrm>
            <a:off x="822960" y="2624328"/>
            <a:ext cx="4663440" cy="594360"/>
          </a:xfrm>
          <a:prstGeom prst="rect">
            <a:avLst/>
          </a:prstGeom>
          <a:noFill/>
          <a:ln/>
        </p:spPr>
        <p:txBody>
          <a:bodyPr wrap="square" lIns="0" tIns="0" rIns="0" bIns="0" rtlCol="0" anchor="t"/>
          <a:lstStyle/>
          <a:p>
            <a:pPr indent="0" marL="0">
              <a:buNone/>
            </a:pPr>
            <a:r>
              <a:rPr lang="en-US" sz="1200" dirty="0">
                <a:solidFill>
                  <a:srgbClr val="1F2937"/>
                </a:solidFill>
              </a:rPr>
              <a:t>Get clean, soft hair with whatever water the hall, mess or flat has</a:t>
            </a:r>
            <a:endParaRPr lang="en-US" sz="1200" dirty="0"/>
          </a:p>
        </p:txBody>
      </p:sp>
      <p:sp>
        <p:nvSpPr>
          <p:cNvPr id="10" name="Text 7"/>
          <p:cNvSpPr txBox="1"/>
          <p:nvPr/>
        </p:nvSpPr>
        <p:spPr>
          <a:xfrm>
            <a:off x="822960" y="3273552"/>
            <a:ext cx="4663440" cy="237744"/>
          </a:xfrm>
          <a:prstGeom prst="rect">
            <a:avLst/>
          </a:prstGeom>
          <a:noFill/>
          <a:ln/>
        </p:spPr>
        <p:txBody>
          <a:bodyPr wrap="square" lIns="0" tIns="0" rIns="0" bIns="0" rtlCol="0" anchor="t"/>
          <a:lstStyle/>
          <a:p>
            <a:pPr indent="0" marL="0">
              <a:buNone/>
            </a:pPr>
            <a:r>
              <a:rPr lang="en-US" sz="1100" b="1" spc="100" kern="0" dirty="0">
                <a:solidFill>
                  <a:srgbClr val="B4511F"/>
                </a:solidFill>
              </a:rPr>
              <a:t>PAINS</a:t>
            </a:r>
            <a:endParaRPr lang="en-US" sz="1100" dirty="0"/>
          </a:p>
        </p:txBody>
      </p:sp>
      <p:sp>
        <p:nvSpPr>
          <p:cNvPr id="11" name="Text 8"/>
          <p:cNvSpPr txBox="1"/>
          <p:nvPr/>
        </p:nvSpPr>
        <p:spPr>
          <a:xfrm>
            <a:off x="822960" y="3520440"/>
            <a:ext cx="4663440" cy="594360"/>
          </a:xfrm>
          <a:prstGeom prst="rect">
            <a:avLst/>
          </a:prstGeom>
          <a:noFill/>
          <a:ln/>
        </p:spPr>
        <p:txBody>
          <a:bodyPr wrap="square" lIns="0" tIns="0" rIns="0" bIns="0" rtlCol="0" anchor="t"/>
          <a:lstStyle/>
          <a:p>
            <a:pPr indent="0" marL="0">
              <a:buNone/>
            </a:pPr>
            <a:r>
              <a:rPr lang="en-US" sz="1200" dirty="0">
                <a:solidFill>
                  <a:srgbClr val="1F2937"/>
                </a:solidFill>
              </a:rPr>
              <a:t>Low lather, a rough or sticky feel, dull hair, extra shampoo, orange stains, and “is it me or the water?”</a:t>
            </a:r>
            <a:endParaRPr lang="en-US" sz="1200" dirty="0"/>
          </a:p>
        </p:txBody>
      </p:sp>
      <p:sp>
        <p:nvSpPr>
          <p:cNvPr id="12" name="Text 9"/>
          <p:cNvSpPr txBox="1"/>
          <p:nvPr/>
        </p:nvSpPr>
        <p:spPr>
          <a:xfrm>
            <a:off x="822960" y="4169664"/>
            <a:ext cx="4663440" cy="237744"/>
          </a:xfrm>
          <a:prstGeom prst="rect">
            <a:avLst/>
          </a:prstGeom>
          <a:noFill/>
          <a:ln/>
        </p:spPr>
        <p:txBody>
          <a:bodyPr wrap="square" lIns="0" tIns="0" rIns="0" bIns="0" rtlCol="0" anchor="t"/>
          <a:lstStyle/>
          <a:p>
            <a:pPr indent="0" marL="0">
              <a:buNone/>
            </a:pPr>
            <a:r>
              <a:rPr lang="en-US" sz="1100" b="1" spc="100" kern="0" dirty="0">
                <a:solidFill>
                  <a:srgbClr val="B4511F"/>
                </a:solidFill>
              </a:rPr>
              <a:t>GAINS</a:t>
            </a:r>
            <a:endParaRPr lang="en-US" sz="1100" dirty="0"/>
          </a:p>
        </p:txBody>
      </p:sp>
      <p:sp>
        <p:nvSpPr>
          <p:cNvPr id="13" name="Text 10"/>
          <p:cNvSpPr txBox="1"/>
          <p:nvPr/>
        </p:nvSpPr>
        <p:spPr>
          <a:xfrm>
            <a:off x="822960" y="4416552"/>
            <a:ext cx="4663440" cy="594360"/>
          </a:xfrm>
          <a:prstGeom prst="rect">
            <a:avLst/>
          </a:prstGeom>
          <a:noFill/>
          <a:ln/>
        </p:spPr>
        <p:txBody>
          <a:bodyPr wrap="square" lIns="0" tIns="0" rIns="0" bIns="0" rtlCol="0" anchor="t"/>
          <a:lstStyle/>
          <a:p>
            <a:pPr indent="0" marL="0">
              <a:buNone/>
            </a:pPr>
            <a:r>
              <a:rPr lang="en-US" sz="1200" dirty="0">
                <a:solidFill>
                  <a:srgbClr val="1F2937"/>
                </a:solidFill>
              </a:rPr>
              <a:t>Hair that feels like home, confidence, no wasted money</a:t>
            </a:r>
            <a:endParaRPr lang="en-US" sz="1200" dirty="0"/>
          </a:p>
        </p:txBody>
      </p:sp>
      <p:sp>
        <p:nvSpPr>
          <p:cNvPr id="14" name="Shape 11"/>
          <p:cNvSpPr/>
          <p:nvPr/>
        </p:nvSpPr>
        <p:spPr>
          <a:xfrm>
            <a:off x="6428232" y="1554480"/>
            <a:ext cx="5212080" cy="3611880"/>
          </a:xfrm>
          <a:prstGeom prst="roundRect">
            <a:avLst>
              <a:gd name="adj" fmla="val 2025"/>
            </a:avLst>
          </a:prstGeom>
          <a:solidFill>
            <a:srgbClr val="E3F5FA"/>
          </a:solidFill>
          <a:ln/>
        </p:spPr>
      </p:sp>
      <p:sp>
        <p:nvSpPr>
          <p:cNvPr id="15" name="Shape 12"/>
          <p:cNvSpPr/>
          <p:nvPr/>
        </p:nvSpPr>
        <p:spPr>
          <a:xfrm>
            <a:off x="6656832" y="1719072"/>
            <a:ext cx="502920" cy="502920"/>
          </a:xfrm>
          <a:prstGeom prst="ellipse">
            <a:avLst/>
          </a:prstGeom>
          <a:solidFill>
            <a:srgbClr val="0E7FA0"/>
          </a:solidFill>
          <a:ln/>
        </p:spPr>
      </p:sp>
      <p:pic>
        <p:nvPicPr>
          <p:cNvPr id="16" name="Image 1" descr="preencoded.png">    </p:cNvPr>
          <p:cNvPicPr>
            <a:picLocks noChangeAspect="1"/>
          </p:cNvPicPr>
          <p:nvPr/>
        </p:nvPicPr>
        <p:blipFill>
          <a:blip r:embed="rId2"/>
          <a:stretch>
            <a:fillRect/>
          </a:stretch>
        </p:blipFill>
        <p:spPr>
          <a:xfrm>
            <a:off x="6777533" y="1839773"/>
            <a:ext cx="261518" cy="261518"/>
          </a:xfrm>
          <a:prstGeom prst="rect">
            <a:avLst/>
          </a:prstGeom>
        </p:spPr>
      </p:pic>
      <p:sp>
        <p:nvSpPr>
          <p:cNvPr id="17" name="Text 13"/>
          <p:cNvSpPr txBox="1"/>
          <p:nvPr/>
        </p:nvSpPr>
        <p:spPr>
          <a:xfrm>
            <a:off x="7296912" y="1783080"/>
            <a:ext cx="4114800" cy="384048"/>
          </a:xfrm>
          <a:prstGeom prst="rect">
            <a:avLst/>
          </a:prstGeom>
          <a:noFill/>
          <a:ln/>
        </p:spPr>
        <p:txBody>
          <a:bodyPr wrap="square" lIns="0" tIns="0" rIns="0" bIns="0" rtlCol="0" anchor="t"/>
          <a:lstStyle/>
          <a:p>
            <a:pPr indent="0" marL="0">
              <a:buNone/>
            </a:pPr>
            <a:r>
              <a:rPr lang="en-US" sz="1600" b="1" dirty="0">
                <a:solidFill>
                  <a:srgbClr val="141C52"/>
                </a:solidFill>
              </a:rPr>
              <a:t>WaterSmart</a:t>
            </a:r>
            <a:endParaRPr lang="en-US" sz="1600" dirty="0"/>
          </a:p>
        </p:txBody>
      </p:sp>
      <p:sp>
        <p:nvSpPr>
          <p:cNvPr id="18" name="Text 14"/>
          <p:cNvSpPr txBox="1"/>
          <p:nvPr/>
        </p:nvSpPr>
        <p:spPr>
          <a:xfrm>
            <a:off x="6702552" y="2377440"/>
            <a:ext cx="4663440" cy="237744"/>
          </a:xfrm>
          <a:prstGeom prst="rect">
            <a:avLst/>
          </a:prstGeom>
          <a:noFill/>
          <a:ln/>
        </p:spPr>
        <p:txBody>
          <a:bodyPr wrap="square" lIns="0" tIns="0" rIns="0" bIns="0" rtlCol="0" anchor="t"/>
          <a:lstStyle/>
          <a:p>
            <a:pPr indent="0" marL="0">
              <a:buNone/>
            </a:pPr>
            <a:r>
              <a:rPr lang="en-US" sz="1100" b="1" spc="100" kern="0" dirty="0">
                <a:solidFill>
                  <a:srgbClr val="0E7FA0"/>
                </a:solidFill>
              </a:rPr>
              <a:t>PRODUCTS</a:t>
            </a:r>
            <a:endParaRPr lang="en-US" sz="1100" dirty="0"/>
          </a:p>
        </p:txBody>
      </p:sp>
      <p:sp>
        <p:nvSpPr>
          <p:cNvPr id="19" name="Text 15"/>
          <p:cNvSpPr txBox="1"/>
          <p:nvPr/>
        </p:nvSpPr>
        <p:spPr>
          <a:xfrm>
            <a:off x="6702552" y="2624328"/>
            <a:ext cx="4663440" cy="594360"/>
          </a:xfrm>
          <a:prstGeom prst="rect">
            <a:avLst/>
          </a:prstGeom>
          <a:noFill/>
          <a:ln/>
        </p:spPr>
        <p:txBody>
          <a:bodyPr wrap="square" lIns="0" tIns="0" rIns="0" bIns="0" rtlCol="0" anchor="t"/>
          <a:lstStyle/>
          <a:p>
            <a:pPr indent="0" marL="0">
              <a:buNone/>
            </a:pPr>
            <a:r>
              <a:rPr lang="en-US" sz="1200" dirty="0">
                <a:solidFill>
                  <a:srgbClr val="1F2937"/>
                </a:solidFill>
              </a:rPr>
              <a:t>Iron &amp; Hard Water shampoo, PaniCheck cap, Pani Map</a:t>
            </a:r>
            <a:endParaRPr lang="en-US" sz="1200" dirty="0"/>
          </a:p>
        </p:txBody>
      </p:sp>
      <p:sp>
        <p:nvSpPr>
          <p:cNvPr id="20" name="Text 16"/>
          <p:cNvSpPr txBox="1"/>
          <p:nvPr/>
        </p:nvSpPr>
        <p:spPr>
          <a:xfrm>
            <a:off x="6702552" y="3273552"/>
            <a:ext cx="4663440" cy="237744"/>
          </a:xfrm>
          <a:prstGeom prst="rect">
            <a:avLst/>
          </a:prstGeom>
          <a:noFill/>
          <a:ln/>
        </p:spPr>
        <p:txBody>
          <a:bodyPr wrap="square" lIns="0" tIns="0" rIns="0" bIns="0" rtlCol="0" anchor="t"/>
          <a:lstStyle/>
          <a:p>
            <a:pPr indent="0" marL="0">
              <a:buNone/>
            </a:pPr>
            <a:r>
              <a:rPr lang="en-US" sz="1100" b="1" spc="100" kern="0" dirty="0">
                <a:solidFill>
                  <a:srgbClr val="0E7FA0"/>
                </a:solidFill>
              </a:rPr>
              <a:t>PAIN RELIEVERS</a:t>
            </a:r>
            <a:endParaRPr lang="en-US" sz="1100" dirty="0"/>
          </a:p>
        </p:txBody>
      </p:sp>
      <p:sp>
        <p:nvSpPr>
          <p:cNvPr id="21" name="Text 17"/>
          <p:cNvSpPr txBox="1"/>
          <p:nvPr/>
        </p:nvSpPr>
        <p:spPr>
          <a:xfrm>
            <a:off x="6702552" y="3520440"/>
            <a:ext cx="4663440" cy="594360"/>
          </a:xfrm>
          <a:prstGeom prst="rect">
            <a:avLst/>
          </a:prstGeom>
          <a:noFill/>
          <a:ln/>
        </p:spPr>
        <p:txBody>
          <a:bodyPr wrap="square" lIns="0" tIns="0" rIns="0" bIns="0" rtlCol="0" anchor="t"/>
          <a:lstStyle/>
          <a:p>
            <a:pPr indent="0" marL="0">
              <a:buNone/>
            </a:pPr>
            <a:r>
              <a:rPr lang="en-US" sz="1200" dirty="0">
                <a:solidFill>
                  <a:srgbClr val="1F2937"/>
                </a:solidFill>
              </a:rPr>
              <a:t>Chelator removes mineral build-up*; lathers in hard water*; the strip ends the guesswork</a:t>
            </a:r>
            <a:endParaRPr lang="en-US" sz="1200" dirty="0"/>
          </a:p>
        </p:txBody>
      </p:sp>
      <p:sp>
        <p:nvSpPr>
          <p:cNvPr id="22" name="Text 18"/>
          <p:cNvSpPr txBox="1"/>
          <p:nvPr/>
        </p:nvSpPr>
        <p:spPr>
          <a:xfrm>
            <a:off x="6702552" y="4169664"/>
            <a:ext cx="4663440" cy="237744"/>
          </a:xfrm>
          <a:prstGeom prst="rect">
            <a:avLst/>
          </a:prstGeom>
          <a:noFill/>
          <a:ln/>
        </p:spPr>
        <p:txBody>
          <a:bodyPr wrap="square" lIns="0" tIns="0" rIns="0" bIns="0" rtlCol="0" anchor="t"/>
          <a:lstStyle/>
          <a:p>
            <a:pPr indent="0" marL="0">
              <a:buNone/>
            </a:pPr>
            <a:r>
              <a:rPr lang="en-US" sz="1100" b="1" spc="100" kern="0" dirty="0">
                <a:solidFill>
                  <a:srgbClr val="0E7FA0"/>
                </a:solidFill>
              </a:rPr>
              <a:t>GAIN CREATORS</a:t>
            </a:r>
            <a:endParaRPr lang="en-US" sz="1100" dirty="0"/>
          </a:p>
        </p:txBody>
      </p:sp>
      <p:sp>
        <p:nvSpPr>
          <p:cNvPr id="23" name="Text 19"/>
          <p:cNvSpPr txBox="1"/>
          <p:nvPr/>
        </p:nvSpPr>
        <p:spPr>
          <a:xfrm>
            <a:off x="6702552" y="4416552"/>
            <a:ext cx="4663440" cy="594360"/>
          </a:xfrm>
          <a:prstGeom prst="rect">
            <a:avLst/>
          </a:prstGeom>
          <a:noFill/>
          <a:ln/>
        </p:spPr>
        <p:txBody>
          <a:bodyPr wrap="square" lIns="0" tIns="0" rIns="0" bIns="0" rtlCol="0" anchor="t"/>
          <a:lstStyle/>
          <a:p>
            <a:pPr indent="0" marL="0">
              <a:buNone/>
            </a:pPr>
            <a:r>
              <a:rPr lang="en-US" sz="1200" dirty="0">
                <a:solidFill>
                  <a:srgbClr val="1F2937"/>
                </a:solidFill>
              </a:rPr>
              <a:t>Coconut Milk Protein care; Tk 106 per 100 ml against Tk 142–180 for premium brands; a Tk 3 sachet to try</a:t>
            </a:r>
            <a:endParaRPr lang="en-US" sz="1200" dirty="0"/>
          </a:p>
        </p:txBody>
      </p:sp>
      <p:sp>
        <p:nvSpPr>
          <p:cNvPr id="24" name="Shape 20"/>
          <p:cNvSpPr/>
          <p:nvPr/>
        </p:nvSpPr>
        <p:spPr>
          <a:xfrm>
            <a:off x="5824728" y="3017520"/>
            <a:ext cx="548640" cy="548640"/>
          </a:xfrm>
          <a:prstGeom prst="ellipse">
            <a:avLst/>
          </a:prstGeom>
          <a:solidFill>
            <a:srgbClr val="141C52"/>
          </a:solidFill>
          <a:ln w="25400">
            <a:solidFill>
              <a:srgbClr val="FFFFFF"/>
            </a:solidFill>
            <a:prstDash val="solid"/>
          </a:ln>
        </p:spPr>
      </p:sp>
      <p:sp>
        <p:nvSpPr>
          <p:cNvPr id="25" name="Text 21"/>
          <p:cNvSpPr txBox="1"/>
          <p:nvPr/>
        </p:nvSpPr>
        <p:spPr>
          <a:xfrm>
            <a:off x="5824728" y="3017520"/>
            <a:ext cx="548640" cy="548640"/>
          </a:xfrm>
          <a:prstGeom prst="rect">
            <a:avLst/>
          </a:prstGeom>
          <a:noFill/>
          <a:ln/>
        </p:spPr>
        <p:txBody>
          <a:bodyPr wrap="square" lIns="0" tIns="0" rIns="0" bIns="0" rtlCol="0" anchor="ctr"/>
          <a:lstStyle/>
          <a:p>
            <a:pPr algn="ctr" indent="0" marL="0">
              <a:buNone/>
            </a:pPr>
            <a:r>
              <a:rPr lang="en-US" sz="1100" b="1" dirty="0">
                <a:solidFill>
                  <a:srgbClr val="FFFFFF"/>
                </a:solidFill>
              </a:rPr>
              <a:t>FIT</a:t>
            </a:r>
            <a:endParaRPr lang="en-US" sz="1100" dirty="0"/>
          </a:p>
        </p:txBody>
      </p:sp>
      <p:sp>
        <p:nvSpPr>
          <p:cNvPr id="26" name="Shape 22"/>
          <p:cNvSpPr/>
          <p:nvPr/>
        </p:nvSpPr>
        <p:spPr>
          <a:xfrm>
            <a:off x="548640" y="5303520"/>
            <a:ext cx="11091672" cy="640080"/>
          </a:xfrm>
          <a:prstGeom prst="roundRect">
            <a:avLst>
              <a:gd name="adj" fmla="val 11429"/>
            </a:avLst>
          </a:prstGeom>
          <a:solidFill>
            <a:srgbClr val="141C52"/>
          </a:solidFill>
          <a:ln/>
        </p:spPr>
      </p:sp>
      <p:sp>
        <p:nvSpPr>
          <p:cNvPr id="27" name="Text 23"/>
          <p:cNvSpPr txBox="1"/>
          <p:nvPr/>
        </p:nvSpPr>
        <p:spPr>
          <a:xfrm>
            <a:off x="777240" y="5303520"/>
            <a:ext cx="10698480" cy="640080"/>
          </a:xfrm>
          <a:prstGeom prst="rect">
            <a:avLst/>
          </a:prstGeom>
          <a:noFill/>
          <a:ln/>
        </p:spPr>
        <p:txBody>
          <a:bodyPr wrap="square" lIns="0" tIns="0" rIns="0" bIns="0" rtlCol="0" anchor="ctr"/>
          <a:lstStyle/>
          <a:p>
            <a:pPr indent="0" marL="0">
              <a:buNone/>
            </a:pPr>
            <a:r>
              <a:rPr lang="en-US" sz="1400" i="1" dirty="0">
                <a:solidFill>
                  <a:srgbClr val="FFFFFF"/>
                </a:solidFill>
              </a:rPr>
              <a:t>For Movers whose hair changed with their water, WaterSmart is the Naturale shampoo that checks your water and cleans away iron and hard-water build-up, so hair feels like home again.</a:t>
            </a:r>
            <a:endParaRPr lang="en-US" sz="1400" dirty="0"/>
          </a:p>
        </p:txBody>
      </p:sp>
      <p:sp>
        <p:nvSpPr>
          <p:cNvPr id="28" name="Text 24"/>
          <p:cNvSpPr txBox="1"/>
          <p:nvPr/>
        </p:nvSpPr>
        <p:spPr>
          <a:xfrm>
            <a:off x="548640" y="5989320"/>
            <a:ext cx="11091672" cy="365760"/>
          </a:xfrm>
          <a:prstGeom prst="rect">
            <a:avLst/>
          </a:prstGeom>
          <a:noFill/>
          <a:ln/>
        </p:spPr>
        <p:txBody>
          <a:bodyPr wrap="square" lIns="0" tIns="0" rIns="0" bIns="0" rtlCol="0" anchor="b"/>
          <a:lstStyle/>
          <a:p>
            <a:pPr indent="0" marL="0">
              <a:buNone/>
            </a:pPr>
            <a:r>
              <a:rPr lang="en-US" sz="1000" i="1" dirty="0">
                <a:solidFill>
                  <a:srgbClr val="5B6472"/>
                </a:solidFill>
              </a:rPr>
              <a:t>*Proposed claims, to be substantiated by Marico R&amp;D (hair-tress deposit and lather tests) before launch. Prices: Chaldal and Arogga listings, 9 Oct 2026.</a:t>
            </a:r>
            <a:endParaRPr lang="en-US" sz="1000" dirty="0"/>
          </a:p>
        </p:txBody>
      </p:sp>
      <p:sp>
        <p:nvSpPr>
          <p:cNvPr id="29"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defRPr>
            </a:lvl1pPr>
          </a:lstStyle>
          <a:p>
            <a:pPr algn="r"/>
            <a:r>
              <a:t>8</a:t>
            </a:r>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548640" y="274320"/>
            <a:ext cx="9601200" cy="256032"/>
          </a:xfrm>
          <a:prstGeom prst="rect">
            <a:avLst/>
          </a:prstGeom>
          <a:noFill/>
          <a:ln/>
        </p:spPr>
        <p:txBody>
          <a:bodyPr wrap="square" lIns="0" tIns="0" rIns="0" bIns="0" rtlCol="0" anchor="t"/>
          <a:lstStyle/>
          <a:p>
            <a:pPr indent="0" marL="0">
              <a:buNone/>
            </a:pPr>
            <a:r>
              <a:rPr lang="en-US" sz="1100" b="1" spc="200" kern="0" dirty="0">
                <a:solidFill>
                  <a:srgbClr val="0E7FA0"/>
                </a:solidFill>
              </a:rPr>
              <a:t>BUSINESS PLAN  ·  UNIQUE SELLING PROPOSITION</a:t>
            </a:r>
            <a:endParaRPr lang="en-US" sz="1100" dirty="0"/>
          </a:p>
        </p:txBody>
      </p:sp>
      <p:sp>
        <p:nvSpPr>
          <p:cNvPr id="3" name="Text 1"/>
          <p:cNvSpPr/>
          <p:nvPr>
            <p:ph idx="102" type="title" hasCustomPrompt="1"/>
          </p:nvPr>
        </p:nvSpPr>
        <p:spPr>
          <a:xfrm>
            <a:off x="548640" y="566928"/>
            <a:ext cx="9875520" cy="868680"/>
          </a:xfrm>
          <a:prstGeom prst="rect">
            <a:avLst/>
          </a:prstGeom>
          <a:noFill/>
          <a:ln/>
        </p:spPr>
        <p:txBody>
          <a:bodyPr wrap="square" lIns="0" tIns="0" rIns="0" bIns="0" rtlCol="0" anchor="t"/>
          <a:lstStyle/>
          <a:p>
            <a:pPr algn="l" indent="0" marL="0">
              <a:buNone/>
            </a:pPr>
            <a:r>
              <a:rPr lang="en-US" sz="2600" b="1" dirty="0">
                <a:solidFill>
                  <a:srgbClr val="141C52"/>
                </a:solidFill>
              </a:rPr>
              <a:t>USP: a water test in every 340 ml cap. No shampoo we found offers one</a:t>
            </a:r>
            <a:endParaRPr lang="en-US" sz="2600" dirty="0"/>
          </a:p>
        </p:txBody>
      </p:sp>
      <p:sp>
        <p:nvSpPr>
          <p:cNvPr id="4" name="Shape 2"/>
          <p:cNvSpPr/>
          <p:nvPr/>
        </p:nvSpPr>
        <p:spPr>
          <a:xfrm>
            <a:off x="960120" y="1554480"/>
            <a:ext cx="566928" cy="566928"/>
          </a:xfrm>
          <a:prstGeom prst="ellipse">
            <a:avLst/>
          </a:prstGeom>
          <a:solidFill>
            <a:srgbClr val="141C52"/>
          </a:solidFill>
          <a:ln/>
        </p:spPr>
      </p:sp>
      <p:pic>
        <p:nvPicPr>
          <p:cNvPr id="5" name="Image 0" descr="preencoded.png">    </p:cNvPr>
          <p:cNvPicPr>
            <a:picLocks noChangeAspect="1"/>
          </p:cNvPicPr>
          <p:nvPr/>
        </p:nvPicPr>
        <p:blipFill>
          <a:blip r:embed="rId1"/>
          <a:stretch>
            <a:fillRect/>
          </a:stretch>
        </p:blipFill>
        <p:spPr>
          <a:xfrm>
            <a:off x="1096183" y="1690543"/>
            <a:ext cx="294803" cy="294803"/>
          </a:xfrm>
          <a:prstGeom prst="rect">
            <a:avLst/>
          </a:prstGeom>
        </p:spPr>
      </p:pic>
      <p:sp>
        <p:nvSpPr>
          <p:cNvPr id="6" name="Shape 3"/>
          <p:cNvSpPr/>
          <p:nvPr/>
        </p:nvSpPr>
        <p:spPr>
          <a:xfrm>
            <a:off x="1399032" y="1481328"/>
            <a:ext cx="274320" cy="274320"/>
          </a:xfrm>
          <a:prstGeom prst="ellipse">
            <a:avLst/>
          </a:prstGeom>
          <a:solidFill>
            <a:srgbClr val="F5A31A"/>
          </a:solidFill>
          <a:ln/>
        </p:spPr>
      </p:sp>
      <p:sp>
        <p:nvSpPr>
          <p:cNvPr id="7" name="Text 4"/>
          <p:cNvSpPr txBox="1"/>
          <p:nvPr/>
        </p:nvSpPr>
        <p:spPr>
          <a:xfrm>
            <a:off x="1399032" y="1481328"/>
            <a:ext cx="274320" cy="274320"/>
          </a:xfrm>
          <a:prstGeom prst="rect">
            <a:avLst/>
          </a:prstGeom>
          <a:noFill/>
          <a:ln/>
        </p:spPr>
        <p:txBody>
          <a:bodyPr wrap="square" lIns="0" tIns="0" rIns="0" bIns="0" rtlCol="0" anchor="ctr"/>
          <a:lstStyle/>
          <a:p>
            <a:pPr algn="ctr" indent="0" marL="0">
              <a:buNone/>
            </a:pPr>
            <a:r>
              <a:rPr lang="en-US" sz="1100" b="1" dirty="0">
                <a:solidFill>
                  <a:srgbClr val="141C52"/>
                </a:solidFill>
              </a:rPr>
              <a:t>1</a:t>
            </a:r>
            <a:endParaRPr lang="en-US" sz="1100" dirty="0"/>
          </a:p>
        </p:txBody>
      </p:sp>
      <p:sp>
        <p:nvSpPr>
          <p:cNvPr id="8" name="Text 5"/>
          <p:cNvSpPr txBox="1"/>
          <p:nvPr/>
        </p:nvSpPr>
        <p:spPr>
          <a:xfrm>
            <a:off x="502920" y="2212848"/>
            <a:ext cx="1463040" cy="274320"/>
          </a:xfrm>
          <a:prstGeom prst="rect">
            <a:avLst/>
          </a:prstGeom>
          <a:noFill/>
          <a:ln/>
        </p:spPr>
        <p:txBody>
          <a:bodyPr wrap="square" lIns="0" tIns="0" rIns="0" bIns="0" rtlCol="0" anchor="t"/>
          <a:lstStyle/>
          <a:p>
            <a:pPr algn="ctr" indent="0" marL="0">
              <a:buNone/>
            </a:pPr>
            <a:r>
              <a:rPr lang="en-US" sz="1300" b="1" dirty="0">
                <a:solidFill>
                  <a:srgbClr val="141C52"/>
                </a:solidFill>
              </a:rPr>
              <a:t>Flip the cap</a:t>
            </a:r>
            <a:endParaRPr lang="en-US" sz="1300" dirty="0"/>
          </a:p>
        </p:txBody>
      </p:sp>
      <p:sp>
        <p:nvSpPr>
          <p:cNvPr id="9" name="Text 6"/>
          <p:cNvSpPr txBox="1"/>
          <p:nvPr/>
        </p:nvSpPr>
        <p:spPr>
          <a:xfrm>
            <a:off x="502920" y="2505456"/>
            <a:ext cx="1463040" cy="548640"/>
          </a:xfrm>
          <a:prstGeom prst="rect">
            <a:avLst/>
          </a:prstGeom>
          <a:noFill/>
          <a:ln/>
        </p:spPr>
        <p:txBody>
          <a:bodyPr wrap="square" lIns="0" tIns="0" rIns="0" bIns="0" rtlCol="0" anchor="t"/>
          <a:lstStyle/>
          <a:p>
            <a:pPr algn="ctr" indent="0" marL="0">
              <a:buNone/>
            </a:pPr>
            <a:r>
              <a:rPr lang="en-US" sz="1100" dirty="0">
                <a:solidFill>
                  <a:srgbClr val="5B6472"/>
                </a:solidFill>
              </a:rPr>
              <a:t>The strip sits in a foil pouch in the lid</a:t>
            </a:r>
            <a:endParaRPr lang="en-US" sz="1100" dirty="0"/>
          </a:p>
        </p:txBody>
      </p:sp>
      <p:sp>
        <p:nvSpPr>
          <p:cNvPr id="10" name="Shape 7"/>
          <p:cNvSpPr/>
          <p:nvPr/>
        </p:nvSpPr>
        <p:spPr>
          <a:xfrm>
            <a:off x="2468880" y="1554480"/>
            <a:ext cx="566928" cy="566928"/>
          </a:xfrm>
          <a:prstGeom prst="ellipse">
            <a:avLst/>
          </a:prstGeom>
          <a:solidFill>
            <a:srgbClr val="141C52"/>
          </a:solidFill>
          <a:ln/>
        </p:spPr>
      </p:sp>
      <p:pic>
        <p:nvPicPr>
          <p:cNvPr id="11" name="Image 1" descr="preencoded.png">    </p:cNvPr>
          <p:cNvPicPr>
            <a:picLocks noChangeAspect="1"/>
          </p:cNvPicPr>
          <p:nvPr/>
        </p:nvPicPr>
        <p:blipFill>
          <a:blip r:embed="rId2"/>
          <a:stretch>
            <a:fillRect/>
          </a:stretch>
        </p:blipFill>
        <p:spPr>
          <a:xfrm>
            <a:off x="2604943" y="1690543"/>
            <a:ext cx="294803" cy="294803"/>
          </a:xfrm>
          <a:prstGeom prst="rect">
            <a:avLst/>
          </a:prstGeom>
        </p:spPr>
      </p:pic>
      <p:sp>
        <p:nvSpPr>
          <p:cNvPr id="12" name="Shape 8"/>
          <p:cNvSpPr/>
          <p:nvPr/>
        </p:nvSpPr>
        <p:spPr>
          <a:xfrm>
            <a:off x="2907792" y="1481328"/>
            <a:ext cx="274320" cy="274320"/>
          </a:xfrm>
          <a:prstGeom prst="ellipse">
            <a:avLst/>
          </a:prstGeom>
          <a:solidFill>
            <a:srgbClr val="F5A31A"/>
          </a:solidFill>
          <a:ln/>
        </p:spPr>
      </p:sp>
      <p:sp>
        <p:nvSpPr>
          <p:cNvPr id="13" name="Text 9"/>
          <p:cNvSpPr txBox="1"/>
          <p:nvPr/>
        </p:nvSpPr>
        <p:spPr>
          <a:xfrm>
            <a:off x="2907792" y="1481328"/>
            <a:ext cx="274320" cy="274320"/>
          </a:xfrm>
          <a:prstGeom prst="rect">
            <a:avLst/>
          </a:prstGeom>
          <a:noFill/>
          <a:ln/>
        </p:spPr>
        <p:txBody>
          <a:bodyPr wrap="square" lIns="0" tIns="0" rIns="0" bIns="0" rtlCol="0" anchor="ctr"/>
          <a:lstStyle/>
          <a:p>
            <a:pPr algn="ctr" indent="0" marL="0">
              <a:buNone/>
            </a:pPr>
            <a:r>
              <a:rPr lang="en-US" sz="1100" b="1" dirty="0">
                <a:solidFill>
                  <a:srgbClr val="141C52"/>
                </a:solidFill>
              </a:rPr>
              <a:t>2</a:t>
            </a:r>
            <a:endParaRPr lang="en-US" sz="1100" dirty="0"/>
          </a:p>
        </p:txBody>
      </p:sp>
      <p:sp>
        <p:nvSpPr>
          <p:cNvPr id="14" name="Text 10"/>
          <p:cNvSpPr txBox="1"/>
          <p:nvPr/>
        </p:nvSpPr>
        <p:spPr>
          <a:xfrm>
            <a:off x="2011680" y="2212848"/>
            <a:ext cx="1463040" cy="274320"/>
          </a:xfrm>
          <a:prstGeom prst="rect">
            <a:avLst/>
          </a:prstGeom>
          <a:noFill/>
          <a:ln/>
        </p:spPr>
        <p:txBody>
          <a:bodyPr wrap="square" lIns="0" tIns="0" rIns="0" bIns="0" rtlCol="0" anchor="t"/>
          <a:lstStyle/>
          <a:p>
            <a:pPr algn="ctr" indent="0" marL="0">
              <a:buNone/>
            </a:pPr>
            <a:r>
              <a:rPr lang="en-US" sz="1300" b="1" dirty="0">
                <a:solidFill>
                  <a:srgbClr val="141C52"/>
                </a:solidFill>
              </a:rPr>
              <a:t>Dip for 1 second</a:t>
            </a:r>
            <a:endParaRPr lang="en-US" sz="1300" dirty="0"/>
          </a:p>
        </p:txBody>
      </p:sp>
      <p:sp>
        <p:nvSpPr>
          <p:cNvPr id="15" name="Text 11"/>
          <p:cNvSpPr txBox="1"/>
          <p:nvPr/>
        </p:nvSpPr>
        <p:spPr>
          <a:xfrm>
            <a:off x="2011680" y="2505456"/>
            <a:ext cx="1463040" cy="548640"/>
          </a:xfrm>
          <a:prstGeom prst="rect">
            <a:avLst/>
          </a:prstGeom>
          <a:noFill/>
          <a:ln/>
        </p:spPr>
        <p:txBody>
          <a:bodyPr wrap="square" lIns="0" tIns="0" rIns="0" bIns="0" rtlCol="0" anchor="t"/>
          <a:lstStyle/>
          <a:p>
            <a:pPr algn="ctr" indent="0" marL="0">
              <a:buNone/>
            </a:pPr>
            <a:r>
              <a:rPr lang="en-US" sz="1100" dirty="0">
                <a:solidFill>
                  <a:srgbClr val="5B6472"/>
                </a:solidFill>
              </a:rPr>
              <a:t>In your bucket, shower or tap water</a:t>
            </a:r>
            <a:endParaRPr lang="en-US" sz="1100" dirty="0"/>
          </a:p>
        </p:txBody>
      </p:sp>
      <p:sp>
        <p:nvSpPr>
          <p:cNvPr id="16" name="Shape 12"/>
          <p:cNvSpPr/>
          <p:nvPr/>
        </p:nvSpPr>
        <p:spPr>
          <a:xfrm>
            <a:off x="3977640" y="1554480"/>
            <a:ext cx="566928" cy="566928"/>
          </a:xfrm>
          <a:prstGeom prst="ellipse">
            <a:avLst/>
          </a:prstGeom>
          <a:solidFill>
            <a:srgbClr val="141C52"/>
          </a:solidFill>
          <a:ln/>
        </p:spPr>
      </p:sp>
      <p:pic>
        <p:nvPicPr>
          <p:cNvPr id="17" name="Image 2" descr="preencoded.png">    </p:cNvPr>
          <p:cNvPicPr>
            <a:picLocks noChangeAspect="1"/>
          </p:cNvPicPr>
          <p:nvPr/>
        </p:nvPicPr>
        <p:blipFill>
          <a:blip r:embed="rId3"/>
          <a:stretch>
            <a:fillRect/>
          </a:stretch>
        </p:blipFill>
        <p:spPr>
          <a:xfrm>
            <a:off x="4113703" y="1690543"/>
            <a:ext cx="294803" cy="294803"/>
          </a:xfrm>
          <a:prstGeom prst="rect">
            <a:avLst/>
          </a:prstGeom>
        </p:spPr>
      </p:pic>
      <p:sp>
        <p:nvSpPr>
          <p:cNvPr id="18" name="Shape 13"/>
          <p:cNvSpPr/>
          <p:nvPr/>
        </p:nvSpPr>
        <p:spPr>
          <a:xfrm>
            <a:off x="4416552" y="1481328"/>
            <a:ext cx="274320" cy="274320"/>
          </a:xfrm>
          <a:prstGeom prst="ellipse">
            <a:avLst/>
          </a:prstGeom>
          <a:solidFill>
            <a:srgbClr val="F5A31A"/>
          </a:solidFill>
          <a:ln/>
        </p:spPr>
      </p:sp>
      <p:sp>
        <p:nvSpPr>
          <p:cNvPr id="19" name="Text 14"/>
          <p:cNvSpPr txBox="1"/>
          <p:nvPr/>
        </p:nvSpPr>
        <p:spPr>
          <a:xfrm>
            <a:off x="4416552" y="1481328"/>
            <a:ext cx="274320" cy="274320"/>
          </a:xfrm>
          <a:prstGeom prst="rect">
            <a:avLst/>
          </a:prstGeom>
          <a:noFill/>
          <a:ln/>
        </p:spPr>
        <p:txBody>
          <a:bodyPr wrap="square" lIns="0" tIns="0" rIns="0" bIns="0" rtlCol="0" anchor="ctr"/>
          <a:lstStyle/>
          <a:p>
            <a:pPr algn="ctr" indent="0" marL="0">
              <a:buNone/>
            </a:pPr>
            <a:r>
              <a:rPr lang="en-US" sz="1100" b="1" dirty="0">
                <a:solidFill>
                  <a:srgbClr val="141C52"/>
                </a:solidFill>
              </a:rPr>
              <a:t>3</a:t>
            </a:r>
            <a:endParaRPr lang="en-US" sz="1100" dirty="0"/>
          </a:p>
        </p:txBody>
      </p:sp>
      <p:sp>
        <p:nvSpPr>
          <p:cNvPr id="20" name="Text 15"/>
          <p:cNvSpPr txBox="1"/>
          <p:nvPr/>
        </p:nvSpPr>
        <p:spPr>
          <a:xfrm>
            <a:off x="3520440" y="2212848"/>
            <a:ext cx="1463040" cy="274320"/>
          </a:xfrm>
          <a:prstGeom prst="rect">
            <a:avLst/>
          </a:prstGeom>
          <a:noFill/>
          <a:ln/>
        </p:spPr>
        <p:txBody>
          <a:bodyPr wrap="square" lIns="0" tIns="0" rIns="0" bIns="0" rtlCol="0" anchor="t"/>
          <a:lstStyle/>
          <a:p>
            <a:pPr algn="ctr" indent="0" marL="0">
              <a:buNone/>
            </a:pPr>
            <a:r>
              <a:rPr lang="en-US" sz="1300" b="1" dirty="0">
                <a:solidFill>
                  <a:srgbClr val="141C52"/>
                </a:solidFill>
              </a:rPr>
              <a:t>Match the colour</a:t>
            </a:r>
            <a:endParaRPr lang="en-US" sz="1300" dirty="0"/>
          </a:p>
        </p:txBody>
      </p:sp>
      <p:sp>
        <p:nvSpPr>
          <p:cNvPr id="21" name="Text 16"/>
          <p:cNvSpPr txBox="1"/>
          <p:nvPr/>
        </p:nvSpPr>
        <p:spPr>
          <a:xfrm>
            <a:off x="3520440" y="2505456"/>
            <a:ext cx="1463040" cy="548640"/>
          </a:xfrm>
          <a:prstGeom prst="rect">
            <a:avLst/>
          </a:prstGeom>
          <a:noFill/>
          <a:ln/>
        </p:spPr>
        <p:txBody>
          <a:bodyPr wrap="square" lIns="0" tIns="0" rIns="0" bIns="0" rtlCol="0" anchor="t"/>
          <a:lstStyle/>
          <a:p>
            <a:pPr algn="ctr" indent="0" marL="0">
              <a:buNone/>
            </a:pPr>
            <a:r>
              <a:rPr lang="en-US" sz="1100" dirty="0">
                <a:solidFill>
                  <a:srgbClr val="5B6472"/>
                </a:solidFill>
              </a:rPr>
              <a:t>Soft, moderate, hard or very hard</a:t>
            </a:r>
            <a:endParaRPr lang="en-US" sz="1100" dirty="0"/>
          </a:p>
        </p:txBody>
      </p:sp>
      <p:sp>
        <p:nvSpPr>
          <p:cNvPr id="22" name="Shape 17"/>
          <p:cNvSpPr/>
          <p:nvPr/>
        </p:nvSpPr>
        <p:spPr>
          <a:xfrm>
            <a:off x="5486400" y="1554480"/>
            <a:ext cx="566928" cy="566928"/>
          </a:xfrm>
          <a:prstGeom prst="ellipse">
            <a:avLst/>
          </a:prstGeom>
          <a:solidFill>
            <a:srgbClr val="141C52"/>
          </a:solidFill>
          <a:ln/>
        </p:spPr>
      </p:sp>
      <p:pic>
        <p:nvPicPr>
          <p:cNvPr id="23" name="Image 3" descr="preencoded.png">    </p:cNvPr>
          <p:cNvPicPr>
            <a:picLocks noChangeAspect="1"/>
          </p:cNvPicPr>
          <p:nvPr/>
        </p:nvPicPr>
        <p:blipFill>
          <a:blip r:embed="rId4"/>
          <a:stretch>
            <a:fillRect/>
          </a:stretch>
        </p:blipFill>
        <p:spPr>
          <a:xfrm>
            <a:off x="5622463" y="1690543"/>
            <a:ext cx="294803" cy="294803"/>
          </a:xfrm>
          <a:prstGeom prst="rect">
            <a:avLst/>
          </a:prstGeom>
        </p:spPr>
      </p:pic>
      <p:sp>
        <p:nvSpPr>
          <p:cNvPr id="24" name="Shape 18"/>
          <p:cNvSpPr/>
          <p:nvPr/>
        </p:nvSpPr>
        <p:spPr>
          <a:xfrm>
            <a:off x="5925312" y="1481328"/>
            <a:ext cx="274320" cy="274320"/>
          </a:xfrm>
          <a:prstGeom prst="ellipse">
            <a:avLst/>
          </a:prstGeom>
          <a:solidFill>
            <a:srgbClr val="F5A31A"/>
          </a:solidFill>
          <a:ln/>
        </p:spPr>
      </p:sp>
      <p:sp>
        <p:nvSpPr>
          <p:cNvPr id="25" name="Text 19"/>
          <p:cNvSpPr txBox="1"/>
          <p:nvPr/>
        </p:nvSpPr>
        <p:spPr>
          <a:xfrm>
            <a:off x="5925312" y="1481328"/>
            <a:ext cx="274320" cy="274320"/>
          </a:xfrm>
          <a:prstGeom prst="rect">
            <a:avLst/>
          </a:prstGeom>
          <a:noFill/>
          <a:ln/>
        </p:spPr>
        <p:txBody>
          <a:bodyPr wrap="square" lIns="0" tIns="0" rIns="0" bIns="0" rtlCol="0" anchor="ctr"/>
          <a:lstStyle/>
          <a:p>
            <a:pPr algn="ctr" indent="0" marL="0">
              <a:buNone/>
            </a:pPr>
            <a:r>
              <a:rPr lang="en-US" sz="1100" b="1" dirty="0">
                <a:solidFill>
                  <a:srgbClr val="141C52"/>
                </a:solidFill>
              </a:rPr>
              <a:t>4</a:t>
            </a:r>
            <a:endParaRPr lang="en-US" sz="1100" dirty="0"/>
          </a:p>
        </p:txBody>
      </p:sp>
      <p:sp>
        <p:nvSpPr>
          <p:cNvPr id="26" name="Text 20"/>
          <p:cNvSpPr txBox="1"/>
          <p:nvPr/>
        </p:nvSpPr>
        <p:spPr>
          <a:xfrm>
            <a:off x="5029200" y="2212848"/>
            <a:ext cx="1463040" cy="274320"/>
          </a:xfrm>
          <a:prstGeom prst="rect">
            <a:avLst/>
          </a:prstGeom>
          <a:noFill/>
          <a:ln/>
        </p:spPr>
        <p:txBody>
          <a:bodyPr wrap="square" lIns="0" tIns="0" rIns="0" bIns="0" rtlCol="0" anchor="t"/>
          <a:lstStyle/>
          <a:p>
            <a:pPr algn="ctr" indent="0" marL="0">
              <a:buNone/>
            </a:pPr>
            <a:r>
              <a:rPr lang="en-US" sz="1300" b="1" dirty="0">
                <a:solidFill>
                  <a:srgbClr val="141C52"/>
                </a:solidFill>
              </a:rPr>
              <a:t>Scan the QR</a:t>
            </a:r>
            <a:endParaRPr lang="en-US" sz="1300" dirty="0"/>
          </a:p>
        </p:txBody>
      </p:sp>
      <p:sp>
        <p:nvSpPr>
          <p:cNvPr id="27" name="Text 21"/>
          <p:cNvSpPr txBox="1"/>
          <p:nvPr/>
        </p:nvSpPr>
        <p:spPr>
          <a:xfrm>
            <a:off x="5029200" y="2505456"/>
            <a:ext cx="1463040" cy="548640"/>
          </a:xfrm>
          <a:prstGeom prst="rect">
            <a:avLst/>
          </a:prstGeom>
          <a:noFill/>
          <a:ln/>
        </p:spPr>
        <p:txBody>
          <a:bodyPr wrap="square" lIns="0" tIns="0" rIns="0" bIns="0" rtlCol="0" anchor="t"/>
          <a:lstStyle/>
          <a:p>
            <a:pPr algn="ctr" indent="0" marL="0">
              <a:buNone/>
            </a:pPr>
            <a:r>
              <a:rPr lang="en-US" sz="1100" dirty="0">
                <a:solidFill>
                  <a:srgbClr val="5B6472"/>
                </a:solidFill>
              </a:rPr>
              <a:t>Pani Map and tips for your water</a:t>
            </a:r>
            <a:endParaRPr lang="en-US" sz="1100" dirty="0"/>
          </a:p>
        </p:txBody>
      </p:sp>
      <p:pic>
        <p:nvPicPr>
          <p:cNvPr id="28" name="Image 4" descr="C:\Users\Administrator\Desktop\otw\Round2_Submission\deck\assets\chart.png">    </p:cNvPr>
          <p:cNvPicPr>
            <a:picLocks noChangeAspect="1"/>
          </p:cNvPicPr>
          <p:nvPr/>
        </p:nvPicPr>
        <p:blipFill>
          <a:blip r:embed="rId5"/>
          <a:stretch>
            <a:fillRect/>
          </a:stretch>
        </p:blipFill>
        <p:spPr>
          <a:xfrm>
            <a:off x="548640" y="3246120"/>
            <a:ext cx="4114800" cy="1545336"/>
          </a:xfrm>
          <a:prstGeom prst="rect">
            <a:avLst/>
          </a:prstGeom>
        </p:spPr>
      </p:pic>
      <p:sp>
        <p:nvSpPr>
          <p:cNvPr id="29" name="Text 22"/>
          <p:cNvSpPr txBox="1"/>
          <p:nvPr/>
        </p:nvSpPr>
        <p:spPr>
          <a:xfrm>
            <a:off x="548640" y="4818888"/>
            <a:ext cx="4114800" cy="228600"/>
          </a:xfrm>
          <a:prstGeom prst="rect">
            <a:avLst/>
          </a:prstGeom>
          <a:noFill/>
          <a:ln/>
        </p:spPr>
        <p:txBody>
          <a:bodyPr wrap="square" lIns="0" tIns="0" rIns="0" bIns="0" rtlCol="0" anchor="t"/>
          <a:lstStyle/>
          <a:p>
            <a:pPr indent="0" marL="0">
              <a:buNone/>
            </a:pPr>
            <a:r>
              <a:rPr lang="en-US" sz="1000" i="1" dirty="0">
                <a:solidFill>
                  <a:srgbClr val="5B6472"/>
                </a:solidFill>
              </a:rPr>
              <a:t>Illustrative colours; the final chart comes from the strip supplier.</a:t>
            </a:r>
            <a:endParaRPr lang="en-US" sz="1000" dirty="0"/>
          </a:p>
        </p:txBody>
      </p:sp>
      <p:sp>
        <p:nvSpPr>
          <p:cNvPr id="30" name="Shape 23"/>
          <p:cNvSpPr/>
          <p:nvPr/>
        </p:nvSpPr>
        <p:spPr>
          <a:xfrm>
            <a:off x="548640" y="5120640"/>
            <a:ext cx="4114800" cy="777240"/>
          </a:xfrm>
          <a:prstGeom prst="roundRect">
            <a:avLst>
              <a:gd name="adj" fmla="val 9412"/>
            </a:avLst>
          </a:prstGeom>
          <a:solidFill>
            <a:srgbClr val="F3F6FA"/>
          </a:solidFill>
          <a:ln/>
        </p:spPr>
      </p:sp>
      <p:sp>
        <p:nvSpPr>
          <p:cNvPr id="31" name="Text 24"/>
          <p:cNvSpPr txBox="1"/>
          <p:nvPr/>
        </p:nvSpPr>
        <p:spPr>
          <a:xfrm>
            <a:off x="685800" y="5120640"/>
            <a:ext cx="3840480" cy="777240"/>
          </a:xfrm>
          <a:prstGeom prst="rect">
            <a:avLst/>
          </a:prstGeom>
          <a:noFill/>
          <a:ln/>
        </p:spPr>
        <p:txBody>
          <a:bodyPr wrap="square" lIns="0" tIns="0" rIns="0" bIns="0" rtlCol="0" anchor="ctr"/>
          <a:lstStyle/>
          <a:p>
            <a:pPr indent="0" marL="0">
              <a:buNone/>
            </a:pPr>
            <a:r>
              <a:rPr lang="en-US" sz="1100" dirty="0">
                <a:solidFill>
                  <a:srgbClr val="1F2937"/>
                </a:solidFill>
              </a:rPr>
              <a:t>Strip spec: total hardness 0–425 mg/L · individually foil-sealed · 18-month target life · Tk 3 target cost including sleeve (unquoted; planning assumption)</a:t>
            </a:r>
            <a:endParaRPr lang="en-US" sz="1100" dirty="0"/>
          </a:p>
        </p:txBody>
      </p:sp>
      <p:pic>
        <p:nvPicPr>
          <p:cNvPr id="32" name="Image 5" descr="C:\Users\Administrator\Desktop\otw\Round2_Submission\deck\assets\phone.png">    </p:cNvPr>
          <p:cNvPicPr>
            <a:picLocks noChangeAspect="1"/>
          </p:cNvPicPr>
          <p:nvPr/>
        </p:nvPicPr>
        <p:blipFill>
          <a:blip r:embed="rId6"/>
          <a:stretch>
            <a:fillRect/>
          </a:stretch>
        </p:blipFill>
        <p:spPr>
          <a:xfrm>
            <a:off x="4937760" y="3154680"/>
            <a:ext cx="1399032" cy="2697480"/>
          </a:xfrm>
          <a:prstGeom prst="rect">
            <a:avLst/>
          </a:prstGeom>
        </p:spPr>
      </p:pic>
      <p:graphicFrame>
        <p:nvGraphicFramePr>
          <p:cNvPr id="37" name="Table 0"/>
          <p:cNvGraphicFramePr>
            <a:graphicFrameLocks noGrp="1"/>
          </p:cNvGraphicFramePr>
          <p:nvPr>
            <p:extLst>
              <p:ext uri="{D42A27DB-BD31-4B8C-83A1-F6EECF244321}">
                <p14:modId xmlns:p14="http://schemas.microsoft.com/office/powerpoint/2010/main" val="1579011935"/>
              </p:ext>
            </p:extLst>
          </p:nvPr>
        </p:nvGraphicFramePr>
        <p:xfrm>
          <a:off x="6629400" y="1554480"/>
          <a:ext cx="5010912" cy="914400"/>
        </p:xfrm>
        <a:graphic>
          <a:graphicData uri="http://schemas.openxmlformats.org/drawingml/2006/table">
            <a:tbl>
              <a:tblPr/>
              <a:tblGrid>
                <a:gridCol w="1536192"/>
                <a:gridCol w="896112"/>
                <a:gridCol w="914400"/>
                <a:gridCol w="841248"/>
                <a:gridCol w="822960"/>
              </a:tblGrid>
              <a:tr h="365760">
                <a:tc>
                  <a:txBody>
                    <a:bodyPr/>
                    <a:lstStyle/>
                    <a:p>
                      <a:pPr indent="0" marL="0">
                        <a:buNone/>
                      </a:pPr>
                      <a:r>
                        <a:rPr lang="en-US" sz="1100" b="1" dirty="0">
                          <a:solidFill>
                            <a:srgbClr val="FFFFFF"/>
                          </a:solidFill>
                        </a:rPr>
                        <a:t>Feature</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141C52"/>
                    </a:solidFill>
                  </a:tcPr>
                </a:tc>
                <a:tc>
                  <a:txBody>
                    <a:bodyPr/>
                    <a:lstStyle/>
                    <a:p>
                      <a:pPr algn="ctr" indent="0" marL="0">
                        <a:buNone/>
                      </a:pPr>
                      <a:r>
                        <a:rPr lang="en-US" sz="1100" b="1" dirty="0">
                          <a:solidFill>
                            <a:srgbClr val="FFFFFF"/>
                          </a:solidFill>
                        </a:rPr>
                        <a:t>WaterSmart</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141C52"/>
                    </a:solidFill>
                  </a:tcPr>
                </a:tc>
                <a:tc>
                  <a:txBody>
                    <a:bodyPr/>
                    <a:lstStyle/>
                    <a:p>
                      <a:pPr algn="ctr" indent="0" marL="0">
                        <a:buNone/>
                      </a:pPr>
                      <a:r>
                        <a:rPr lang="en-US" sz="1100" b="1" dirty="0">
                          <a:solidFill>
                            <a:srgbClr val="FFFFFF"/>
                          </a:solidFill>
                        </a:rPr>
                        <a:t>Dove HWD (Gulf)</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141C52"/>
                    </a:solidFill>
                  </a:tcPr>
                </a:tc>
                <a:tc>
                  <a:txBody>
                    <a:bodyPr/>
                    <a:lstStyle/>
                    <a:p>
                      <a:pPr algn="ctr" indent="0" marL="0">
                        <a:buNone/>
                      </a:pPr>
                      <a:r>
                        <a:rPr lang="en-US" sz="1100" b="1" dirty="0">
                          <a:solidFill>
                            <a:srgbClr val="FFFFFF"/>
                          </a:solidFill>
                        </a:rPr>
                        <a:t>Naturale core</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141C52"/>
                    </a:solidFill>
                  </a:tcPr>
                </a:tc>
                <a:tc>
                  <a:txBody>
                    <a:bodyPr/>
                    <a:lstStyle/>
                    <a:p>
                      <a:pPr algn="ctr" indent="0" marL="0">
                        <a:buNone/>
                      </a:pPr>
                      <a:r>
                        <a:rPr lang="en-US" sz="1100" b="1" dirty="0">
                          <a:solidFill>
                            <a:srgbClr val="FFFFFF"/>
                          </a:solidFill>
                        </a:rPr>
                        <a:t>Mass brands</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141C52"/>
                    </a:solidFill>
                  </a:tcPr>
                </a:tc>
              </a:tr>
              <a:tr h="365760">
                <a:tc>
                  <a:txBody>
                    <a:bodyPr/>
                    <a:lstStyle/>
                    <a:p>
                      <a:pPr indent="0" marL="0">
                        <a:buNone/>
                      </a:pPr>
                      <a:r>
                        <a:rPr lang="en-US" sz="1100" dirty="0">
                          <a:solidFill>
                            <a:srgbClr val="1F2937"/>
                          </a:solidFill>
                        </a:rPr>
                        <a:t>Mineral chelator</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c>
                  <a:txBody>
                    <a:bodyPr/>
                    <a:lstStyle/>
                    <a:p>
                      <a:pPr algn="ctr" indent="0" marL="0">
                        <a:buNone/>
                      </a:pPr>
                      <a:r>
                        <a:rPr lang="en-US" sz="1100" b="1" dirty="0">
                          <a:solidFill>
                            <a:srgbClr val="0E7FA0"/>
                          </a:solidFill>
                        </a:rPr>
                        <a:t>GLDA</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E3F5FA"/>
                    </a:solidFill>
                  </a:tcPr>
                </a:tc>
                <a:tc>
                  <a:txBody>
                    <a:bodyPr/>
                    <a:lstStyle/>
                    <a:p>
                      <a:pPr algn="ctr" indent="0" marL="0">
                        <a:buNone/>
                      </a:pPr>
                      <a:r>
                        <a:rPr lang="en-US" sz="1100" dirty="0">
                          <a:solidFill>
                            <a:srgbClr val="1F2937"/>
                          </a:solidFill>
                        </a:rPr>
                        <a:t>EDTA</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c>
                  <a:txBody>
                    <a:bodyPr/>
                    <a:lstStyle/>
                    <a:p>
                      <a:pPr algn="ctr" indent="0" marL="0">
                        <a:buNone/>
                      </a:pPr>
                      <a:r>
                        <a:rPr lang="en-US" sz="1100" dirty="0">
                          <a:solidFill>
                            <a:srgbClr val="1F2937"/>
                          </a:solidFill>
                        </a:rPr>
                        <a:t>Not verified</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c>
                  <a:txBody>
                    <a:bodyPr/>
                    <a:lstStyle/>
                    <a:p>
                      <a:pPr algn="ctr" indent="0" marL="0">
                        <a:buNone/>
                      </a:pPr>
                      <a:r>
                        <a:rPr lang="en-US" sz="1100" dirty="0">
                          <a:solidFill>
                            <a:srgbClr val="1F2937"/>
                          </a:solidFill>
                        </a:rPr>
                        <a:t>Not verified</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r>
              <a:tr h="365760">
                <a:tc>
                  <a:txBody>
                    <a:bodyPr/>
                    <a:lstStyle/>
                    <a:p>
                      <a:pPr indent="0" marL="0">
                        <a:buNone/>
                      </a:pPr>
                      <a:r>
                        <a:rPr lang="en-US" sz="1100" dirty="0">
                          <a:solidFill>
                            <a:srgbClr val="1F2937"/>
                          </a:solidFill>
                        </a:rPr>
                        <a:t>Water test in pack</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c>
                  <a:txBody>
                    <a:bodyPr/>
                    <a:lstStyle/>
                    <a:p>
                      <a:pPr algn="ctr" indent="0" marL="0">
                        <a:buNone/>
                      </a:pPr>
                      <a:r>
                        <a:rPr lang="en-US" sz="1100" b="1" dirty="0">
                          <a:solidFill>
                            <a:srgbClr val="0E7FA0"/>
                          </a:solidFill>
                        </a:rPr>
                        <a:t>✓</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E3F5FA"/>
                    </a:solidFill>
                  </a:tcPr>
                </a:tc>
                <a:tc>
                  <a:txBody>
                    <a:bodyPr/>
                    <a:lstStyle/>
                    <a:p>
                      <a:pPr algn="ctr" indent="0" marL="0">
                        <a:buNone/>
                      </a:pPr>
                      <a:r>
                        <a:rPr lang="en-US" sz="1100" dirty="0">
                          <a:solidFill>
                            <a:srgbClr val="1F2937"/>
                          </a:solidFill>
                        </a:rPr>
                        <a:t>✗</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c>
                  <a:txBody>
                    <a:bodyPr/>
                    <a:lstStyle/>
                    <a:p>
                      <a:pPr algn="ctr" indent="0" marL="0">
                        <a:buNone/>
                      </a:pPr>
                      <a:r>
                        <a:rPr lang="en-US" sz="1100" dirty="0">
                          <a:solidFill>
                            <a:srgbClr val="1F2937"/>
                          </a:solidFill>
                        </a:rPr>
                        <a:t>✗</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c>
                  <a:txBody>
                    <a:bodyPr/>
                    <a:lstStyle/>
                    <a:p>
                      <a:pPr algn="ctr" indent="0" marL="0">
                        <a:buNone/>
                      </a:pPr>
                      <a:r>
                        <a:rPr lang="en-US" sz="1100" dirty="0">
                          <a:solidFill>
                            <a:srgbClr val="1F2937"/>
                          </a:solidFill>
                        </a:rPr>
                        <a:t>✗</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r>
              <a:tr h="365760">
                <a:tc>
                  <a:txBody>
                    <a:bodyPr/>
                    <a:lstStyle/>
                    <a:p>
                      <a:pPr indent="0" marL="0">
                        <a:buNone/>
                      </a:pPr>
                      <a:r>
                        <a:rPr lang="en-US" sz="1100" dirty="0">
                          <a:solidFill>
                            <a:srgbClr val="1F2937"/>
                          </a:solidFill>
                        </a:rPr>
                        <a:t>Area water info (QR)</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c>
                  <a:txBody>
                    <a:bodyPr/>
                    <a:lstStyle/>
                    <a:p>
                      <a:pPr algn="ctr" indent="0" marL="0">
                        <a:buNone/>
                      </a:pPr>
                      <a:r>
                        <a:rPr lang="en-US" sz="1100" b="1" dirty="0">
                          <a:solidFill>
                            <a:srgbClr val="0E7FA0"/>
                          </a:solidFill>
                        </a:rPr>
                        <a:t>✓</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E3F5FA"/>
                    </a:solidFill>
                  </a:tcPr>
                </a:tc>
                <a:tc>
                  <a:txBody>
                    <a:bodyPr/>
                    <a:lstStyle/>
                    <a:p>
                      <a:pPr algn="ctr" indent="0" marL="0">
                        <a:buNone/>
                      </a:pPr>
                      <a:r>
                        <a:rPr lang="en-US" sz="1100" dirty="0">
                          <a:solidFill>
                            <a:srgbClr val="1F2937"/>
                          </a:solidFill>
                        </a:rPr>
                        <a:t>✗</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c>
                  <a:txBody>
                    <a:bodyPr/>
                    <a:lstStyle/>
                    <a:p>
                      <a:pPr algn="ctr" indent="0" marL="0">
                        <a:buNone/>
                      </a:pPr>
                      <a:r>
                        <a:rPr lang="en-US" sz="1100" dirty="0">
                          <a:solidFill>
                            <a:srgbClr val="1F2937"/>
                          </a:solidFill>
                        </a:rPr>
                        <a:t>✗</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c>
                  <a:txBody>
                    <a:bodyPr/>
                    <a:lstStyle/>
                    <a:p>
                      <a:pPr algn="ctr" indent="0" marL="0">
                        <a:buNone/>
                      </a:pPr>
                      <a:r>
                        <a:rPr lang="en-US" sz="1100" dirty="0">
                          <a:solidFill>
                            <a:srgbClr val="1F2937"/>
                          </a:solidFill>
                        </a:rPr>
                        <a:t>✗</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r>
              <a:tr h="365760">
                <a:tc>
                  <a:txBody>
                    <a:bodyPr/>
                    <a:lstStyle/>
                    <a:p>
                      <a:pPr indent="0" marL="0">
                        <a:buNone/>
                      </a:pPr>
                      <a:r>
                        <a:rPr lang="en-US" sz="1100" dirty="0">
                          <a:solidFill>
                            <a:srgbClr val="1F2937"/>
                          </a:solidFill>
                        </a:rPr>
                        <a:t>In Bangladesh GT</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c>
                  <a:txBody>
                    <a:bodyPr/>
                    <a:lstStyle/>
                    <a:p>
                      <a:pPr algn="ctr" indent="0" marL="0">
                        <a:buNone/>
                      </a:pPr>
                      <a:r>
                        <a:rPr lang="en-US" sz="1100" b="1" dirty="0">
                          <a:solidFill>
                            <a:srgbClr val="0E7FA0"/>
                          </a:solidFill>
                        </a:rPr>
                        <a:t>Planned</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E3F5FA"/>
                    </a:solidFill>
                  </a:tcPr>
                </a:tc>
                <a:tc>
                  <a:txBody>
                    <a:bodyPr/>
                    <a:lstStyle/>
                    <a:p>
                      <a:pPr algn="ctr" indent="0" marL="0">
                        <a:buNone/>
                      </a:pPr>
                      <a:r>
                        <a:rPr lang="en-US" sz="1100" dirty="0">
                          <a:solidFill>
                            <a:srgbClr val="1F2937"/>
                          </a:solidFill>
                        </a:rPr>
                        <a:t>✗</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c>
                  <a:txBody>
                    <a:bodyPr/>
                    <a:lstStyle/>
                    <a:p>
                      <a:pPr algn="ctr" indent="0" marL="0">
                        <a:buNone/>
                      </a:pPr>
                      <a:r>
                        <a:rPr lang="en-US" sz="1100" dirty="0">
                          <a:solidFill>
                            <a:srgbClr val="1F2937"/>
                          </a:solidFill>
                        </a:rPr>
                        <a:t>✓</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c>
                  <a:txBody>
                    <a:bodyPr/>
                    <a:lstStyle/>
                    <a:p>
                      <a:pPr algn="ctr" indent="0" marL="0">
                        <a:buNone/>
                      </a:pPr>
                      <a:r>
                        <a:rPr lang="en-US" sz="1100" dirty="0">
                          <a:solidFill>
                            <a:srgbClr val="1F2937"/>
                          </a:solidFill>
                        </a:rPr>
                        <a:t>✓</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r>
              <a:tr h="365760">
                <a:tc>
                  <a:txBody>
                    <a:bodyPr/>
                    <a:lstStyle/>
                    <a:p>
                      <a:pPr indent="0" marL="0">
                        <a:buNone/>
                      </a:pPr>
                      <a:r>
                        <a:rPr lang="en-US" sz="1100" dirty="0">
                          <a:solidFill>
                            <a:srgbClr val="1F2937"/>
                          </a:solidFill>
                        </a:rPr>
                        <a:t>Sachet trial</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c>
                  <a:txBody>
                    <a:bodyPr/>
                    <a:lstStyle/>
                    <a:p>
                      <a:pPr algn="ctr" indent="0" marL="0">
                        <a:buNone/>
                      </a:pPr>
                      <a:r>
                        <a:rPr lang="en-US" sz="1100" b="1" dirty="0">
                          <a:solidFill>
                            <a:srgbClr val="0E7FA0"/>
                          </a:solidFill>
                        </a:rPr>
                        <a:t>Tk 3</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E3F5FA"/>
                    </a:solidFill>
                  </a:tcPr>
                </a:tc>
                <a:tc>
                  <a:txBody>
                    <a:bodyPr/>
                    <a:lstStyle/>
                    <a:p>
                      <a:pPr algn="ctr" indent="0" marL="0">
                        <a:buNone/>
                      </a:pPr>
                      <a:r>
                        <a:rPr lang="en-US" sz="1100" dirty="0">
                          <a:solidFill>
                            <a:srgbClr val="1F2937"/>
                          </a:solidFill>
                        </a:rPr>
                        <a:t>✗</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c>
                  <a:txBody>
                    <a:bodyPr/>
                    <a:lstStyle/>
                    <a:p>
                      <a:pPr algn="ctr" indent="0" marL="0">
                        <a:buNone/>
                      </a:pPr>
                      <a:r>
                        <a:rPr lang="en-US" sz="1100" dirty="0">
                          <a:solidFill>
                            <a:srgbClr val="1F2937"/>
                          </a:solidFill>
                        </a:rPr>
                        <a:t>Tk 2</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c>
                  <a:txBody>
                    <a:bodyPr/>
                    <a:lstStyle/>
                    <a:p>
                      <a:pPr algn="ctr" indent="0" marL="0">
                        <a:buNone/>
                      </a:pPr>
                      <a:r>
                        <a:rPr lang="en-US" sz="1100" dirty="0">
                          <a:solidFill>
                            <a:srgbClr val="1F2937"/>
                          </a:solidFill>
                        </a:rPr>
                        <a:t>✓</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r>
              <a:tr h="365760">
                <a:tc>
                  <a:txBody>
                    <a:bodyPr/>
                    <a:lstStyle/>
                    <a:p>
                      <a:pPr indent="0" marL="0">
                        <a:buNone/>
                      </a:pPr>
                      <a:r>
                        <a:rPr lang="en-US" sz="1100" dirty="0">
                          <a:solidFill>
                            <a:srgbClr val="1F2937"/>
                          </a:solidFill>
                        </a:rPr>
                        <a:t>Price per 100 ml</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c>
                  <a:txBody>
                    <a:bodyPr/>
                    <a:lstStyle/>
                    <a:p>
                      <a:pPr algn="ctr" indent="0" marL="0">
                        <a:buNone/>
                      </a:pPr>
                      <a:r>
                        <a:rPr lang="en-US" sz="1100" b="1" dirty="0">
                          <a:solidFill>
                            <a:srgbClr val="0E7FA0"/>
                          </a:solidFill>
                        </a:rPr>
                        <a:t>Tk 106</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E3F5FA"/>
                    </a:solidFill>
                  </a:tcPr>
                </a:tc>
                <a:tc>
                  <a:txBody>
                    <a:bodyPr/>
                    <a:lstStyle/>
                    <a:p>
                      <a:pPr algn="ctr" indent="0" marL="0">
                        <a:buNone/>
                      </a:pPr>
                      <a:r>
                        <a:rPr lang="en-US" sz="1100" dirty="0">
                          <a:solidFill>
                            <a:srgbClr val="1F2937"/>
                          </a:solidFill>
                        </a:rPr>
                        <a:t>Import</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c>
                  <a:txBody>
                    <a:bodyPr/>
                    <a:lstStyle/>
                    <a:p>
                      <a:pPr algn="ctr" indent="0" marL="0">
                        <a:buNone/>
                      </a:pPr>
                      <a:r>
                        <a:rPr lang="en-US" sz="1100" dirty="0">
                          <a:solidFill>
                            <a:srgbClr val="1F2937"/>
                          </a:solidFill>
                        </a:rPr>
                        <a:t>Tk 83</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c>
                  <a:txBody>
                    <a:bodyPr/>
                    <a:lstStyle/>
                    <a:p>
                      <a:pPr algn="ctr" indent="0" marL="0">
                        <a:buNone/>
                      </a:pPr>
                      <a:r>
                        <a:rPr lang="en-US" sz="1100" dirty="0">
                          <a:solidFill>
                            <a:srgbClr val="1F2937"/>
                          </a:solidFill>
                        </a:rPr>
                        <a:t>Tk 103</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r>
            </a:tbl>
          </a:graphicData>
        </a:graphic>
      </p:graphicFrame>
      <p:sp>
        <p:nvSpPr>
          <p:cNvPr id="34" name="Shape 25"/>
          <p:cNvSpPr/>
          <p:nvPr/>
        </p:nvSpPr>
        <p:spPr>
          <a:xfrm>
            <a:off x="6629400" y="4343400"/>
            <a:ext cx="5010912" cy="1554480"/>
          </a:xfrm>
          <a:prstGeom prst="roundRect">
            <a:avLst>
              <a:gd name="adj" fmla="val 4706"/>
            </a:avLst>
          </a:prstGeom>
          <a:solidFill>
            <a:srgbClr val="141C52"/>
          </a:solidFill>
          <a:ln/>
        </p:spPr>
      </p:sp>
      <p:sp>
        <p:nvSpPr>
          <p:cNvPr id="35" name="Text 26"/>
          <p:cNvSpPr txBox="1"/>
          <p:nvPr/>
        </p:nvSpPr>
        <p:spPr>
          <a:xfrm>
            <a:off x="6858000" y="4343400"/>
            <a:ext cx="4572000" cy="1554480"/>
          </a:xfrm>
          <a:prstGeom prst="rect">
            <a:avLst/>
          </a:prstGeom>
          <a:noFill/>
          <a:ln/>
        </p:spPr>
        <p:txBody>
          <a:bodyPr wrap="square" lIns="0" tIns="0" rIns="0" bIns="0" rtlCol="0" anchor="ctr"/>
          <a:lstStyle/>
          <a:p>
            <a:pPr indent="0" marL="0">
              <a:buNone/>
            </a:pPr>
            <a:r>
              <a:rPr lang="en-US" sz="1800" b="1" dirty="0">
                <a:solidFill>
                  <a:srgbClr val="FFFFFF"/>
                </a:solidFill>
              </a:rPr>
              <a:t>See the problem, then solve it, in one pack.</a:t>
            </a:r>
            <a:endParaRPr lang="en-US" sz="1200" dirty="0"/>
          </a:p>
          <a:p>
            <a:pPr indent="0" marL="0">
              <a:buNone/>
            </a:pPr>
            <a:r>
              <a:rPr lang="en-US" sz="1200" dirty="0">
                <a:solidFill>
                  <a:srgbClr val="C9D3F5"/>
                </a:solidFill>
              </a:rPr>
              <a:t>Dove’s Gulf pack shields hair from minerals. WaterSmart also shows people their problem, which turns every bottle into its own product demo.</a:t>
            </a:r>
            <a:endParaRPr lang="en-US" sz="1200" dirty="0"/>
          </a:p>
        </p:txBody>
      </p:sp>
      <p:sp>
        <p:nvSpPr>
          <p:cNvPr id="36" name="Text 27"/>
          <p:cNvSpPr txBox="1"/>
          <p:nvPr/>
        </p:nvSpPr>
        <p:spPr>
          <a:xfrm>
            <a:off x="548640" y="5989320"/>
            <a:ext cx="11091672" cy="365760"/>
          </a:xfrm>
          <a:prstGeom prst="rect">
            <a:avLst/>
          </a:prstGeom>
          <a:noFill/>
          <a:ln/>
        </p:spPr>
        <p:txBody>
          <a:bodyPr wrap="square" lIns="0" tIns="0" rIns="0" bIns="0" rtlCol="0" anchor="b"/>
          <a:lstStyle/>
          <a:p>
            <a:pPr indent="0" marL="0">
              <a:buNone/>
            </a:pPr>
            <a:r>
              <a:rPr lang="en-US" sz="1000" i="1" dirty="0">
                <a:solidFill>
                  <a:srgbClr val="5B6472"/>
                </a:solidFill>
              </a:rPr>
              <a:t>Sources: Dove Arabia product page (ingredients include Disodium EDTA; no in-pack test shown); Chaldal and Arogga, 9 Oct 2026; Hach, Bartovation and Macherey-Nagel sealed hardness-strip specifications.</a:t>
            </a:r>
            <a:endParaRPr lang="en-US" sz="1000" dirty="0"/>
          </a:p>
        </p:txBody>
      </p:sp>
      <p:sp>
        <p:nvSpPr>
          <p:cNvPr id="38"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defRPr>
            </a:lvl1pPr>
          </a:lstStyle>
          <a:p>
            <a:pPr algn="r"/>
            <a:r>
              <a:t>9</a:t>
            </a:r>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548640" y="274320"/>
            <a:ext cx="9601200" cy="256032"/>
          </a:xfrm>
          <a:prstGeom prst="rect">
            <a:avLst/>
          </a:prstGeom>
          <a:noFill/>
          <a:ln/>
        </p:spPr>
        <p:txBody>
          <a:bodyPr wrap="square" lIns="0" tIns="0" rIns="0" bIns="0" rtlCol="0" anchor="t"/>
          <a:lstStyle/>
          <a:p>
            <a:pPr indent="0" marL="0">
              <a:buNone/>
            </a:pPr>
            <a:r>
              <a:rPr lang="en-US" sz="1100" b="1" spc="200" kern="0" dirty="0">
                <a:solidFill>
                  <a:srgbClr val="0E7FA0"/>
                </a:solidFill>
              </a:rPr>
              <a:t>EXECUTION PLAN  ·  MARKETING TASK DEFINITION</a:t>
            </a:r>
            <a:endParaRPr lang="en-US" sz="1100" dirty="0"/>
          </a:p>
        </p:txBody>
      </p:sp>
      <p:sp>
        <p:nvSpPr>
          <p:cNvPr id="3" name="Text 1"/>
          <p:cNvSpPr/>
          <p:nvPr>
            <p:ph idx="102" type="title" hasCustomPrompt="1"/>
          </p:nvPr>
        </p:nvSpPr>
        <p:spPr>
          <a:xfrm>
            <a:off x="548640" y="566928"/>
            <a:ext cx="9875520" cy="868680"/>
          </a:xfrm>
          <a:prstGeom prst="rect">
            <a:avLst/>
          </a:prstGeom>
          <a:noFill/>
          <a:ln/>
        </p:spPr>
        <p:txBody>
          <a:bodyPr wrap="square" lIns="0" tIns="0" rIns="0" bIns="0" rtlCol="0" anchor="t"/>
          <a:lstStyle/>
          <a:p>
            <a:pPr algn="l" indent="0" marL="0">
              <a:buNone/>
            </a:pPr>
            <a:r>
              <a:rPr lang="en-US" sz="2600" b="1" dirty="0">
                <a:solidFill>
                  <a:srgbClr val="141C52"/>
                </a:solidFill>
              </a:rPr>
              <a:t>Campaign “Check your water first”: make the problem visible, then make WaterSmart the answer</a:t>
            </a:r>
            <a:endParaRPr lang="en-US" sz="2600" dirty="0"/>
          </a:p>
        </p:txBody>
      </p:sp>
      <p:sp>
        <p:nvSpPr>
          <p:cNvPr id="4" name="Shape 2"/>
          <p:cNvSpPr/>
          <p:nvPr/>
        </p:nvSpPr>
        <p:spPr>
          <a:xfrm>
            <a:off x="548640" y="1554480"/>
            <a:ext cx="11091672" cy="502920"/>
          </a:xfrm>
          <a:prstGeom prst="roundRect">
            <a:avLst>
              <a:gd name="adj" fmla="val 14545"/>
            </a:avLst>
          </a:prstGeom>
          <a:solidFill>
            <a:srgbClr val="E3F5FA"/>
          </a:solidFill>
          <a:ln/>
        </p:spPr>
        <p:txBody>
          <a:bodyPr/>
          <a:p/>
        </p:txBody>
      </p:sp>
      <p:sp>
        <p:nvSpPr>
          <p:cNvPr id="5" name="Text 3"/>
          <p:cNvSpPr txBox="1"/>
          <p:nvPr/>
        </p:nvSpPr>
        <p:spPr>
          <a:xfrm>
            <a:off x="777240" y="1554480"/>
            <a:ext cx="10698480" cy="502920"/>
          </a:xfrm>
          <a:prstGeom prst="rect">
            <a:avLst/>
          </a:prstGeom>
          <a:noFill/>
          <a:ln/>
        </p:spPr>
        <p:txBody>
          <a:bodyPr wrap="square" lIns="0" tIns="0" rIns="0" bIns="0" rtlCol="0" anchor="ctr"/>
          <a:lstStyle/>
          <a:p>
            <a:pPr indent="0" marL="0">
              <a:buNone/>
            </a:pPr>
            <a:r>
              <a:rPr lang="en-US" sz="1400" b="1" spc="100" kern="0" dirty="0">
                <a:solidFill>
                  <a:srgbClr val="0E7FA0"/>
                </a:solidFill>
              </a:rPr>
              <a:t>BRAND TASK   </a:t>
            </a:r>
            <a:pPr indent="0" marL="0">
              <a:buNone/>
            </a:pPr>
            <a:r>
              <a:rPr lang="en-US" sz="1400" dirty="0">
                <a:solidFill>
                  <a:srgbClr val="141C52"/>
                </a:solidFill>
              </a:rPr>
              <a:t>Build salience for a new need-state, “water hair”, among Movers, then turn curiosity into trial.</a:t>
            </a:r>
            <a:endParaRPr lang="en-US" sz="1400" dirty="0"/>
          </a:p>
        </p:txBody>
      </p:sp>
      <p:sp>
        <p:nvSpPr>
          <p:cNvPr id="6" name="Shape 4"/>
          <p:cNvSpPr/>
          <p:nvPr/>
        </p:nvSpPr>
        <p:spPr>
          <a:xfrm>
            <a:off x="548640" y="2194560"/>
            <a:ext cx="2633472" cy="2011680"/>
          </a:xfrm>
          <a:prstGeom prst="roundRect">
            <a:avLst>
              <a:gd name="adj" fmla="val 3636"/>
            </a:avLst>
          </a:prstGeom>
          <a:solidFill>
            <a:srgbClr val="F3F6FA"/>
          </a:solidFill>
          <a:ln/>
        </p:spPr>
        <p:txBody>
          <a:bodyPr/>
          <a:p/>
        </p:txBody>
      </p:sp>
      <p:sp>
        <p:nvSpPr>
          <p:cNvPr id="7" name="Shape 5"/>
          <p:cNvSpPr/>
          <p:nvPr/>
        </p:nvSpPr>
        <p:spPr>
          <a:xfrm>
            <a:off x="731520" y="2331720"/>
            <a:ext cx="502920" cy="502920"/>
          </a:xfrm>
          <a:prstGeom prst="ellipse">
            <a:avLst/>
          </a:prstGeom>
          <a:solidFill>
            <a:srgbClr val="141C52"/>
          </a:solidFill>
          <a:ln/>
        </p:spPr>
        <p:txBody>
          <a:bodyPr/>
          <a:p/>
        </p:txBody>
      </p:sp>
      <p:pic>
        <p:nvPicPr>
          <p:cNvPr id="8" name="Image 0" descr="preencoded.png">    </p:cNvPr>
          <p:cNvPicPr>
            <a:picLocks noChangeAspect="1"/>
          </p:cNvPicPr>
          <p:nvPr/>
        </p:nvPicPr>
        <p:blipFill>
          <a:blip r:embed="rId1"/>
          <a:stretch>
            <a:fillRect/>
          </a:stretch>
        </p:blipFill>
        <p:spPr>
          <a:xfrm>
            <a:off x="852221" y="2452421"/>
            <a:ext cx="261518" cy="261518"/>
          </a:xfrm>
          <a:prstGeom prst="rect">
            <a:avLst/>
          </a:prstGeom>
        </p:spPr>
      </p:pic>
      <p:sp>
        <p:nvSpPr>
          <p:cNvPr id="9" name="Text 6"/>
          <p:cNvSpPr txBox="1"/>
          <p:nvPr/>
        </p:nvSpPr>
        <p:spPr>
          <a:xfrm>
            <a:off x="1353312" y="2377440"/>
            <a:ext cx="914400" cy="228600"/>
          </a:xfrm>
          <a:prstGeom prst="rect">
            <a:avLst/>
          </a:prstGeom>
          <a:noFill/>
          <a:ln/>
        </p:spPr>
        <p:txBody>
          <a:bodyPr wrap="square" lIns="0" tIns="0" rIns="0" bIns="0" rtlCol="0" anchor="t"/>
          <a:lstStyle/>
          <a:p>
            <a:pPr indent="0" marL="0">
              <a:buNone/>
            </a:pPr>
            <a:r>
              <a:rPr lang="en-US" sz="1100" b="1" spc="100" kern="0" dirty="0">
                <a:solidFill>
                  <a:srgbClr val="141C52"/>
                </a:solidFill>
              </a:rPr>
              <a:t>AWARE</a:t>
            </a:r>
            <a:endParaRPr lang="en-US" sz="1100" dirty="0"/>
          </a:p>
        </p:txBody>
      </p:sp>
      <p:sp>
        <p:nvSpPr>
          <p:cNvPr id="10" name="Shape 7"/>
          <p:cNvSpPr/>
          <p:nvPr/>
        </p:nvSpPr>
        <p:spPr>
          <a:xfrm>
            <a:off x="2267712" y="2377440"/>
            <a:ext cx="777240" cy="246888"/>
          </a:xfrm>
          <a:prstGeom prst="roundRect">
            <a:avLst>
              <a:gd name="adj" fmla="val 29630"/>
            </a:avLst>
          </a:prstGeom>
          <a:solidFill>
            <a:srgbClr val="D5DCE6"/>
          </a:solidFill>
          <a:ln/>
        </p:spPr>
        <p:txBody>
          <a:bodyPr/>
          <a:p/>
        </p:txBody>
      </p:sp>
      <p:sp>
        <p:nvSpPr>
          <p:cNvPr id="11" name="Text 8"/>
          <p:cNvSpPr txBox="1"/>
          <p:nvPr/>
        </p:nvSpPr>
        <p:spPr>
          <a:xfrm>
            <a:off x="2267712" y="2377440"/>
            <a:ext cx="777240" cy="246888"/>
          </a:xfrm>
          <a:prstGeom prst="rect">
            <a:avLst/>
          </a:prstGeom>
          <a:noFill/>
          <a:ln/>
        </p:spPr>
        <p:txBody>
          <a:bodyPr wrap="square" lIns="0" tIns="0" rIns="0" bIns="0" rtlCol="0" anchor="ctr"/>
          <a:lstStyle/>
          <a:p>
            <a:pPr algn="ctr" indent="0" marL="0">
              <a:buNone/>
            </a:pPr>
            <a:r>
              <a:rPr lang="en-US" sz="1000" b="1" dirty="0">
                <a:solidFill>
                  <a:srgbClr val="141C52"/>
                </a:solidFill>
              </a:rPr>
              <a:t>Surround</a:t>
            </a:r>
            <a:endParaRPr lang="en-US" sz="1000" dirty="0"/>
          </a:p>
        </p:txBody>
      </p:sp>
      <p:sp>
        <p:nvSpPr>
          <p:cNvPr id="12" name="Text 9"/>
          <p:cNvSpPr txBox="1"/>
          <p:nvPr/>
        </p:nvSpPr>
        <p:spPr>
          <a:xfrm>
            <a:off x="731520" y="2926080"/>
            <a:ext cx="2286000" cy="292608"/>
          </a:xfrm>
          <a:prstGeom prst="rect">
            <a:avLst/>
          </a:prstGeom>
          <a:noFill/>
          <a:ln/>
        </p:spPr>
        <p:txBody>
          <a:bodyPr wrap="square" lIns="0" tIns="0" rIns="0" bIns="0" rtlCol="0" anchor="t"/>
          <a:lstStyle/>
          <a:p>
            <a:pPr indent="0" marL="0">
              <a:buNone/>
            </a:pPr>
            <a:r>
              <a:rPr lang="en-US" sz="1300" b="1" dirty="0">
                <a:solidFill>
                  <a:srgbClr val="141C52"/>
                </a:solidFill>
              </a:rPr>
              <a:t>#PaniCheckChallenge</a:t>
            </a:r>
            <a:endParaRPr lang="en-US" sz="1300" dirty="0"/>
          </a:p>
        </p:txBody>
      </p:sp>
      <p:sp>
        <p:nvSpPr>
          <p:cNvPr id="13" name="Text 10"/>
          <p:cNvSpPr txBox="1"/>
          <p:nvPr/>
        </p:nvSpPr>
        <p:spPr>
          <a:xfrm>
            <a:off x="731520" y="3218688"/>
            <a:ext cx="2286000" cy="914400"/>
          </a:xfrm>
          <a:prstGeom prst="rect">
            <a:avLst/>
          </a:prstGeom>
          <a:noFill/>
          <a:ln/>
        </p:spPr>
        <p:txBody>
          <a:bodyPr wrap="square" lIns="0" tIns="0" rIns="0" bIns="0" rtlCol="0" anchor="t"/>
          <a:lstStyle/>
          <a:p>
            <a:pPr indent="0" marL="0">
              <a:buNone/>
            </a:pPr>
            <a:r>
              <a:rPr lang="en-US" sz="1100" dirty="0">
                <a:solidFill>
                  <a:srgbClr val="1F2937"/>
                </a:solidFill>
              </a:rPr>
              <a:t>Creators test hall and home water on camera on TikTok, Facebook and YouTube. Influencer-led, like Parachute Advansed Secrets.</a:t>
            </a:r>
            <a:endParaRPr lang="en-US" sz="1100" dirty="0"/>
          </a:p>
        </p:txBody>
      </p:sp>
      <p:sp>
        <p:nvSpPr>
          <p:cNvPr id="14" name="Shape 11"/>
          <p:cNvSpPr/>
          <p:nvPr/>
        </p:nvSpPr>
        <p:spPr>
          <a:xfrm>
            <a:off x="3364992" y="2194560"/>
            <a:ext cx="2633472" cy="2011680"/>
          </a:xfrm>
          <a:prstGeom prst="roundRect">
            <a:avLst>
              <a:gd name="adj" fmla="val 3636"/>
            </a:avLst>
          </a:prstGeom>
          <a:solidFill>
            <a:srgbClr val="F3F6FA"/>
          </a:solidFill>
          <a:ln/>
        </p:spPr>
        <p:txBody>
          <a:bodyPr/>
          <a:p/>
        </p:txBody>
      </p:sp>
      <p:sp>
        <p:nvSpPr>
          <p:cNvPr id="15" name="Shape 12"/>
          <p:cNvSpPr/>
          <p:nvPr/>
        </p:nvSpPr>
        <p:spPr>
          <a:xfrm>
            <a:off x="3547872" y="2331720"/>
            <a:ext cx="502920" cy="502920"/>
          </a:xfrm>
          <a:prstGeom prst="ellipse">
            <a:avLst/>
          </a:prstGeom>
          <a:solidFill>
            <a:srgbClr val="0B6FB8"/>
          </a:solidFill>
          <a:ln/>
        </p:spPr>
        <p:txBody>
          <a:bodyPr/>
          <a:p/>
        </p:txBody>
      </p:sp>
      <p:pic>
        <p:nvPicPr>
          <p:cNvPr id="16" name="Image 1" descr="preencoded.png">    </p:cNvPr>
          <p:cNvPicPr>
            <a:picLocks noChangeAspect="1"/>
          </p:cNvPicPr>
          <p:nvPr/>
        </p:nvPicPr>
        <p:blipFill>
          <a:blip r:embed="rId2"/>
          <a:stretch>
            <a:fillRect/>
          </a:stretch>
        </p:blipFill>
        <p:spPr>
          <a:xfrm>
            <a:off x="3668573" y="2452421"/>
            <a:ext cx="261518" cy="261518"/>
          </a:xfrm>
          <a:prstGeom prst="rect">
            <a:avLst/>
          </a:prstGeom>
        </p:spPr>
      </p:pic>
      <p:sp>
        <p:nvSpPr>
          <p:cNvPr id="17" name="Text 13"/>
          <p:cNvSpPr txBox="1"/>
          <p:nvPr/>
        </p:nvSpPr>
        <p:spPr>
          <a:xfrm>
            <a:off x="4169664" y="2377440"/>
            <a:ext cx="914400" cy="228600"/>
          </a:xfrm>
          <a:prstGeom prst="rect">
            <a:avLst/>
          </a:prstGeom>
          <a:noFill/>
          <a:ln/>
        </p:spPr>
        <p:txBody>
          <a:bodyPr wrap="square" lIns="0" tIns="0" rIns="0" bIns="0" rtlCol="0" anchor="t"/>
          <a:lstStyle/>
          <a:p>
            <a:pPr indent="0" marL="0">
              <a:buNone/>
            </a:pPr>
            <a:r>
              <a:rPr lang="en-US" sz="1100" b="1" spc="100" kern="0" dirty="0">
                <a:solidFill>
                  <a:srgbClr val="0B6FB8"/>
                </a:solidFill>
              </a:rPr>
              <a:t>CONSIDER</a:t>
            </a:r>
            <a:endParaRPr lang="en-US" sz="1100" dirty="0"/>
          </a:p>
        </p:txBody>
      </p:sp>
      <p:sp>
        <p:nvSpPr>
          <p:cNvPr id="18" name="Shape 14"/>
          <p:cNvSpPr/>
          <p:nvPr/>
        </p:nvSpPr>
        <p:spPr>
          <a:xfrm>
            <a:off x="5084064" y="2377440"/>
            <a:ext cx="777240" cy="246888"/>
          </a:xfrm>
          <a:prstGeom prst="roundRect">
            <a:avLst>
              <a:gd name="adj" fmla="val 29630"/>
            </a:avLst>
          </a:prstGeom>
          <a:solidFill>
            <a:srgbClr val="F5A31A"/>
          </a:solidFill>
          <a:ln/>
        </p:spPr>
        <p:txBody>
          <a:bodyPr/>
          <a:p/>
        </p:txBody>
      </p:sp>
      <p:sp>
        <p:nvSpPr>
          <p:cNvPr id="19" name="Text 15"/>
          <p:cNvSpPr txBox="1"/>
          <p:nvPr/>
        </p:nvSpPr>
        <p:spPr>
          <a:xfrm>
            <a:off x="5084064" y="2377440"/>
            <a:ext cx="777240" cy="246888"/>
          </a:xfrm>
          <a:prstGeom prst="rect">
            <a:avLst/>
          </a:prstGeom>
          <a:noFill/>
          <a:ln/>
        </p:spPr>
        <p:txBody>
          <a:bodyPr wrap="square" lIns="0" tIns="0" rIns="0" bIns="0" rtlCol="0" anchor="ctr"/>
          <a:lstStyle/>
          <a:p>
            <a:pPr algn="ctr" indent="0" marL="0">
              <a:buNone/>
            </a:pPr>
            <a:r>
              <a:rPr lang="en-US" sz="1000" b="1" dirty="0">
                <a:solidFill>
                  <a:srgbClr val="141C52"/>
                </a:solidFill>
              </a:rPr>
              <a:t>Unique</a:t>
            </a:r>
            <a:endParaRPr lang="en-US" sz="1000" dirty="0"/>
          </a:p>
        </p:txBody>
      </p:sp>
      <p:sp>
        <p:nvSpPr>
          <p:cNvPr id="20" name="Text 16"/>
          <p:cNvSpPr txBox="1"/>
          <p:nvPr/>
        </p:nvSpPr>
        <p:spPr>
          <a:xfrm>
            <a:off x="3547872" y="2926080"/>
            <a:ext cx="2286000" cy="292608"/>
          </a:xfrm>
          <a:prstGeom prst="rect">
            <a:avLst/>
          </a:prstGeom>
          <a:noFill/>
          <a:ln/>
        </p:spPr>
        <p:txBody>
          <a:bodyPr wrap="square" lIns="0" tIns="0" rIns="0" bIns="0" rtlCol="0" anchor="t"/>
          <a:lstStyle/>
          <a:p>
            <a:pPr indent="0" marL="0">
              <a:buNone/>
            </a:pPr>
            <a:r>
              <a:rPr lang="en-US" sz="1300" b="1" dirty="0">
                <a:solidFill>
                  <a:srgbClr val="141C52"/>
                </a:solidFill>
              </a:rPr>
              <a:t>Pani Map on WhatsApp</a:t>
            </a:r>
            <a:endParaRPr lang="en-US" sz="1300" dirty="0"/>
          </a:p>
        </p:txBody>
      </p:sp>
      <p:sp>
        <p:nvSpPr>
          <p:cNvPr id="21" name="Text 17"/>
          <p:cNvSpPr txBox="1"/>
          <p:nvPr/>
        </p:nvSpPr>
        <p:spPr>
          <a:xfrm>
            <a:off x="3547872" y="3218688"/>
            <a:ext cx="2286000" cy="914400"/>
          </a:xfrm>
          <a:prstGeom prst="rect">
            <a:avLst/>
          </a:prstGeom>
          <a:noFill/>
          <a:ln/>
        </p:spPr>
        <p:txBody>
          <a:bodyPr wrap="square" lIns="0" tIns="0" rIns="0" bIns="0" rtlCol="0" anchor="t"/>
          <a:lstStyle/>
          <a:p>
            <a:pPr indent="0" marL="0">
              <a:buNone/>
            </a:pPr>
            <a:r>
              <a:rPr lang="en-US" sz="1100" dirty="0">
                <a:solidFill>
                  <a:srgbClr val="1F2937"/>
                </a:solidFill>
              </a:rPr>
              <a:t>Scan or message your upazila to see its water history and get a guide to testing your own water.</a:t>
            </a:r>
            <a:endParaRPr lang="en-US" sz="1100" dirty="0"/>
          </a:p>
        </p:txBody>
      </p:sp>
      <p:sp>
        <p:nvSpPr>
          <p:cNvPr id="22" name="Shape 18"/>
          <p:cNvSpPr/>
          <p:nvPr/>
        </p:nvSpPr>
        <p:spPr>
          <a:xfrm>
            <a:off x="6181344" y="2194560"/>
            <a:ext cx="2633472" cy="2011680"/>
          </a:xfrm>
          <a:prstGeom prst="roundRect">
            <a:avLst>
              <a:gd name="adj" fmla="val 3636"/>
            </a:avLst>
          </a:prstGeom>
          <a:solidFill>
            <a:srgbClr val="F3F6FA"/>
          </a:solidFill>
          <a:ln/>
        </p:spPr>
        <p:txBody>
          <a:bodyPr/>
          <a:p/>
        </p:txBody>
      </p:sp>
      <p:sp>
        <p:nvSpPr>
          <p:cNvPr id="23" name="Shape 19"/>
          <p:cNvSpPr/>
          <p:nvPr/>
        </p:nvSpPr>
        <p:spPr>
          <a:xfrm>
            <a:off x="6364224" y="2331720"/>
            <a:ext cx="502920" cy="502920"/>
          </a:xfrm>
          <a:prstGeom prst="ellipse">
            <a:avLst/>
          </a:prstGeom>
          <a:solidFill>
            <a:srgbClr val="12A5C4"/>
          </a:solidFill>
          <a:ln/>
        </p:spPr>
        <p:txBody>
          <a:bodyPr/>
          <a:p/>
        </p:txBody>
      </p:sp>
      <p:pic>
        <p:nvPicPr>
          <p:cNvPr id="24" name="Image 2" descr="preencoded.png">    </p:cNvPr>
          <p:cNvPicPr>
            <a:picLocks noChangeAspect="1"/>
          </p:cNvPicPr>
          <p:nvPr/>
        </p:nvPicPr>
        <p:blipFill>
          <a:blip r:embed="rId3"/>
          <a:stretch>
            <a:fillRect/>
          </a:stretch>
        </p:blipFill>
        <p:spPr>
          <a:xfrm>
            <a:off x="6484925" y="2452421"/>
            <a:ext cx="261518" cy="261518"/>
          </a:xfrm>
          <a:prstGeom prst="rect">
            <a:avLst/>
          </a:prstGeom>
        </p:spPr>
      </p:pic>
      <p:sp>
        <p:nvSpPr>
          <p:cNvPr id="25" name="Text 20"/>
          <p:cNvSpPr txBox="1"/>
          <p:nvPr/>
        </p:nvSpPr>
        <p:spPr>
          <a:xfrm>
            <a:off x="6986016" y="2377440"/>
            <a:ext cx="914400" cy="228600"/>
          </a:xfrm>
          <a:prstGeom prst="rect">
            <a:avLst/>
          </a:prstGeom>
          <a:noFill/>
          <a:ln/>
        </p:spPr>
        <p:txBody>
          <a:bodyPr wrap="square" lIns="0" tIns="0" rIns="0" bIns="0" rtlCol="0" anchor="t"/>
          <a:lstStyle/>
          <a:p>
            <a:pPr indent="0" marL="0">
              <a:buNone/>
            </a:pPr>
            <a:r>
              <a:rPr lang="en-US" sz="1100" b="1" spc="100" kern="0" dirty="0">
                <a:solidFill>
                  <a:srgbClr val="12A5C4"/>
                </a:solidFill>
              </a:rPr>
              <a:t>TRY</a:t>
            </a:r>
            <a:endParaRPr lang="en-US" sz="1100" dirty="0"/>
          </a:p>
        </p:txBody>
      </p:sp>
      <p:sp>
        <p:nvSpPr>
          <p:cNvPr id="26" name="Shape 21"/>
          <p:cNvSpPr/>
          <p:nvPr/>
        </p:nvSpPr>
        <p:spPr>
          <a:xfrm>
            <a:off x="7900416" y="2377440"/>
            <a:ext cx="777240" cy="246888"/>
          </a:xfrm>
          <a:prstGeom prst="roundRect">
            <a:avLst>
              <a:gd name="adj" fmla="val 29630"/>
            </a:avLst>
          </a:prstGeom>
          <a:solidFill>
            <a:srgbClr val="F5A31A"/>
          </a:solidFill>
          <a:ln/>
        </p:spPr>
        <p:txBody>
          <a:bodyPr/>
          <a:p/>
        </p:txBody>
      </p:sp>
      <p:sp>
        <p:nvSpPr>
          <p:cNvPr id="27" name="Text 22"/>
          <p:cNvSpPr txBox="1"/>
          <p:nvPr/>
        </p:nvSpPr>
        <p:spPr>
          <a:xfrm>
            <a:off x="7900416" y="2377440"/>
            <a:ext cx="777240" cy="246888"/>
          </a:xfrm>
          <a:prstGeom prst="rect">
            <a:avLst/>
          </a:prstGeom>
          <a:noFill/>
          <a:ln/>
        </p:spPr>
        <p:txBody>
          <a:bodyPr wrap="square" lIns="0" tIns="0" rIns="0" bIns="0" rtlCol="0" anchor="ctr"/>
          <a:lstStyle/>
          <a:p>
            <a:pPr algn="ctr" indent="0" marL="0">
              <a:buNone/>
            </a:pPr>
            <a:r>
              <a:rPr lang="en-US" sz="1000" b="1" dirty="0">
                <a:solidFill>
                  <a:srgbClr val="141C52"/>
                </a:solidFill>
              </a:rPr>
              <a:t>Unique</a:t>
            </a:r>
            <a:endParaRPr lang="en-US" sz="1000" dirty="0"/>
          </a:p>
        </p:txBody>
      </p:sp>
      <p:sp>
        <p:nvSpPr>
          <p:cNvPr id="28" name="Text 23"/>
          <p:cNvSpPr txBox="1"/>
          <p:nvPr/>
        </p:nvSpPr>
        <p:spPr>
          <a:xfrm>
            <a:off x="6364224" y="2926080"/>
            <a:ext cx="2286000" cy="292608"/>
          </a:xfrm>
          <a:prstGeom prst="rect">
            <a:avLst/>
          </a:prstGeom>
          <a:noFill/>
          <a:ln/>
        </p:spPr>
        <p:txBody>
          <a:bodyPr wrap="square" lIns="0" tIns="0" rIns="0" bIns="0" rtlCol="0" anchor="t"/>
          <a:lstStyle/>
          <a:p>
            <a:pPr indent="0" marL="0">
              <a:buNone/>
            </a:pPr>
            <a:r>
              <a:rPr lang="en-US" sz="1300" b="1" dirty="0">
                <a:solidFill>
                  <a:srgbClr val="141C52"/>
                </a:solidFill>
              </a:rPr>
              <a:t>Campus “Pani Lab”</a:t>
            </a:r>
            <a:endParaRPr lang="en-US" sz="1300" dirty="0"/>
          </a:p>
        </p:txBody>
      </p:sp>
      <p:sp>
        <p:nvSpPr>
          <p:cNvPr id="29" name="Text 24"/>
          <p:cNvSpPr txBox="1"/>
          <p:nvPr/>
        </p:nvSpPr>
        <p:spPr>
          <a:xfrm>
            <a:off x="6364224" y="3218688"/>
            <a:ext cx="2286000" cy="914400"/>
          </a:xfrm>
          <a:prstGeom prst="rect">
            <a:avLst/>
          </a:prstGeom>
          <a:noFill/>
          <a:ln/>
        </p:spPr>
        <p:txBody>
          <a:bodyPr wrap="square" lIns="0" tIns="0" rIns="0" bIns="0" rtlCol="0" anchor="t"/>
          <a:lstStyle/>
          <a:p>
            <a:pPr indent="0" marL="0">
              <a:buNone/>
            </a:pPr>
            <a:r>
              <a:rPr lang="en-US" sz="1100" dirty="0">
                <a:solidFill>
                  <a:srgbClr val="1F2937"/>
                </a:solidFill>
              </a:rPr>
              <a:t>Booths at 30 universities and halls: a free strip test, a same-shampoo foam demo and Tk 3 sachet sampling.</a:t>
            </a:r>
            <a:endParaRPr lang="en-US" sz="1100" dirty="0"/>
          </a:p>
        </p:txBody>
      </p:sp>
      <p:sp>
        <p:nvSpPr>
          <p:cNvPr id="30" name="Shape 25"/>
          <p:cNvSpPr/>
          <p:nvPr/>
        </p:nvSpPr>
        <p:spPr>
          <a:xfrm>
            <a:off x="8997696" y="2194560"/>
            <a:ext cx="2633472" cy="2011680"/>
          </a:xfrm>
          <a:prstGeom prst="roundRect">
            <a:avLst>
              <a:gd name="adj" fmla="val 3636"/>
            </a:avLst>
          </a:prstGeom>
          <a:solidFill>
            <a:srgbClr val="F3F6FA"/>
          </a:solidFill>
          <a:ln/>
        </p:spPr>
        <p:txBody>
          <a:bodyPr/>
          <a:p/>
        </p:txBody>
      </p:sp>
      <p:sp>
        <p:nvSpPr>
          <p:cNvPr id="31" name="Shape 26"/>
          <p:cNvSpPr/>
          <p:nvPr/>
        </p:nvSpPr>
        <p:spPr>
          <a:xfrm>
            <a:off x="9180576" y="2331720"/>
            <a:ext cx="502920" cy="502920"/>
          </a:xfrm>
          <a:prstGeom prst="ellipse">
            <a:avLst/>
          </a:prstGeom>
          <a:solidFill>
            <a:srgbClr val="3E9B3A"/>
          </a:solidFill>
          <a:ln/>
        </p:spPr>
        <p:txBody>
          <a:bodyPr/>
          <a:p/>
        </p:txBody>
      </p:sp>
      <p:pic>
        <p:nvPicPr>
          <p:cNvPr id="32" name="Image 3" descr="preencoded.png">    </p:cNvPr>
          <p:cNvPicPr>
            <a:picLocks noChangeAspect="1"/>
          </p:cNvPicPr>
          <p:nvPr/>
        </p:nvPicPr>
        <p:blipFill>
          <a:blip r:embed="rId4"/>
          <a:stretch>
            <a:fillRect/>
          </a:stretch>
        </p:blipFill>
        <p:spPr>
          <a:xfrm>
            <a:off x="9301277" y="2452421"/>
            <a:ext cx="261518" cy="261518"/>
          </a:xfrm>
          <a:prstGeom prst="rect">
            <a:avLst/>
          </a:prstGeom>
        </p:spPr>
      </p:pic>
      <p:sp>
        <p:nvSpPr>
          <p:cNvPr id="33" name="Text 27"/>
          <p:cNvSpPr txBox="1"/>
          <p:nvPr/>
        </p:nvSpPr>
        <p:spPr>
          <a:xfrm>
            <a:off x="9802368" y="2377440"/>
            <a:ext cx="914400" cy="228600"/>
          </a:xfrm>
          <a:prstGeom prst="rect">
            <a:avLst/>
          </a:prstGeom>
          <a:noFill/>
          <a:ln/>
        </p:spPr>
        <p:txBody>
          <a:bodyPr wrap="square" lIns="0" tIns="0" rIns="0" bIns="0" rtlCol="0" anchor="t"/>
          <a:lstStyle/>
          <a:p>
            <a:pPr indent="0" marL="0">
              <a:buNone/>
            </a:pPr>
            <a:r>
              <a:rPr lang="en-US" sz="1100" b="1" spc="100" kern="0" dirty="0">
                <a:solidFill>
                  <a:srgbClr val="3E9B3A"/>
                </a:solidFill>
              </a:rPr>
              <a:t>REPEAT</a:t>
            </a:r>
            <a:endParaRPr lang="en-US" sz="1100" dirty="0"/>
          </a:p>
        </p:txBody>
      </p:sp>
      <p:sp>
        <p:nvSpPr>
          <p:cNvPr id="34" name="Shape 28"/>
          <p:cNvSpPr/>
          <p:nvPr/>
        </p:nvSpPr>
        <p:spPr>
          <a:xfrm>
            <a:off x="10716768" y="2377440"/>
            <a:ext cx="777240" cy="246888"/>
          </a:xfrm>
          <a:prstGeom prst="roundRect">
            <a:avLst>
              <a:gd name="adj" fmla="val 29630"/>
            </a:avLst>
          </a:prstGeom>
          <a:solidFill>
            <a:srgbClr val="D5DCE6"/>
          </a:solidFill>
          <a:ln/>
        </p:spPr>
        <p:txBody>
          <a:bodyPr/>
          <a:p/>
        </p:txBody>
      </p:sp>
      <p:sp>
        <p:nvSpPr>
          <p:cNvPr id="35" name="Text 29"/>
          <p:cNvSpPr txBox="1"/>
          <p:nvPr/>
        </p:nvSpPr>
        <p:spPr>
          <a:xfrm>
            <a:off x="10716768" y="2377440"/>
            <a:ext cx="777240" cy="246888"/>
          </a:xfrm>
          <a:prstGeom prst="rect">
            <a:avLst/>
          </a:prstGeom>
          <a:noFill/>
          <a:ln/>
        </p:spPr>
        <p:txBody>
          <a:bodyPr wrap="square" lIns="0" tIns="0" rIns="0" bIns="0" rtlCol="0" anchor="ctr"/>
          <a:lstStyle/>
          <a:p>
            <a:pPr algn="ctr" indent="0" marL="0">
              <a:buNone/>
            </a:pPr>
            <a:r>
              <a:rPr lang="en-US" sz="1000" b="1" dirty="0">
                <a:solidFill>
                  <a:srgbClr val="141C52"/>
                </a:solidFill>
              </a:rPr>
              <a:t>Surround</a:t>
            </a:r>
            <a:endParaRPr lang="en-US" sz="1000" dirty="0"/>
          </a:p>
        </p:txBody>
      </p:sp>
      <p:sp>
        <p:nvSpPr>
          <p:cNvPr id="36" name="Text 30"/>
          <p:cNvSpPr txBox="1"/>
          <p:nvPr/>
        </p:nvSpPr>
        <p:spPr>
          <a:xfrm>
            <a:off x="9180576" y="2926080"/>
            <a:ext cx="2286000" cy="292608"/>
          </a:xfrm>
          <a:prstGeom prst="rect">
            <a:avLst/>
          </a:prstGeom>
          <a:noFill/>
          <a:ln/>
        </p:spPr>
        <p:txBody>
          <a:bodyPr wrap="square" lIns="0" tIns="0" rIns="0" bIns="0" rtlCol="0" anchor="t"/>
          <a:lstStyle/>
          <a:p>
            <a:pPr indent="0" marL="0">
              <a:buNone/>
            </a:pPr>
            <a:r>
              <a:rPr lang="en-US" sz="1300" b="1" dirty="0">
                <a:solidFill>
                  <a:srgbClr val="141C52"/>
                </a:solidFill>
              </a:rPr>
              <a:t>Every 340 ml bottle is a demo</a:t>
            </a:r>
            <a:endParaRPr lang="en-US" sz="1300" dirty="0"/>
          </a:p>
        </p:txBody>
      </p:sp>
      <p:sp>
        <p:nvSpPr>
          <p:cNvPr id="37" name="Text 31"/>
          <p:cNvSpPr txBox="1"/>
          <p:nvPr/>
        </p:nvSpPr>
        <p:spPr>
          <a:xfrm>
            <a:off x="9180576" y="3218688"/>
            <a:ext cx="2286000" cy="914400"/>
          </a:xfrm>
          <a:prstGeom prst="rect">
            <a:avLst/>
          </a:prstGeom>
          <a:noFill/>
          <a:ln/>
        </p:spPr>
        <p:txBody>
          <a:bodyPr wrap="square" lIns="0" tIns="0" rIns="0" bIns="0" rtlCol="0" anchor="t"/>
          <a:lstStyle/>
          <a:p>
            <a:pPr indent="0" marL="0">
              <a:buNone/>
            </a:pPr>
            <a:r>
              <a:rPr lang="en-US" sz="1100" dirty="0">
                <a:solidFill>
                  <a:srgbClr val="1F2937"/>
                </a:solidFill>
              </a:rPr>
              <a:t>The in-cap test works at home. E-commerce brand days and bundles; shelf strips with QR codes at cosmetics stores and supermarkets.</a:t>
            </a:r>
            <a:endParaRPr lang="en-US" sz="1100" dirty="0"/>
          </a:p>
        </p:txBody>
      </p:sp>
      <p:sp>
        <p:nvSpPr>
          <p:cNvPr id="38" name="Text 32"/>
          <p:cNvSpPr txBox="1"/>
          <p:nvPr/>
        </p:nvSpPr>
        <p:spPr>
          <a:xfrm>
            <a:off x="548640" y="4343400"/>
            <a:ext cx="3657600" cy="274320"/>
          </a:xfrm>
          <a:prstGeom prst="rect">
            <a:avLst/>
          </a:prstGeom>
          <a:noFill/>
          <a:ln/>
        </p:spPr>
        <p:txBody>
          <a:bodyPr wrap="square" lIns="0" tIns="0" rIns="0" bIns="0" rtlCol="0" anchor="t"/>
          <a:lstStyle/>
          <a:p>
            <a:pPr indent="0" marL="0">
              <a:buNone/>
            </a:pPr>
            <a:r>
              <a:rPr lang="en-US" sz="1200" b="1" dirty="0">
                <a:solidFill>
                  <a:srgbClr val="141C52"/>
                </a:solidFill>
              </a:rPr>
              <a:t>Launch calendar, Year 1</a:t>
            </a:r>
            <a:endParaRPr lang="en-US" sz="1200" dirty="0"/>
          </a:p>
        </p:txBody>
      </p:sp>
      <p:sp>
        <p:nvSpPr>
          <p:cNvPr id="39" name="Shape 33"/>
          <p:cNvSpPr/>
          <p:nvPr/>
        </p:nvSpPr>
        <p:spPr>
          <a:xfrm>
            <a:off x="548640" y="4663440"/>
            <a:ext cx="1627632" cy="1188720"/>
          </a:xfrm>
          <a:prstGeom prst="roundRect">
            <a:avLst>
              <a:gd name="adj" fmla="val 6154"/>
            </a:avLst>
          </a:prstGeom>
          <a:solidFill>
            <a:srgbClr val="F3F6FA"/>
          </a:solidFill>
          <a:ln/>
        </p:spPr>
        <p:txBody>
          <a:bodyPr/>
          <a:p/>
        </p:txBody>
      </p:sp>
      <p:sp>
        <p:nvSpPr>
          <p:cNvPr id="40" name="Text 34"/>
          <p:cNvSpPr txBox="1"/>
          <p:nvPr/>
        </p:nvSpPr>
        <p:spPr>
          <a:xfrm>
            <a:off x="658368" y="4736592"/>
            <a:ext cx="1426464" cy="1051560"/>
          </a:xfrm>
          <a:prstGeom prst="rect">
            <a:avLst/>
          </a:prstGeom>
          <a:noFill/>
          <a:ln/>
        </p:spPr>
        <p:txBody>
          <a:bodyPr wrap="square" lIns="0" tIns="0" rIns="0" bIns="0" rtlCol="0" anchor="t"/>
          <a:lstStyle/>
          <a:p>
            <a:pPr indent="0" marL="0">
              <a:buNone/>
            </a:pPr>
            <a:r>
              <a:rPr lang="en-US" sz="1400" b="1" dirty="0">
                <a:solidFill>
                  <a:srgbClr val="141C52"/>
                </a:solidFill>
              </a:rPr>
              <a:t>Q1</a:t>
            </a:r>
            <a:endParaRPr lang="en-US" sz="1200" dirty="0"/>
          </a:p>
          <a:p>
            <a:pPr indent="0" marL="0">
              <a:buNone/>
            </a:pPr>
            <a:r>
              <a:rPr lang="en-US" sz="1100" dirty="0">
                <a:solidFill>
                  <a:srgbClr val="1F2937"/>
                </a:solidFill>
              </a:rPr>
              <a:t>Pipeline fill and teaser</a:t>
            </a:r>
            <a:endParaRPr lang="en-US" sz="1200" dirty="0"/>
          </a:p>
        </p:txBody>
      </p:sp>
      <p:sp>
        <p:nvSpPr>
          <p:cNvPr id="41" name="Shape 35"/>
          <p:cNvSpPr/>
          <p:nvPr/>
        </p:nvSpPr>
        <p:spPr>
          <a:xfrm>
            <a:off x="2267712" y="4663440"/>
            <a:ext cx="1627632" cy="1188720"/>
          </a:xfrm>
          <a:prstGeom prst="roundRect">
            <a:avLst>
              <a:gd name="adj" fmla="val 6154"/>
            </a:avLst>
          </a:prstGeom>
          <a:solidFill>
            <a:srgbClr val="FFF4E0"/>
          </a:solidFill>
          <a:ln/>
        </p:spPr>
        <p:txBody>
          <a:bodyPr/>
          <a:p/>
        </p:txBody>
      </p:sp>
      <p:sp>
        <p:nvSpPr>
          <p:cNvPr id="42" name="Text 36"/>
          <p:cNvSpPr txBox="1"/>
          <p:nvPr/>
        </p:nvSpPr>
        <p:spPr>
          <a:xfrm>
            <a:off x="2377440" y="4736592"/>
            <a:ext cx="1426464" cy="1051560"/>
          </a:xfrm>
          <a:prstGeom prst="rect">
            <a:avLst/>
          </a:prstGeom>
          <a:noFill/>
          <a:ln/>
        </p:spPr>
        <p:txBody>
          <a:bodyPr wrap="square" lIns="0" tIns="0" rIns="0" bIns="0" rtlCol="0" anchor="t"/>
          <a:lstStyle/>
          <a:p>
            <a:pPr indent="0" marL="0">
              <a:buNone/>
            </a:pPr>
            <a:r>
              <a:rPr lang="en-US" sz="1400" b="1" dirty="0">
                <a:solidFill>
                  <a:srgbClr val="141C52"/>
                </a:solidFill>
              </a:rPr>
              <a:t>Q2</a:t>
            </a:r>
            <a:endParaRPr lang="en-US" sz="1200" dirty="0"/>
          </a:p>
          <a:p>
            <a:pPr indent="0" marL="0">
              <a:buNone/>
            </a:pPr>
            <a:r>
              <a:rPr lang="en-US" sz="1100" dirty="0">
                <a:solidFill>
                  <a:srgbClr val="1F2937"/>
                </a:solidFill>
              </a:rPr>
              <a:t>Campus blitz at session start</a:t>
            </a:r>
            <a:endParaRPr lang="en-US" sz="1200" dirty="0"/>
          </a:p>
        </p:txBody>
      </p:sp>
      <p:sp>
        <p:nvSpPr>
          <p:cNvPr id="43" name="Shape 37"/>
          <p:cNvSpPr/>
          <p:nvPr/>
        </p:nvSpPr>
        <p:spPr>
          <a:xfrm>
            <a:off x="3986784" y="4663440"/>
            <a:ext cx="1627632" cy="1188720"/>
          </a:xfrm>
          <a:prstGeom prst="roundRect">
            <a:avLst>
              <a:gd name="adj" fmla="val 6154"/>
            </a:avLst>
          </a:prstGeom>
          <a:solidFill>
            <a:srgbClr val="F3F6FA"/>
          </a:solidFill>
          <a:ln/>
        </p:spPr>
        <p:txBody>
          <a:bodyPr/>
          <a:p/>
        </p:txBody>
      </p:sp>
      <p:sp>
        <p:nvSpPr>
          <p:cNvPr id="44" name="Text 38"/>
          <p:cNvSpPr txBox="1"/>
          <p:nvPr/>
        </p:nvSpPr>
        <p:spPr>
          <a:xfrm>
            <a:off x="4096512" y="4736592"/>
            <a:ext cx="1426464" cy="1051560"/>
          </a:xfrm>
          <a:prstGeom prst="rect">
            <a:avLst/>
          </a:prstGeom>
          <a:noFill/>
          <a:ln/>
        </p:spPr>
        <p:txBody>
          <a:bodyPr wrap="square" lIns="0" tIns="0" rIns="0" bIns="0" rtlCol="0" anchor="t"/>
          <a:lstStyle/>
          <a:p>
            <a:pPr indent="0" marL="0">
              <a:buNone/>
            </a:pPr>
            <a:r>
              <a:rPr lang="en-US" sz="1400" b="1" dirty="0">
                <a:solidFill>
                  <a:srgbClr val="141C52"/>
                </a:solidFill>
              </a:rPr>
              <a:t>Q3</a:t>
            </a:r>
            <a:endParaRPr lang="en-US" sz="1200" dirty="0"/>
          </a:p>
          <a:p>
            <a:pPr indent="0" marL="0">
              <a:buNone/>
            </a:pPr>
            <a:r>
              <a:rPr lang="en-US" sz="1100" dirty="0">
                <a:solidFill>
                  <a:srgbClr val="1F2937"/>
                </a:solidFill>
              </a:rPr>
              <a:t>Creators and e-commerce brand days</a:t>
            </a:r>
            <a:endParaRPr lang="en-US" sz="1200" dirty="0"/>
          </a:p>
        </p:txBody>
      </p:sp>
      <p:sp>
        <p:nvSpPr>
          <p:cNvPr id="45" name="Shape 39"/>
          <p:cNvSpPr/>
          <p:nvPr/>
        </p:nvSpPr>
        <p:spPr>
          <a:xfrm>
            <a:off x="5705856" y="4663440"/>
            <a:ext cx="1627632" cy="1188720"/>
          </a:xfrm>
          <a:prstGeom prst="roundRect">
            <a:avLst>
              <a:gd name="adj" fmla="val 6154"/>
            </a:avLst>
          </a:prstGeom>
          <a:solidFill>
            <a:srgbClr val="F3F6FA"/>
          </a:solidFill>
          <a:ln/>
        </p:spPr>
        <p:txBody>
          <a:bodyPr/>
          <a:p/>
        </p:txBody>
      </p:sp>
      <p:sp>
        <p:nvSpPr>
          <p:cNvPr id="46" name="Text 40"/>
          <p:cNvSpPr txBox="1"/>
          <p:nvPr/>
        </p:nvSpPr>
        <p:spPr>
          <a:xfrm>
            <a:off x="5815584" y="4736592"/>
            <a:ext cx="1426464" cy="1051560"/>
          </a:xfrm>
          <a:prstGeom prst="rect">
            <a:avLst/>
          </a:prstGeom>
          <a:noFill/>
          <a:ln/>
        </p:spPr>
        <p:txBody>
          <a:bodyPr wrap="square" lIns="0" tIns="0" rIns="0" bIns="0" rtlCol="0" anchor="t"/>
          <a:lstStyle/>
          <a:p>
            <a:pPr indent="0" marL="0">
              <a:buNone/>
            </a:pPr>
            <a:r>
              <a:rPr lang="en-US" sz="1400" b="1" dirty="0">
                <a:solidFill>
                  <a:srgbClr val="141C52"/>
                </a:solidFill>
              </a:rPr>
              <a:t>Q4</a:t>
            </a:r>
            <a:endParaRPr lang="en-US" sz="1200" dirty="0"/>
          </a:p>
          <a:p>
            <a:pPr indent="0" marL="0">
              <a:buNone/>
            </a:pPr>
            <a:r>
              <a:rPr lang="en-US" sz="1100" dirty="0">
                <a:solidFill>
                  <a:srgbClr val="1F2937"/>
                </a:solidFill>
              </a:rPr>
              <a:t>Rural sachet push and haat activations</a:t>
            </a:r>
            <a:endParaRPr lang="en-US" sz="1200" dirty="0"/>
          </a:p>
        </p:txBody>
      </p:sp>
      <p:sp>
        <p:nvSpPr>
          <p:cNvPr id="47" name="Shape 41"/>
          <p:cNvSpPr/>
          <p:nvPr/>
        </p:nvSpPr>
        <p:spPr>
          <a:xfrm>
            <a:off x="7543800" y="4343400"/>
            <a:ext cx="4096512" cy="1508760"/>
          </a:xfrm>
          <a:prstGeom prst="roundRect">
            <a:avLst>
              <a:gd name="adj" fmla="val 4848"/>
            </a:avLst>
          </a:prstGeom>
          <a:solidFill>
            <a:srgbClr val="F3F6FA"/>
          </a:solidFill>
          <a:ln/>
        </p:spPr>
        <p:txBody>
          <a:bodyPr/>
          <a:p/>
        </p:txBody>
      </p:sp>
      <p:sp>
        <p:nvSpPr>
          <p:cNvPr id="48" name="Text 42"/>
          <p:cNvSpPr txBox="1"/>
          <p:nvPr/>
        </p:nvSpPr>
        <p:spPr>
          <a:xfrm>
            <a:off x="7726680" y="4407408"/>
            <a:ext cx="3749040" cy="274320"/>
          </a:xfrm>
          <a:prstGeom prst="rect">
            <a:avLst/>
          </a:prstGeom>
          <a:noFill/>
          <a:ln/>
        </p:spPr>
        <p:txBody>
          <a:bodyPr wrap="square" lIns="0" tIns="0" rIns="0" bIns="0" rtlCol="0" anchor="t"/>
          <a:lstStyle/>
          <a:p>
            <a:pPr indent="0" marL="0">
              <a:buNone/>
            </a:pPr>
            <a:r>
              <a:rPr lang="en-US" sz="1300" b="1" dirty="0">
                <a:solidFill>
                  <a:srgbClr val="141C52"/>
                </a:solidFill>
              </a:rPr>
              <a:t>Year-1 A&amp;P: Tk 4.5 Cr</a:t>
            </a:r>
            <a:endParaRPr lang="en-US" sz="1300" dirty="0"/>
          </a:p>
        </p:txBody>
      </p:sp>
      <p:sp>
        <p:nvSpPr>
          <p:cNvPr id="49" name="Text 43"/>
          <p:cNvSpPr txBox="1"/>
          <p:nvPr/>
        </p:nvSpPr>
        <p:spPr>
          <a:xfrm>
            <a:off x="7726680" y="4754880"/>
            <a:ext cx="1554480" cy="228600"/>
          </a:xfrm>
          <a:prstGeom prst="rect">
            <a:avLst/>
          </a:prstGeom>
          <a:noFill/>
          <a:ln/>
        </p:spPr>
        <p:txBody>
          <a:bodyPr wrap="square" lIns="0" tIns="0" rIns="0" bIns="0" rtlCol="0" anchor="ctr"/>
          <a:lstStyle/>
          <a:p>
            <a:pPr indent="0" marL="0">
              <a:buNone/>
            </a:pPr>
            <a:r>
              <a:rPr lang="en-US" sz="1100" dirty="0">
                <a:solidFill>
                  <a:srgbClr val="1F2937"/>
                </a:solidFill>
              </a:rPr>
              <a:t>Digital and creators</a:t>
            </a:r>
            <a:endParaRPr lang="en-US" sz="1100" dirty="0"/>
          </a:p>
        </p:txBody>
      </p:sp>
      <p:sp>
        <p:nvSpPr>
          <p:cNvPr id="50" name="Shape 44"/>
          <p:cNvSpPr/>
          <p:nvPr/>
        </p:nvSpPr>
        <p:spPr>
          <a:xfrm>
            <a:off x="9281160" y="4791456"/>
            <a:ext cx="1645920" cy="164592"/>
          </a:xfrm>
          <a:prstGeom prst="rect">
            <a:avLst/>
          </a:prstGeom>
          <a:solidFill>
            <a:srgbClr val="12A5C4"/>
          </a:solidFill>
          <a:ln/>
        </p:spPr>
        <p:txBody>
          <a:bodyPr/>
          <a:p/>
        </p:txBody>
      </p:sp>
      <p:sp>
        <p:nvSpPr>
          <p:cNvPr id="51" name="Text 45"/>
          <p:cNvSpPr txBox="1"/>
          <p:nvPr/>
        </p:nvSpPr>
        <p:spPr>
          <a:xfrm>
            <a:off x="10972800" y="4754880"/>
            <a:ext cx="1371600" cy="228600"/>
          </a:xfrm>
          <a:prstGeom prst="rect">
            <a:avLst/>
          </a:prstGeom>
          <a:noFill/>
          <a:ln/>
        </p:spPr>
        <p:txBody>
          <a:bodyPr wrap="square" lIns="0" tIns="0" rIns="0" bIns="0" rtlCol="0" anchor="ctr"/>
          <a:lstStyle/>
          <a:p>
            <a:pPr indent="0" marL="0">
              <a:buNone/>
            </a:pPr>
            <a:r>
              <a:rPr lang="en-US" sz="1000" dirty="0">
                <a:solidFill>
                  <a:srgbClr val="5B6472"/>
                </a:solidFill>
              </a:rPr>
              <a:t>40% · Tk 1.80 Cr</a:t>
            </a:r>
            <a:endParaRPr lang="en-US" sz="1000" dirty="0"/>
          </a:p>
        </p:txBody>
      </p:sp>
      <p:sp>
        <p:nvSpPr>
          <p:cNvPr id="52" name="Text 46"/>
          <p:cNvSpPr txBox="1"/>
          <p:nvPr/>
        </p:nvSpPr>
        <p:spPr>
          <a:xfrm>
            <a:off x="7726680" y="5020056"/>
            <a:ext cx="1554480" cy="228600"/>
          </a:xfrm>
          <a:prstGeom prst="rect">
            <a:avLst/>
          </a:prstGeom>
          <a:noFill/>
          <a:ln/>
        </p:spPr>
        <p:txBody>
          <a:bodyPr wrap="square" lIns="0" tIns="0" rIns="0" bIns="0" rtlCol="0" anchor="ctr"/>
          <a:lstStyle/>
          <a:p>
            <a:pPr indent="0" marL="0">
              <a:buNone/>
            </a:pPr>
            <a:r>
              <a:rPr lang="en-US" sz="1100" dirty="0">
                <a:solidFill>
                  <a:srgbClr val="1F2937"/>
                </a:solidFill>
              </a:rPr>
              <a:t>Activation</a:t>
            </a:r>
            <a:endParaRPr lang="en-US" sz="1100" dirty="0"/>
          </a:p>
        </p:txBody>
      </p:sp>
      <p:sp>
        <p:nvSpPr>
          <p:cNvPr id="53" name="Shape 47"/>
          <p:cNvSpPr/>
          <p:nvPr/>
        </p:nvSpPr>
        <p:spPr>
          <a:xfrm>
            <a:off x="9281160" y="5056632"/>
            <a:ext cx="1234440" cy="164592"/>
          </a:xfrm>
          <a:prstGeom prst="rect">
            <a:avLst/>
          </a:prstGeom>
          <a:solidFill>
            <a:srgbClr val="12A5C4"/>
          </a:solidFill>
          <a:ln/>
        </p:spPr>
        <p:txBody>
          <a:bodyPr/>
          <a:p/>
        </p:txBody>
      </p:sp>
      <p:sp>
        <p:nvSpPr>
          <p:cNvPr id="54" name="Text 48"/>
          <p:cNvSpPr txBox="1"/>
          <p:nvPr/>
        </p:nvSpPr>
        <p:spPr>
          <a:xfrm>
            <a:off x="10561320" y="5020056"/>
            <a:ext cx="1371600" cy="228600"/>
          </a:xfrm>
          <a:prstGeom prst="rect">
            <a:avLst/>
          </a:prstGeom>
          <a:noFill/>
          <a:ln/>
        </p:spPr>
        <p:txBody>
          <a:bodyPr wrap="square" lIns="0" tIns="0" rIns="0" bIns="0" rtlCol="0" anchor="ctr"/>
          <a:lstStyle/>
          <a:p>
            <a:pPr indent="0" marL="0">
              <a:buNone/>
            </a:pPr>
            <a:r>
              <a:rPr lang="en-US" sz="1000" dirty="0">
                <a:solidFill>
                  <a:srgbClr val="5B6472"/>
                </a:solidFill>
              </a:rPr>
              <a:t>30% · Tk 1.35 Cr</a:t>
            </a:r>
            <a:endParaRPr lang="en-US" sz="1000" dirty="0"/>
          </a:p>
        </p:txBody>
      </p:sp>
      <p:sp>
        <p:nvSpPr>
          <p:cNvPr id="55" name="Text 49"/>
          <p:cNvSpPr txBox="1"/>
          <p:nvPr/>
        </p:nvSpPr>
        <p:spPr>
          <a:xfrm>
            <a:off x="7726680" y="5285232"/>
            <a:ext cx="1554480" cy="228600"/>
          </a:xfrm>
          <a:prstGeom prst="rect">
            <a:avLst/>
          </a:prstGeom>
          <a:noFill/>
          <a:ln/>
        </p:spPr>
        <p:txBody>
          <a:bodyPr wrap="square" lIns="0" tIns="0" rIns="0" bIns="0" rtlCol="0" anchor="ctr"/>
          <a:lstStyle/>
          <a:p>
            <a:pPr indent="0" marL="0">
              <a:buNone/>
            </a:pPr>
            <a:r>
              <a:rPr lang="en-US" sz="1100" dirty="0">
                <a:solidFill>
                  <a:srgbClr val="1F2937"/>
                </a:solidFill>
              </a:rPr>
              <a:t>Retail visibility</a:t>
            </a:r>
            <a:endParaRPr lang="en-US" sz="1100" dirty="0"/>
          </a:p>
        </p:txBody>
      </p:sp>
      <p:sp>
        <p:nvSpPr>
          <p:cNvPr id="56" name="Shape 50"/>
          <p:cNvSpPr/>
          <p:nvPr/>
        </p:nvSpPr>
        <p:spPr>
          <a:xfrm>
            <a:off x="9281160" y="5321808"/>
            <a:ext cx="822960" cy="164592"/>
          </a:xfrm>
          <a:prstGeom prst="rect">
            <a:avLst/>
          </a:prstGeom>
          <a:solidFill>
            <a:srgbClr val="12A5C4"/>
          </a:solidFill>
          <a:ln/>
        </p:spPr>
        <p:txBody>
          <a:bodyPr/>
          <a:p/>
        </p:txBody>
      </p:sp>
      <p:sp>
        <p:nvSpPr>
          <p:cNvPr id="57" name="Text 51"/>
          <p:cNvSpPr txBox="1"/>
          <p:nvPr/>
        </p:nvSpPr>
        <p:spPr>
          <a:xfrm>
            <a:off x="10149840" y="5285232"/>
            <a:ext cx="1371600" cy="228600"/>
          </a:xfrm>
          <a:prstGeom prst="rect">
            <a:avLst/>
          </a:prstGeom>
          <a:noFill/>
          <a:ln/>
        </p:spPr>
        <p:txBody>
          <a:bodyPr wrap="square" lIns="0" tIns="0" rIns="0" bIns="0" rtlCol="0" anchor="ctr"/>
          <a:lstStyle/>
          <a:p>
            <a:pPr indent="0" marL="0">
              <a:buNone/>
            </a:pPr>
            <a:r>
              <a:rPr lang="en-US" sz="1000" dirty="0">
                <a:solidFill>
                  <a:srgbClr val="5B6472"/>
                </a:solidFill>
              </a:rPr>
              <a:t>20% · Tk 0.90 Cr</a:t>
            </a:r>
            <a:endParaRPr lang="en-US" sz="1000" dirty="0"/>
          </a:p>
        </p:txBody>
      </p:sp>
      <p:sp>
        <p:nvSpPr>
          <p:cNvPr id="58" name="Text 52"/>
          <p:cNvSpPr txBox="1"/>
          <p:nvPr/>
        </p:nvSpPr>
        <p:spPr>
          <a:xfrm>
            <a:off x="7726680" y="5550408"/>
            <a:ext cx="1554480" cy="228600"/>
          </a:xfrm>
          <a:prstGeom prst="rect">
            <a:avLst/>
          </a:prstGeom>
          <a:noFill/>
          <a:ln/>
        </p:spPr>
        <p:txBody>
          <a:bodyPr wrap="square" lIns="0" tIns="0" rIns="0" bIns="0" rtlCol="0" anchor="ctr"/>
          <a:lstStyle/>
          <a:p>
            <a:pPr indent="0" marL="0">
              <a:buNone/>
            </a:pPr>
            <a:r>
              <a:rPr lang="en-US" sz="1100" dirty="0">
                <a:solidFill>
                  <a:srgbClr val="1F2937"/>
                </a:solidFill>
              </a:rPr>
              <a:t>PR and other</a:t>
            </a:r>
            <a:endParaRPr lang="en-US" sz="1100" dirty="0"/>
          </a:p>
        </p:txBody>
      </p:sp>
      <p:sp>
        <p:nvSpPr>
          <p:cNvPr id="59" name="Shape 53"/>
          <p:cNvSpPr/>
          <p:nvPr/>
        </p:nvSpPr>
        <p:spPr>
          <a:xfrm>
            <a:off x="9281160" y="5586984"/>
            <a:ext cx="411480" cy="164592"/>
          </a:xfrm>
          <a:prstGeom prst="rect">
            <a:avLst/>
          </a:prstGeom>
          <a:solidFill>
            <a:srgbClr val="12A5C4"/>
          </a:solidFill>
          <a:ln/>
        </p:spPr>
        <p:txBody>
          <a:bodyPr/>
          <a:p/>
        </p:txBody>
      </p:sp>
      <p:sp>
        <p:nvSpPr>
          <p:cNvPr id="60" name="Text 54"/>
          <p:cNvSpPr txBox="1"/>
          <p:nvPr/>
        </p:nvSpPr>
        <p:spPr>
          <a:xfrm>
            <a:off x="9738360" y="5550408"/>
            <a:ext cx="1371600" cy="228600"/>
          </a:xfrm>
          <a:prstGeom prst="rect">
            <a:avLst/>
          </a:prstGeom>
          <a:noFill/>
          <a:ln/>
        </p:spPr>
        <p:txBody>
          <a:bodyPr wrap="square" lIns="0" tIns="0" rIns="0" bIns="0" rtlCol="0" anchor="ctr"/>
          <a:lstStyle/>
          <a:p>
            <a:pPr indent="0" marL="0">
              <a:buNone/>
            </a:pPr>
            <a:r>
              <a:rPr lang="en-US" sz="1000" dirty="0">
                <a:solidFill>
                  <a:srgbClr val="5B6472"/>
                </a:solidFill>
              </a:rPr>
              <a:t>10% · Tk 0.45 Cr</a:t>
            </a:r>
            <a:endParaRPr lang="en-US" sz="1000" dirty="0"/>
          </a:p>
        </p:txBody>
      </p:sp>
      <p:sp>
        <p:nvSpPr>
          <p:cNvPr id="61" name="Text 55"/>
          <p:cNvSpPr txBox="1"/>
          <p:nvPr/>
        </p:nvSpPr>
        <p:spPr>
          <a:xfrm>
            <a:off x="548640" y="5989320"/>
            <a:ext cx="11091672" cy="365760"/>
          </a:xfrm>
          <a:prstGeom prst="rect">
            <a:avLst/>
          </a:prstGeom>
          <a:noFill/>
          <a:ln/>
        </p:spPr>
        <p:txBody>
          <a:bodyPr wrap="square" lIns="0" tIns="0" rIns="0" bIns="0" rtlCol="0" anchor="b"/>
          <a:lstStyle/>
          <a:p>
            <a:pPr indent="0" marL="0">
              <a:buNone/>
            </a:pPr>
            <a:r>
              <a:rPr lang="en-US" sz="1000" i="1" dirty="0">
                <a:solidFill>
                  <a:srgbClr val="5B6472"/>
                </a:solidFill>
              </a:rPr>
              <a:t>KPIs: spontaneous awareness among Movers · consideration · strips shipped (1.5M in three years) · trial · rate of sale. Framework: Marketing masterclass (unique and surround touchpoints). Budget split is a planning assumption.</a:t>
            </a:r>
            <a:endParaRPr lang="en-US" sz="1000" dirty="0"/>
          </a:p>
        </p:txBody>
      </p:sp>
      <p:sp>
        <p:nvSpPr>
          <p:cNvPr id="62"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defRPr>
            </a:lvl1pPr>
          </a:lstStyle>
          <a:p>
            <a:pPr algn="r"/>
            <a:r>
              <a:t>10</a:t>
            </a:r>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548640" y="274320"/>
            <a:ext cx="9601200" cy="256032"/>
          </a:xfrm>
          <a:prstGeom prst="rect">
            <a:avLst/>
          </a:prstGeom>
          <a:noFill/>
          <a:ln/>
        </p:spPr>
        <p:txBody>
          <a:bodyPr wrap="square" lIns="0" tIns="0" rIns="0" bIns="0" rtlCol="0" anchor="t"/>
          <a:lstStyle/>
          <a:p>
            <a:pPr indent="0" marL="0">
              <a:buNone/>
            </a:pPr>
            <a:r>
              <a:rPr lang="en-US" sz="1100" b="1" spc="200" kern="0" dirty="0">
                <a:solidFill>
                  <a:srgbClr val="0E7FA0"/>
                </a:solidFill>
              </a:rPr>
              <a:t>EXECUTION PLAN  ·  SALES STRATEGY</a:t>
            </a:r>
            <a:endParaRPr lang="en-US" sz="1100" dirty="0"/>
          </a:p>
        </p:txBody>
      </p:sp>
      <p:sp>
        <p:nvSpPr>
          <p:cNvPr id="3" name="Text 1"/>
          <p:cNvSpPr/>
          <p:nvPr>
            <p:ph idx="102" type="title" hasCustomPrompt="1"/>
          </p:nvPr>
        </p:nvSpPr>
        <p:spPr>
          <a:xfrm>
            <a:off x="548640" y="566928"/>
            <a:ext cx="9875520" cy="868680"/>
          </a:xfrm>
          <a:prstGeom prst="rect">
            <a:avLst/>
          </a:prstGeom>
          <a:noFill/>
          <a:ln/>
        </p:spPr>
        <p:txBody>
          <a:bodyPr wrap="square" lIns="0" tIns="0" rIns="0" bIns="0" rtlCol="0" anchor="t"/>
          <a:lstStyle/>
          <a:p>
            <a:pPr algn="l" indent="0" marL="0">
              <a:buNone/>
            </a:pPr>
            <a:r>
              <a:rPr lang="en-US" sz="2600" b="1" dirty="0">
                <a:solidFill>
                  <a:srgbClr val="141C52"/>
                </a:solidFill>
              </a:rPr>
              <a:t>Sales: sachets for reach, 340 ml for value: 37k outlets in Year 1, 104k by Year 3</a:t>
            </a:r>
            <a:endParaRPr lang="en-US" sz="26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6675120" cy="914400"/>
        </p:xfrm>
        <a:graphic>
          <a:graphicData uri="http://schemas.openxmlformats.org/drawingml/2006/table">
            <a:tbl>
              <a:tblPr/>
              <a:tblGrid>
                <a:gridCol w="2148840"/>
                <a:gridCol w="914400"/>
                <a:gridCol w="914400"/>
                <a:gridCol w="1143000"/>
                <a:gridCol w="1554480"/>
              </a:tblGrid>
              <a:tr h="347472">
                <a:tc>
                  <a:txBody>
                    <a:bodyPr/>
                    <a:lstStyle/>
                    <a:p>
                      <a:pPr indent="0" marL="0">
                        <a:buNone/>
                      </a:pPr>
                      <a:r>
                        <a:rPr lang="en-US" sz="1100" b="1" dirty="0">
                          <a:solidFill>
                            <a:srgbClr val="FFFFFF"/>
                          </a:solidFill>
                        </a:rPr>
                        <a:t>Channel</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141C52"/>
                    </a:solidFill>
                  </a:tcPr>
                </a:tc>
                <a:tc>
                  <a:txBody>
                    <a:bodyPr/>
                    <a:lstStyle/>
                    <a:p>
                      <a:pPr algn="ctr" indent="0" marL="0">
                        <a:buNone/>
                      </a:pPr>
                      <a:r>
                        <a:rPr lang="en-US" sz="1100" b="1" dirty="0">
                          <a:solidFill>
                            <a:srgbClr val="FFFFFF"/>
                          </a:solidFill>
                        </a:rPr>
                        <a:t>Year-1 outlets</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141C52"/>
                    </a:solidFill>
                  </a:tcPr>
                </a:tc>
                <a:tc>
                  <a:txBody>
                    <a:bodyPr/>
                    <a:lstStyle/>
                    <a:p>
                      <a:pPr algn="ctr" indent="0" marL="0">
                        <a:buNone/>
                      </a:pPr>
                      <a:r>
                        <a:rPr lang="en-US" sz="1100" b="1" dirty="0">
                          <a:solidFill>
                            <a:srgbClr val="FFFFFF"/>
                          </a:solidFill>
                        </a:rPr>
                        <a:t>Year-3 outlets</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141C52"/>
                    </a:solidFill>
                  </a:tcPr>
                </a:tc>
                <a:tc>
                  <a:txBody>
                    <a:bodyPr/>
                    <a:lstStyle/>
                    <a:p>
                      <a:pPr algn="ctr" indent="0" marL="0">
                        <a:buNone/>
                      </a:pPr>
                      <a:r>
                        <a:rPr lang="en-US" sz="1100" b="1" dirty="0">
                          <a:solidFill>
                            <a:srgbClr val="FFFFFF"/>
                          </a:solidFill>
                        </a:rPr>
                        <a:t>Lead pack</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141C52"/>
                    </a:solidFill>
                  </a:tcPr>
                </a:tc>
                <a:tc>
                  <a:txBody>
                    <a:bodyPr/>
                    <a:lstStyle/>
                    <a:p>
                      <a:pPr algn="ctr" indent="0" marL="0">
                        <a:buNone/>
                      </a:pPr>
                      <a:r>
                        <a:rPr lang="en-US" sz="1100" b="1" dirty="0">
                          <a:solidFill>
                            <a:srgbClr val="FFFFFF"/>
                          </a:solidFill>
                        </a:rPr>
                        <a:t>Units / outlet / month (sachet · 180 · 340)</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141C52"/>
                    </a:solidFill>
                  </a:tcPr>
                </a:tc>
              </a:tr>
              <a:tr h="347472">
                <a:tc>
                  <a:txBody>
                    <a:bodyPr/>
                    <a:lstStyle/>
                    <a:p>
                      <a:pPr indent="0" marL="0">
                        <a:buNone/>
                      </a:pPr>
                      <a:r>
                        <a:rPr lang="en-US" sz="1100" dirty="0">
                          <a:solidFill>
                            <a:srgbClr val="1F2937"/>
                          </a:solidFill>
                        </a:rPr>
                        <a:t>Rural grocer (RG)</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c>
                  <a:txBody>
                    <a:bodyPr/>
                    <a:lstStyle/>
                    <a:p>
                      <a:pPr algn="ctr" indent="0" marL="0">
                        <a:buNone/>
                      </a:pPr>
                      <a:r>
                        <a:rPr lang="en-US" sz="1100" dirty="0">
                          <a:solidFill>
                            <a:srgbClr val="1F2937"/>
                          </a:solidFill>
                        </a:rPr>
                        <a:t>15,000</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c>
                  <a:txBody>
                    <a:bodyPr/>
                    <a:lstStyle/>
                    <a:p>
                      <a:pPr algn="ctr" indent="0" marL="0">
                        <a:buNone/>
                      </a:pPr>
                      <a:r>
                        <a:rPr lang="en-US" sz="1100" dirty="0">
                          <a:solidFill>
                            <a:srgbClr val="1F2937"/>
                          </a:solidFill>
                        </a:rPr>
                        <a:t>45,000</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c>
                  <a:txBody>
                    <a:bodyPr/>
                    <a:lstStyle/>
                    <a:p>
                      <a:pPr algn="ctr" indent="0" marL="0">
                        <a:buNone/>
                      </a:pPr>
                      <a:r>
                        <a:rPr lang="en-US" sz="1100" dirty="0">
                          <a:solidFill>
                            <a:srgbClr val="1F2937"/>
                          </a:solidFill>
                        </a:rPr>
                        <a:t>Sachet</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c>
                  <a:txBody>
                    <a:bodyPr/>
                    <a:lstStyle/>
                    <a:p>
                      <a:pPr algn="ctr" indent="0" marL="0">
                        <a:buNone/>
                      </a:pPr>
                      <a:r>
                        <a:rPr lang="en-US" sz="1100" dirty="0">
                          <a:solidFill>
                            <a:srgbClr val="1F2937"/>
                          </a:solidFill>
                        </a:rPr>
                        <a:t>48 · 0.5 · –</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r>
              <a:tr h="347472">
                <a:tc>
                  <a:txBody>
                    <a:bodyPr/>
                    <a:lstStyle/>
                    <a:p>
                      <a:pPr indent="0" marL="0">
                        <a:buNone/>
                      </a:pPr>
                      <a:r>
                        <a:rPr lang="en-US" sz="1100" dirty="0">
                          <a:solidFill>
                            <a:srgbClr val="1F2937"/>
                          </a:solidFill>
                        </a:rPr>
                        <a:t>Urban neighbourhood grocer (UNG)</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c>
                  <a:txBody>
                    <a:bodyPr/>
                    <a:lstStyle/>
                    <a:p>
                      <a:pPr algn="ctr" indent="0" marL="0">
                        <a:buNone/>
                      </a:pPr>
                      <a:r>
                        <a:rPr lang="en-US" sz="1100" dirty="0">
                          <a:solidFill>
                            <a:srgbClr val="1F2937"/>
                          </a:solidFill>
                        </a:rPr>
                        <a:t>12,000</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c>
                  <a:txBody>
                    <a:bodyPr/>
                    <a:lstStyle/>
                    <a:p>
                      <a:pPr algn="ctr" indent="0" marL="0">
                        <a:buNone/>
                      </a:pPr>
                      <a:r>
                        <a:rPr lang="en-US" sz="1100" dirty="0">
                          <a:solidFill>
                            <a:srgbClr val="1F2937"/>
                          </a:solidFill>
                        </a:rPr>
                        <a:t>35,000</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c>
                  <a:txBody>
                    <a:bodyPr/>
                    <a:lstStyle/>
                    <a:p>
                      <a:pPr algn="ctr" indent="0" marL="0">
                        <a:buNone/>
                      </a:pPr>
                      <a:r>
                        <a:rPr lang="en-US" sz="1100" dirty="0">
                          <a:solidFill>
                            <a:srgbClr val="1F2937"/>
                          </a:solidFill>
                        </a:rPr>
                        <a:t>Sachet, 180 ml</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c>
                  <a:txBody>
                    <a:bodyPr/>
                    <a:lstStyle/>
                    <a:p>
                      <a:pPr algn="ctr" indent="0" marL="0">
                        <a:buNone/>
                      </a:pPr>
                      <a:r>
                        <a:rPr lang="en-US" sz="1100" dirty="0">
                          <a:solidFill>
                            <a:srgbClr val="1F2937"/>
                          </a:solidFill>
                        </a:rPr>
                        <a:t>36 · 1 · 0.5</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r>
              <a:tr h="347472">
                <a:tc>
                  <a:txBody>
                    <a:bodyPr/>
                    <a:lstStyle/>
                    <a:p>
                      <a:pPr indent="0" marL="0">
                        <a:buNone/>
                      </a:pPr>
                      <a:r>
                        <a:rPr lang="en-US" sz="1100" dirty="0">
                          <a:solidFill>
                            <a:srgbClr val="1F2937"/>
                          </a:solidFill>
                        </a:rPr>
                        <a:t>Urban cosmetics store (UCS)</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c>
                  <a:txBody>
                    <a:bodyPr/>
                    <a:lstStyle/>
                    <a:p>
                      <a:pPr algn="ctr" indent="0" marL="0">
                        <a:buNone/>
                      </a:pPr>
                      <a:r>
                        <a:rPr lang="en-US" sz="1100" dirty="0">
                          <a:solidFill>
                            <a:srgbClr val="1F2937"/>
                          </a:solidFill>
                        </a:rPr>
                        <a:t>6,000</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c>
                  <a:txBody>
                    <a:bodyPr/>
                    <a:lstStyle/>
                    <a:p>
                      <a:pPr algn="ctr" indent="0" marL="0">
                        <a:buNone/>
                      </a:pPr>
                      <a:r>
                        <a:rPr lang="en-US" sz="1100" dirty="0">
                          <a:solidFill>
                            <a:srgbClr val="1F2937"/>
                          </a:solidFill>
                        </a:rPr>
                        <a:t>12,000</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c>
                  <a:txBody>
                    <a:bodyPr/>
                    <a:lstStyle/>
                    <a:p>
                      <a:pPr algn="ctr" indent="0" marL="0">
                        <a:buNone/>
                      </a:pPr>
                      <a:r>
                        <a:rPr lang="en-US" sz="1100" dirty="0">
                          <a:solidFill>
                            <a:srgbClr val="1F2937"/>
                          </a:solidFill>
                        </a:rPr>
                        <a:t>340 ml + strip</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c>
                  <a:txBody>
                    <a:bodyPr/>
                    <a:lstStyle/>
                    <a:p>
                      <a:pPr algn="ctr" indent="0" marL="0">
                        <a:buNone/>
                      </a:pPr>
                      <a:r>
                        <a:rPr lang="en-US" sz="1100" dirty="0">
                          <a:solidFill>
                            <a:srgbClr val="1F2937"/>
                          </a:solidFill>
                        </a:rPr>
                        <a:t>– · 2 · 2</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r>
              <a:tr h="347472">
                <a:tc>
                  <a:txBody>
                    <a:bodyPr/>
                    <a:lstStyle/>
                    <a:p>
                      <a:pPr indent="0" marL="0">
                        <a:buNone/>
                      </a:pPr>
                      <a:r>
                        <a:rPr lang="en-US" sz="1100" dirty="0">
                          <a:solidFill>
                            <a:srgbClr val="1F2937"/>
                          </a:solidFill>
                        </a:rPr>
                        <a:t>Rural cosmetics store (RCS)</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c>
                  <a:txBody>
                    <a:bodyPr/>
                    <a:lstStyle/>
                    <a:p>
                      <a:pPr algn="ctr" indent="0" marL="0">
                        <a:buNone/>
                      </a:pPr>
                      <a:r>
                        <a:rPr lang="en-US" sz="1100" dirty="0">
                          <a:solidFill>
                            <a:srgbClr val="1F2937"/>
                          </a:solidFill>
                        </a:rPr>
                        <a:t>3,000</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c>
                  <a:txBody>
                    <a:bodyPr/>
                    <a:lstStyle/>
                    <a:p>
                      <a:pPr algn="ctr" indent="0" marL="0">
                        <a:buNone/>
                      </a:pPr>
                      <a:r>
                        <a:rPr lang="en-US" sz="1100" dirty="0">
                          <a:solidFill>
                            <a:srgbClr val="1F2937"/>
                          </a:solidFill>
                        </a:rPr>
                        <a:t>9,000</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c>
                  <a:txBody>
                    <a:bodyPr/>
                    <a:lstStyle/>
                    <a:p>
                      <a:pPr algn="ctr" indent="0" marL="0">
                        <a:buNone/>
                      </a:pPr>
                      <a:r>
                        <a:rPr lang="en-US" sz="1100" dirty="0">
                          <a:solidFill>
                            <a:srgbClr val="1F2937"/>
                          </a:solidFill>
                        </a:rPr>
                        <a:t>180 ml</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c>
                  <a:txBody>
                    <a:bodyPr/>
                    <a:lstStyle/>
                    <a:p>
                      <a:pPr algn="ctr" indent="0" marL="0">
                        <a:buNone/>
                      </a:pPr>
                      <a:r>
                        <a:rPr lang="en-US" sz="1100" dirty="0">
                          <a:solidFill>
                            <a:srgbClr val="1F2937"/>
                          </a:solidFill>
                        </a:rPr>
                        <a:t>12 · 1 · 1</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r>
              <a:tr h="347472">
                <a:tc>
                  <a:txBody>
                    <a:bodyPr/>
                    <a:lstStyle/>
                    <a:p>
                      <a:pPr indent="0" marL="0">
                        <a:buNone/>
                      </a:pPr>
                      <a:r>
                        <a:rPr lang="en-US" sz="1100" dirty="0">
                          <a:solidFill>
                            <a:srgbClr val="1F2937"/>
                          </a:solidFill>
                        </a:rPr>
                        <a:t>Wholesale (WS)</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c>
                  <a:txBody>
                    <a:bodyPr/>
                    <a:lstStyle/>
                    <a:p>
                      <a:pPr algn="ctr" indent="0" marL="0">
                        <a:buNone/>
                      </a:pPr>
                      <a:r>
                        <a:rPr lang="en-US" sz="1100" dirty="0">
                          <a:solidFill>
                            <a:srgbClr val="1F2937"/>
                          </a:solidFill>
                        </a:rPr>
                        <a:t>1,000</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c>
                  <a:txBody>
                    <a:bodyPr/>
                    <a:lstStyle/>
                    <a:p>
                      <a:pPr algn="ctr" indent="0" marL="0">
                        <a:buNone/>
                      </a:pPr>
                      <a:r>
                        <a:rPr lang="en-US" sz="1100" dirty="0">
                          <a:solidFill>
                            <a:srgbClr val="1F2937"/>
                          </a:solidFill>
                        </a:rPr>
                        <a:t>3,000</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c>
                  <a:txBody>
                    <a:bodyPr/>
                    <a:lstStyle/>
                    <a:p>
                      <a:pPr algn="ctr" indent="0" marL="0">
                        <a:buNone/>
                      </a:pPr>
                      <a:r>
                        <a:rPr lang="en-US" sz="1100" dirty="0">
                          <a:solidFill>
                            <a:srgbClr val="1F2937"/>
                          </a:solidFill>
                        </a:rPr>
                        <a:t>Sachet</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c>
                  <a:txBody>
                    <a:bodyPr/>
                    <a:lstStyle/>
                    <a:p>
                      <a:pPr algn="ctr" indent="0" marL="0">
                        <a:buNone/>
                      </a:pPr>
                      <a:r>
                        <a:rPr lang="en-US" sz="1100" dirty="0">
                          <a:solidFill>
                            <a:srgbClr val="1F2937"/>
                          </a:solidFill>
                        </a:rPr>
                        <a:t>240 · 3 · 1</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r>
              <a:tr h="347472">
                <a:tc>
                  <a:txBody>
                    <a:bodyPr/>
                    <a:lstStyle/>
                    <a:p>
                      <a:pPr indent="0" marL="0">
                        <a:buNone/>
                      </a:pPr>
                      <a:r>
                        <a:rPr lang="en-US" sz="1100" dirty="0">
                          <a:solidFill>
                            <a:srgbClr val="1F2937"/>
                          </a:solidFill>
                        </a:rPr>
                        <a:t>Modern trade (MT)</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c>
                  <a:txBody>
                    <a:bodyPr/>
                    <a:lstStyle/>
                    <a:p>
                      <a:pPr algn="ctr" indent="0" marL="0">
                        <a:buNone/>
                      </a:pPr>
                      <a:r>
                        <a:rPr lang="en-US" sz="1100" dirty="0">
                          <a:solidFill>
                            <a:srgbClr val="1F2937"/>
                          </a:solidFill>
                        </a:rPr>
                        <a:t>300</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c>
                  <a:txBody>
                    <a:bodyPr/>
                    <a:lstStyle/>
                    <a:p>
                      <a:pPr algn="ctr" indent="0" marL="0">
                        <a:buNone/>
                      </a:pPr>
                      <a:r>
                        <a:rPr lang="en-US" sz="1100" dirty="0">
                          <a:solidFill>
                            <a:srgbClr val="1F2937"/>
                          </a:solidFill>
                        </a:rPr>
                        <a:t>360</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c>
                  <a:txBody>
                    <a:bodyPr/>
                    <a:lstStyle/>
                    <a:p>
                      <a:pPr algn="ctr" indent="0" marL="0">
                        <a:buNone/>
                      </a:pPr>
                      <a:r>
                        <a:rPr lang="en-US" sz="1100" dirty="0">
                          <a:solidFill>
                            <a:srgbClr val="1F2937"/>
                          </a:solidFill>
                        </a:rPr>
                        <a:t>340 ml</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c>
                  <a:txBody>
                    <a:bodyPr/>
                    <a:lstStyle/>
                    <a:p>
                      <a:pPr algn="ctr" indent="0" marL="0">
                        <a:buNone/>
                      </a:pPr>
                      <a:r>
                        <a:rPr lang="en-US" sz="1100" dirty="0">
                          <a:solidFill>
                            <a:srgbClr val="1F2937"/>
                          </a:solidFill>
                        </a:rPr>
                        <a:t>– · 15 · 15</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r>
              <a:tr h="347472">
                <a:tc>
                  <a:txBody>
                    <a:bodyPr/>
                    <a:lstStyle/>
                    <a:p>
                      <a:pPr indent="0" marL="0">
                        <a:buNone/>
                      </a:pPr>
                      <a:r>
                        <a:rPr lang="en-US" sz="1100" dirty="0">
                          <a:solidFill>
                            <a:srgbClr val="1F2937"/>
                          </a:solidFill>
                        </a:rPr>
                        <a:t>E-commerce</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c>
                  <a:txBody>
                    <a:bodyPr/>
                    <a:lstStyle/>
                    <a:p>
                      <a:pPr algn="ctr" indent="0" marL="0">
                        <a:buNone/>
                      </a:pPr>
                      <a:r>
                        <a:rPr lang="en-US" sz="1100" dirty="0">
                          <a:solidFill>
                            <a:srgbClr val="1F2937"/>
                          </a:solidFill>
                        </a:rPr>
                        <a:t>30</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c>
                  <a:txBody>
                    <a:bodyPr/>
                    <a:lstStyle/>
                    <a:p>
                      <a:pPr algn="ctr" indent="0" marL="0">
                        <a:buNone/>
                      </a:pPr>
                      <a:r>
                        <a:rPr lang="en-US" sz="1100" dirty="0">
                          <a:solidFill>
                            <a:srgbClr val="1F2937"/>
                          </a:solidFill>
                        </a:rPr>
                        <a:t>40</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c>
                  <a:txBody>
                    <a:bodyPr/>
                    <a:lstStyle/>
                    <a:p>
                      <a:pPr algn="ctr" indent="0" marL="0">
                        <a:buNone/>
                      </a:pPr>
                      <a:r>
                        <a:rPr lang="en-US" sz="1100" dirty="0">
                          <a:solidFill>
                            <a:srgbClr val="1F2937"/>
                          </a:solidFill>
                        </a:rPr>
                        <a:t>340 ml</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c>
                  <a:txBody>
                    <a:bodyPr/>
                    <a:lstStyle/>
                    <a:p>
                      <a:pPr algn="ctr" indent="0" marL="0">
                        <a:buNone/>
                      </a:pPr>
                      <a:r>
                        <a:rPr lang="en-US" sz="1100" dirty="0">
                          <a:solidFill>
                            <a:srgbClr val="1F2937"/>
                          </a:solidFill>
                        </a:rPr>
                        <a:t>– · 30 · 40</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r>
              <a:tr h="347472">
                <a:tc>
                  <a:txBody>
                    <a:bodyPr/>
                    <a:lstStyle/>
                    <a:p>
                      <a:pPr indent="0" marL="0">
                        <a:buNone/>
                      </a:pPr>
                      <a:r>
                        <a:rPr lang="en-US" sz="1100" b="1" dirty="0">
                          <a:solidFill>
                            <a:srgbClr val="1F2937"/>
                          </a:solidFill>
                        </a:rPr>
                        <a:t>Total</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E3F5FA"/>
                    </a:solidFill>
                  </a:tcPr>
                </a:tc>
                <a:tc>
                  <a:txBody>
                    <a:bodyPr/>
                    <a:lstStyle/>
                    <a:p>
                      <a:pPr algn="ctr" indent="0" marL="0">
                        <a:buNone/>
                      </a:pPr>
                      <a:r>
                        <a:rPr lang="en-US" sz="1100" b="1" dirty="0">
                          <a:solidFill>
                            <a:srgbClr val="1F2937"/>
                          </a:solidFill>
                        </a:rPr>
                        <a:t>37,330</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E3F5FA"/>
                    </a:solidFill>
                  </a:tcPr>
                </a:tc>
                <a:tc>
                  <a:txBody>
                    <a:bodyPr/>
                    <a:lstStyle/>
                    <a:p>
                      <a:pPr algn="ctr" indent="0" marL="0">
                        <a:buNone/>
                      </a:pPr>
                      <a:r>
                        <a:rPr lang="en-US" sz="1100" b="1" dirty="0">
                          <a:solidFill>
                            <a:srgbClr val="1F2937"/>
                          </a:solidFill>
                        </a:rPr>
                        <a:t>104,400</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E3F5FA"/>
                    </a:solidFill>
                  </a:tcPr>
                </a:tc>
                <a:tc>
                  <a:txBody>
                    <a:bodyPr/>
                    <a:lstStyle/>
                    <a:p>
                      <a:pPr algn="ctr" indent="0" marL="0">
                        <a:buNone/>
                      </a:pP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E3F5FA"/>
                    </a:solidFill>
                  </a:tcPr>
                </a:tc>
                <a:tc>
                  <a:txBody>
                    <a:bodyPr/>
                    <a:lstStyle/>
                    <a:p>
                      <a:pPr algn="ctr" indent="0" marL="0">
                        <a:buNone/>
                      </a:pP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E3F5FA"/>
                    </a:solidFill>
                  </a:tcPr>
                </a:tc>
              </a:tr>
            </a:tbl>
          </a:graphicData>
        </a:graphic>
      </p:graphicFrame>
      <p:sp>
        <p:nvSpPr>
          <p:cNvPr id="5" name="Text 2"/>
          <p:cNvSpPr txBox="1"/>
          <p:nvPr/>
        </p:nvSpPr>
        <p:spPr>
          <a:xfrm>
            <a:off x="548640" y="4846320"/>
            <a:ext cx="6675120" cy="274320"/>
          </a:xfrm>
          <a:prstGeom prst="rect">
            <a:avLst/>
          </a:prstGeom>
          <a:noFill/>
          <a:ln/>
        </p:spPr>
        <p:txBody>
          <a:bodyPr wrap="square" lIns="0" tIns="0" rIns="0" bIns="0" rtlCol="0" anchor="t"/>
          <a:lstStyle/>
          <a:p>
            <a:pPr indent="0" marL="0">
              <a:buNone/>
            </a:pPr>
            <a:r>
              <a:rPr lang="en-US" sz="1200" b="1" dirty="0">
                <a:solidFill>
                  <a:srgbClr val="141C52"/>
                </a:solidFill>
              </a:rPr>
              <a:t>Year-3 net revenue by channel</a:t>
            </a:r>
            <a:endParaRPr lang="en-US" sz="1200" dirty="0"/>
          </a:p>
        </p:txBody>
      </p:sp>
      <p:sp>
        <p:nvSpPr>
          <p:cNvPr id="6" name="Shape 3"/>
          <p:cNvSpPr/>
          <p:nvPr/>
        </p:nvSpPr>
        <p:spPr>
          <a:xfrm>
            <a:off x="548640" y="5166360"/>
            <a:ext cx="6209272" cy="292608"/>
          </a:xfrm>
          <a:prstGeom prst="rect">
            <a:avLst/>
          </a:prstGeom>
          <a:solidFill>
            <a:srgbClr val="141C52"/>
          </a:solidFill>
          <a:ln/>
        </p:spPr>
      </p:sp>
      <p:sp>
        <p:nvSpPr>
          <p:cNvPr id="7" name="Shape 4"/>
          <p:cNvSpPr/>
          <p:nvPr/>
        </p:nvSpPr>
        <p:spPr>
          <a:xfrm>
            <a:off x="6757912" y="5166360"/>
            <a:ext cx="366346" cy="292608"/>
          </a:xfrm>
          <a:prstGeom prst="rect">
            <a:avLst/>
          </a:prstGeom>
          <a:solidFill>
            <a:srgbClr val="12A5C4"/>
          </a:solidFill>
          <a:ln/>
        </p:spPr>
      </p:sp>
      <p:sp>
        <p:nvSpPr>
          <p:cNvPr id="8" name="Shape 5"/>
          <p:cNvSpPr/>
          <p:nvPr/>
        </p:nvSpPr>
        <p:spPr>
          <a:xfrm>
            <a:off x="7124259" y="5166360"/>
            <a:ext cx="109728" cy="292608"/>
          </a:xfrm>
          <a:prstGeom prst="rect">
            <a:avLst/>
          </a:prstGeom>
          <a:solidFill>
            <a:srgbClr val="F5A31A"/>
          </a:solidFill>
          <a:ln/>
        </p:spPr>
      </p:sp>
      <p:sp>
        <p:nvSpPr>
          <p:cNvPr id="9" name="Text 6"/>
          <p:cNvSpPr txBox="1"/>
          <p:nvPr/>
        </p:nvSpPr>
        <p:spPr>
          <a:xfrm>
            <a:off x="548640" y="5504688"/>
            <a:ext cx="6675120" cy="274320"/>
          </a:xfrm>
          <a:prstGeom prst="rect">
            <a:avLst/>
          </a:prstGeom>
          <a:noFill/>
          <a:ln/>
        </p:spPr>
        <p:txBody>
          <a:bodyPr wrap="square" lIns="0" tIns="0" rIns="0" bIns="0" rtlCol="0" anchor="t"/>
          <a:lstStyle/>
          <a:p>
            <a:pPr indent="0" marL="0">
              <a:buNone/>
            </a:pPr>
            <a:r>
              <a:rPr lang="en-US" sz="1100" dirty="0">
                <a:solidFill>
                  <a:srgbClr val="1F2937"/>
                </a:solidFill>
              </a:rPr>
              <a:t>General trade Tk 38.5 Cr (93%)  ·  Modern trade Tk 2.3 Cr  ·  E-commerce Tk 0.6 Cr</a:t>
            </a:r>
            <a:endParaRPr lang="en-US" sz="1100" dirty="0"/>
          </a:p>
        </p:txBody>
      </p:sp>
      <p:sp>
        <p:nvSpPr>
          <p:cNvPr id="10" name="Shape 7"/>
          <p:cNvSpPr/>
          <p:nvPr/>
        </p:nvSpPr>
        <p:spPr>
          <a:xfrm>
            <a:off x="7498080" y="1554480"/>
            <a:ext cx="4142232" cy="1874520"/>
          </a:xfrm>
          <a:prstGeom prst="roundRect">
            <a:avLst>
              <a:gd name="adj" fmla="val 3902"/>
            </a:avLst>
          </a:prstGeom>
          <a:solidFill>
            <a:srgbClr val="F3F6FA"/>
          </a:solidFill>
          <a:ln/>
        </p:spPr>
      </p:sp>
      <p:sp>
        <p:nvSpPr>
          <p:cNvPr id="11" name="Text 8"/>
          <p:cNvSpPr txBox="1"/>
          <p:nvPr/>
        </p:nvSpPr>
        <p:spPr>
          <a:xfrm>
            <a:off x="7680960" y="1645920"/>
            <a:ext cx="3794760" cy="1737360"/>
          </a:xfrm>
          <a:prstGeom prst="rect">
            <a:avLst/>
          </a:prstGeom>
          <a:noFill/>
          <a:ln/>
        </p:spPr>
        <p:txBody>
          <a:bodyPr wrap="square" lIns="0" tIns="0" rIns="0" bIns="0" rtlCol="0" anchor="t"/>
          <a:lstStyle/>
          <a:p>
            <a:pPr indent="0" marL="0">
              <a:buNone/>
            </a:pPr>
            <a:r>
              <a:rPr lang="en-US" sz="1100" b="1" spc="100" kern="0" dirty="0">
                <a:solidFill>
                  <a:srgbClr val="0E7FA0"/>
                </a:solidFill>
              </a:rPr>
              <a:t>BENCHMARKS (3 WAYS)</a:t>
            </a:r>
            <a:endParaRPr lang="en-US" sz="1200" dirty="0"/>
          </a:p>
          <a:p>
            <a:pPr indent="0" marL="0">
              <a:spcBef>
                <a:spcPts val="500"/>
              </a:spcBef>
              <a:buNone/>
            </a:pPr>
            <a:r>
              <a:rPr lang="en-US" sz="1200" b="1" dirty="0">
                <a:solidFill>
                  <a:srgbClr val="141C52"/>
                </a:solidFill>
              </a:rPr>
              <a:t>Existing product: </a:t>
            </a:r>
            <a:pPr indent="0" marL="0">
              <a:buNone/>
            </a:pPr>
            <a:r>
              <a:rPr lang="en-US" sz="1200" dirty="0">
                <a:solidFill>
                  <a:srgbClr val="1F2937"/>
                </a:solidFill>
              </a:rPr>
              <a:t>Naturale Anti Hair Fall 320 ml, Tk 265</a:t>
            </a:r>
            <a:endParaRPr lang="en-US" sz="1200" dirty="0"/>
          </a:p>
          <a:p>
            <a:pPr indent="0" marL="0">
              <a:spcBef>
                <a:spcPts val="500"/>
              </a:spcBef>
              <a:buNone/>
            </a:pPr>
            <a:r>
              <a:rPr lang="en-US" sz="1200" b="1" dirty="0">
                <a:solidFill>
                  <a:srgbClr val="141C52"/>
                </a:solidFill>
              </a:rPr>
              <a:t>Similar channel: </a:t>
            </a:r>
            <a:pPr indent="0" marL="0">
              <a:buNone/>
            </a:pPr>
            <a:r>
              <a:rPr lang="en-US" sz="1200" dirty="0">
                <a:solidFill>
                  <a:srgbClr val="1F2937"/>
                </a:solidFill>
              </a:rPr>
              <a:t>the Naturale range in GT, MT and e-commerce</a:t>
            </a:r>
            <a:endParaRPr lang="en-US" sz="1200" dirty="0"/>
          </a:p>
          <a:p>
            <a:pPr indent="0" marL="0">
              <a:spcBef>
                <a:spcPts val="500"/>
              </a:spcBef>
              <a:buNone/>
            </a:pPr>
            <a:r>
              <a:rPr lang="en-US" sz="1200" b="1" dirty="0">
                <a:solidFill>
                  <a:srgbClr val="141C52"/>
                </a:solidFill>
              </a:rPr>
              <a:t>Similar price point: </a:t>
            </a:r>
            <a:pPr indent="0" marL="0">
              <a:buNone/>
            </a:pPr>
            <a:r>
              <a:rPr lang="en-US" sz="1200" dirty="0">
                <a:solidFill>
                  <a:srgbClr val="1F2937"/>
                </a:solidFill>
              </a:rPr>
              <a:t>Naturale Hijab Fresh 340 ml Tk 390; Sunsilk 340 ml Tk 350</a:t>
            </a:r>
            <a:endParaRPr lang="en-US" sz="1200" dirty="0"/>
          </a:p>
        </p:txBody>
      </p:sp>
      <p:sp>
        <p:nvSpPr>
          <p:cNvPr id="12" name="Shape 9"/>
          <p:cNvSpPr/>
          <p:nvPr/>
        </p:nvSpPr>
        <p:spPr>
          <a:xfrm>
            <a:off x="7498080" y="3538728"/>
            <a:ext cx="4142232" cy="1600200"/>
          </a:xfrm>
          <a:prstGeom prst="roundRect">
            <a:avLst>
              <a:gd name="adj" fmla="val 4571"/>
            </a:avLst>
          </a:prstGeom>
          <a:solidFill>
            <a:srgbClr val="F3F6FA"/>
          </a:solidFill>
          <a:ln/>
        </p:spPr>
      </p:sp>
      <p:sp>
        <p:nvSpPr>
          <p:cNvPr id="26" name="Text 10"/>
          <p:cNvSpPr txBox="1"/>
          <p:nvPr/>
        </p:nvSpPr>
        <p:spPr>
          <a:xfrm>
            <a:off x="7680960" y="3630168"/>
            <a:ext cx="3794760" cy="1463040"/>
          </a:xfrm>
          <a:prstGeom prst="rect">
            <a:avLst/>
          </a:prstGeom>
          <a:noFill/>
          <a:ln/>
        </p:spPr>
        <p:txBody>
          <a:bodyPr wrap="square" lIns="0" tIns="0" rIns="0" bIns="0" rtlCol="0" anchor="t"/>
          <a:lstStyle/>
          <a:p>
            <a:pPr indent="0" marL="0">
              <a:buNone/>
            </a:pPr>
            <a:r>
              <a:rPr lang="en-US" sz="1100" b="1" spc="100" kern="0" dirty="0">
                <a:solidFill>
                  <a:srgbClr val="0E7FA0"/>
                </a:solidFill>
              </a:rPr>
              <a:t>BOOSTERS</a:t>
            </a:r>
            <a:endParaRPr lang="en-US" sz="1200" dirty="0"/>
          </a:p>
          <a:p>
            <a:pPr indent="0" marL="0">
              <a:spcBef>
                <a:spcPts val="500"/>
              </a:spcBef>
              <a:buNone/>
            </a:pPr>
            <a:r>
              <a:rPr lang="en-US" sz="1200" b="1" dirty="0">
                <a:solidFill>
                  <a:srgbClr val="141C52"/>
                </a:solidFill>
              </a:rPr>
              <a:t>TLO: </a:t>
            </a:r>
            <a:pPr indent="0" marL="0">
              <a:buNone/>
            </a:pPr>
            <a:r>
              <a:rPr lang="en-US" sz="1200" dirty="0">
                <a:solidFill>
                  <a:srgbClr val="1F2937"/>
                </a:solidFill>
              </a:rPr>
              <a:t>12-sachet display strips at launch</a:t>
            </a:r>
            <a:endParaRPr lang="en-US" sz="1200" dirty="0"/>
          </a:p>
          <a:p>
            <a:pPr indent="0" marL="0">
              <a:spcBef>
                <a:spcPts val="500"/>
              </a:spcBef>
              <a:buNone/>
            </a:pPr>
            <a:r>
              <a:rPr lang="en-US" sz="1200" b="1" dirty="0">
                <a:solidFill>
                  <a:srgbClr val="141C52"/>
                </a:solidFill>
              </a:rPr>
              <a:t>QPDS: </a:t>
            </a:r>
            <a:pPr indent="0" marL="0">
              <a:buNone/>
            </a:pPr>
            <a:r>
              <a:rPr lang="en-US" sz="1200" dirty="0">
                <a:solidFill>
                  <a:srgbClr val="1F2937"/>
                </a:solidFill>
              </a:rPr>
              <a:t>shelf talker and QR at UCS and MT</a:t>
            </a:r>
            <a:endParaRPr lang="en-US" sz="1200" dirty="0"/>
          </a:p>
          <a:p>
            <a:pPr indent="0" marL="0">
              <a:spcBef>
                <a:spcPts val="500"/>
              </a:spcBef>
              <a:buNone/>
            </a:pPr>
            <a:r>
              <a:rPr lang="en-US" sz="1200" b="1" dirty="0">
                <a:solidFill>
                  <a:srgbClr val="141C52"/>
                </a:solidFill>
              </a:rPr>
              <a:t>TO/CO: </a:t>
            </a:r>
            <a:pPr indent="0" marL="0">
              <a:buNone/>
            </a:pPr>
            <a:r>
              <a:rPr lang="en-US" sz="1200" dirty="0">
                <a:solidFill>
                  <a:srgbClr val="1F2937"/>
                </a:solidFill>
              </a:rPr>
              <a:t>e-commerce bundles and brand days</a:t>
            </a:r>
            <a:endParaRPr lang="en-US" sz="1200" dirty="0"/>
          </a:p>
          <a:p>
            <a:pPr indent="0" marL="0">
              <a:spcBef>
                <a:spcPts val="500"/>
              </a:spcBef>
              <a:buNone/>
            </a:pPr>
            <a:r>
              <a:rPr lang="en-US" sz="1200" b="1" dirty="0">
                <a:solidFill>
                  <a:srgbClr val="141C52"/>
                </a:solidFill>
              </a:rPr>
              <a:t>Incentive: </a:t>
            </a:r>
            <a:pPr indent="0" marL="0">
              <a:buNone/>
            </a:pPr>
            <a:r>
              <a:rPr lang="en-US" sz="1200" dirty="0">
                <a:solidFill>
                  <a:srgbClr val="1F2937"/>
                </a:solidFill>
              </a:rPr>
              <a:t>“Dhamaka” bonus on 340 ml drops</a:t>
            </a:r>
            <a:endParaRPr lang="en-US" sz="1200" dirty="0"/>
          </a:p>
        </p:txBody>
      </p:sp>
      <p:sp>
        <p:nvSpPr>
          <p:cNvPr id="14" name="Shape 11"/>
          <p:cNvSpPr/>
          <p:nvPr/>
        </p:nvSpPr>
        <p:spPr>
          <a:xfrm>
            <a:off x="7498080" y="5248656"/>
            <a:ext cx="4142232" cy="548640"/>
          </a:xfrm>
          <a:prstGeom prst="roundRect">
            <a:avLst>
              <a:gd name="adj" fmla="val 13333"/>
            </a:avLst>
          </a:prstGeom>
          <a:solidFill>
            <a:srgbClr val="FFF4E0"/>
          </a:solidFill>
          <a:ln/>
        </p:spPr>
      </p:sp>
      <p:sp>
        <p:nvSpPr>
          <p:cNvPr id="15" name="Text 12"/>
          <p:cNvSpPr txBox="1"/>
          <p:nvPr/>
        </p:nvSpPr>
        <p:spPr>
          <a:xfrm>
            <a:off x="7680960" y="5248656"/>
            <a:ext cx="3840480" cy="548640"/>
          </a:xfrm>
          <a:prstGeom prst="rect">
            <a:avLst/>
          </a:prstGeom>
          <a:noFill/>
          <a:ln/>
        </p:spPr>
        <p:txBody>
          <a:bodyPr wrap="square" lIns="0" tIns="0" rIns="0" bIns="0" rtlCol="0" anchor="ctr"/>
          <a:lstStyle/>
          <a:p>
            <a:pPr indent="0" marL="0">
              <a:buNone/>
            </a:pPr>
            <a:r>
              <a:rPr lang="en-US" sz="1200" b="1" dirty="0">
                <a:solidFill>
                  <a:srgbClr val="141C52"/>
                </a:solidFill>
              </a:rPr>
              <a:t>Margins: </a:t>
            </a:r>
            <a:pPr indent="0" marL="0">
              <a:buNone/>
            </a:pPr>
            <a:r>
              <a:rPr lang="en-US" sz="1200" dirty="0">
                <a:solidFill>
                  <a:srgbClr val="1F2937"/>
                </a:solidFill>
              </a:rPr>
              <a:t>retailer + distributor 22% on bottles, 25% on sachets</a:t>
            </a:r>
            <a:endParaRPr lang="en-US" sz="1200" dirty="0"/>
          </a:p>
        </p:txBody>
      </p:sp>
      <p:sp>
        <p:nvSpPr>
          <p:cNvPr id="16" name="Text 13"/>
          <p:cNvSpPr txBox="1"/>
          <p:nvPr/>
        </p:nvSpPr>
        <p:spPr>
          <a:xfrm>
            <a:off x="548640" y="5989320"/>
            <a:ext cx="11091672" cy="365760"/>
          </a:xfrm>
          <a:prstGeom prst="rect">
            <a:avLst/>
          </a:prstGeom>
          <a:noFill/>
          <a:ln/>
        </p:spPr>
        <p:txBody>
          <a:bodyPr wrap="square" lIns="0" tIns="0" rIns="0" bIns="0" rtlCol="0" anchor="b"/>
          <a:lstStyle/>
          <a:p>
            <a:pPr indent="0" marL="0">
              <a:buNone/>
            </a:pPr>
            <a:r>
              <a:rPr lang="en-US" sz="1000" i="1" dirty="0">
                <a:solidFill>
                  <a:srgbClr val="5B6472"/>
                </a:solidFill>
              </a:rPr>
              <a:t>Outlet universe and channel types: Marico Sales masterclass (294k outlets in the demonstration). Units per outlet are planning assumptions to be validated in the pilot. Prices: Chaldal, 9 Oct 2026.</a:t>
            </a:r>
            <a:endParaRPr lang="en-US" sz="10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defRPr>
            </a:lvl1pPr>
          </a:lstStyle>
          <a:p>
            <a:pPr algn="r"/>
            <a:r>
              <a:t>11</a:t>
            </a:r>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548640" y="274320"/>
            <a:ext cx="9601200" cy="256032"/>
          </a:xfrm>
          <a:prstGeom prst="rect">
            <a:avLst/>
          </a:prstGeom>
          <a:noFill/>
          <a:ln/>
        </p:spPr>
        <p:txBody>
          <a:bodyPr wrap="square" lIns="0" tIns="0" rIns="0" bIns="0" rtlCol="0" anchor="t"/>
          <a:lstStyle/>
          <a:p>
            <a:pPr indent="0" marL="0">
              <a:buNone/>
            </a:pPr>
            <a:r>
              <a:rPr lang="en-US" sz="1100" b="1" spc="200" kern="0" dirty="0">
                <a:solidFill>
                  <a:srgbClr val="0E7FA0"/>
                </a:solidFill>
              </a:rPr>
              <a:t>EXECUTION PLAN  ·  SUPPLY CHAIN STRATEGY</a:t>
            </a:r>
            <a:endParaRPr lang="en-US" sz="1100" dirty="0"/>
          </a:p>
        </p:txBody>
      </p:sp>
      <p:sp>
        <p:nvSpPr>
          <p:cNvPr id="3" name="Text 1"/>
          <p:cNvSpPr/>
          <p:nvPr>
            <p:ph idx="102" type="title" hasCustomPrompt="1"/>
          </p:nvPr>
        </p:nvSpPr>
        <p:spPr>
          <a:xfrm>
            <a:off x="548640" y="566928"/>
            <a:ext cx="9875520" cy="868680"/>
          </a:xfrm>
          <a:prstGeom prst="rect">
            <a:avLst/>
          </a:prstGeom>
          <a:noFill/>
          <a:ln/>
        </p:spPr>
        <p:txBody>
          <a:bodyPr wrap="square" lIns="0" tIns="0" rIns="0" bIns="0" rtlCol="0" anchor="t"/>
          <a:lstStyle/>
          <a:p>
            <a:pPr algn="l" indent="0" marL="0">
              <a:buNone/>
            </a:pPr>
            <a:r>
              <a:rPr lang="en-US" sz="2600" b="1" dirty="0">
                <a:solidFill>
                  <a:srgbClr val="141C52"/>
                </a:solidFill>
              </a:rPr>
              <a:t>Supply chain: Make and Modify on existing Naturale lines; Buy only the strip and the chelator</a:t>
            </a:r>
            <a:endParaRPr lang="en-US" sz="2600" dirty="0"/>
          </a:p>
        </p:txBody>
      </p:sp>
      <p:sp>
        <p:nvSpPr>
          <p:cNvPr id="4" name="Shape 2"/>
          <p:cNvSpPr/>
          <p:nvPr/>
        </p:nvSpPr>
        <p:spPr>
          <a:xfrm>
            <a:off x="548640" y="1554480"/>
            <a:ext cx="2615184" cy="1463040"/>
          </a:xfrm>
          <a:prstGeom prst="roundRect">
            <a:avLst>
              <a:gd name="adj" fmla="val 5000"/>
            </a:avLst>
          </a:prstGeom>
          <a:solidFill>
            <a:srgbClr val="F3F6FA"/>
          </a:solidFill>
          <a:ln/>
        </p:spPr>
      </p:sp>
      <p:sp>
        <p:nvSpPr>
          <p:cNvPr id="5" name="Shape 3"/>
          <p:cNvSpPr/>
          <p:nvPr/>
        </p:nvSpPr>
        <p:spPr>
          <a:xfrm>
            <a:off x="685800" y="1664208"/>
            <a:ext cx="914400" cy="274320"/>
          </a:xfrm>
          <a:prstGeom prst="roundRect">
            <a:avLst>
              <a:gd name="adj" fmla="val 26667"/>
            </a:avLst>
          </a:prstGeom>
          <a:solidFill>
            <a:srgbClr val="141C52"/>
          </a:solidFill>
          <a:ln/>
        </p:spPr>
      </p:sp>
      <p:sp>
        <p:nvSpPr>
          <p:cNvPr id="6" name="Text 4"/>
          <p:cNvSpPr txBox="1"/>
          <p:nvPr/>
        </p:nvSpPr>
        <p:spPr>
          <a:xfrm>
            <a:off x="685800" y="1664208"/>
            <a:ext cx="914400" cy="274320"/>
          </a:xfrm>
          <a:prstGeom prst="rect">
            <a:avLst/>
          </a:prstGeom>
          <a:noFill/>
          <a:ln/>
        </p:spPr>
        <p:txBody>
          <a:bodyPr wrap="square" lIns="0" tIns="0" rIns="0" bIns="0" rtlCol="0" anchor="ctr"/>
          <a:lstStyle/>
          <a:p>
            <a:pPr algn="ctr" indent="0" marL="0">
              <a:buNone/>
            </a:pPr>
            <a:r>
              <a:rPr lang="en-US" sz="1100" b="1" dirty="0">
                <a:solidFill>
                  <a:srgbClr val="FFFFFF"/>
                </a:solidFill>
              </a:rPr>
              <a:t>PLAN</a:t>
            </a:r>
            <a:endParaRPr lang="en-US" sz="1100" dirty="0"/>
          </a:p>
        </p:txBody>
      </p:sp>
      <p:sp>
        <p:nvSpPr>
          <p:cNvPr id="7" name="Text 5"/>
          <p:cNvSpPr txBox="1"/>
          <p:nvPr/>
        </p:nvSpPr>
        <p:spPr>
          <a:xfrm>
            <a:off x="685800" y="2011680"/>
            <a:ext cx="2359152" cy="960120"/>
          </a:xfrm>
          <a:prstGeom prst="rect">
            <a:avLst/>
          </a:prstGeom>
          <a:noFill/>
          <a:ln/>
        </p:spPr>
        <p:txBody>
          <a:bodyPr wrap="square" lIns="0" tIns="0" rIns="0" bIns="0" rtlCol="0" anchor="t"/>
          <a:lstStyle/>
          <a:p>
            <a:pPr indent="0" marL="0">
              <a:buNone/>
            </a:pPr>
            <a:r>
              <a:rPr lang="en-US" sz="1100" dirty="0">
                <a:solidFill>
                  <a:srgbClr val="1F2937"/>
                </a:solidFill>
              </a:rPr>
              <a:t>Demand set from pilot rate of sale; make-to-stock with 30 days’ safety stock of strips and caps</a:t>
            </a:r>
            <a:endParaRPr lang="en-US" sz="1100" dirty="0"/>
          </a:p>
        </p:txBody>
      </p:sp>
      <p:sp>
        <p:nvSpPr>
          <p:cNvPr id="8" name="Shape 6"/>
          <p:cNvSpPr/>
          <p:nvPr/>
        </p:nvSpPr>
        <p:spPr>
          <a:xfrm>
            <a:off x="3191256" y="2176272"/>
            <a:ext cx="155448" cy="219456"/>
          </a:xfrm>
          <a:prstGeom prst="rightArrow">
            <a:avLst/>
          </a:prstGeom>
          <a:solidFill>
            <a:srgbClr val="A7B0BE"/>
          </a:solidFill>
          <a:ln/>
        </p:spPr>
      </p:sp>
      <p:sp>
        <p:nvSpPr>
          <p:cNvPr id="9" name="Shape 7"/>
          <p:cNvSpPr/>
          <p:nvPr/>
        </p:nvSpPr>
        <p:spPr>
          <a:xfrm>
            <a:off x="3374136" y="1554480"/>
            <a:ext cx="2615184" cy="1463040"/>
          </a:xfrm>
          <a:prstGeom prst="roundRect">
            <a:avLst>
              <a:gd name="adj" fmla="val 5000"/>
            </a:avLst>
          </a:prstGeom>
          <a:solidFill>
            <a:srgbClr val="F3F6FA"/>
          </a:solidFill>
          <a:ln/>
        </p:spPr>
      </p:sp>
      <p:sp>
        <p:nvSpPr>
          <p:cNvPr id="10" name="Shape 8"/>
          <p:cNvSpPr/>
          <p:nvPr/>
        </p:nvSpPr>
        <p:spPr>
          <a:xfrm>
            <a:off x="3511296" y="1664208"/>
            <a:ext cx="914400" cy="274320"/>
          </a:xfrm>
          <a:prstGeom prst="roundRect">
            <a:avLst>
              <a:gd name="adj" fmla="val 26667"/>
            </a:avLst>
          </a:prstGeom>
          <a:solidFill>
            <a:srgbClr val="0B6FB8"/>
          </a:solidFill>
          <a:ln/>
        </p:spPr>
      </p:sp>
      <p:sp>
        <p:nvSpPr>
          <p:cNvPr id="11" name="Text 9"/>
          <p:cNvSpPr txBox="1"/>
          <p:nvPr/>
        </p:nvSpPr>
        <p:spPr>
          <a:xfrm>
            <a:off x="3511296" y="1664208"/>
            <a:ext cx="914400" cy="274320"/>
          </a:xfrm>
          <a:prstGeom prst="rect">
            <a:avLst/>
          </a:prstGeom>
          <a:noFill/>
          <a:ln/>
        </p:spPr>
        <p:txBody>
          <a:bodyPr wrap="square" lIns="0" tIns="0" rIns="0" bIns="0" rtlCol="0" anchor="ctr"/>
          <a:lstStyle/>
          <a:p>
            <a:pPr algn="ctr" indent="0" marL="0">
              <a:buNone/>
            </a:pPr>
            <a:r>
              <a:rPr lang="en-US" sz="1100" b="1" dirty="0">
                <a:solidFill>
                  <a:srgbClr val="FFFFFF"/>
                </a:solidFill>
              </a:rPr>
              <a:t>SOURCE</a:t>
            </a:r>
            <a:endParaRPr lang="en-US" sz="1100" dirty="0"/>
          </a:p>
        </p:txBody>
      </p:sp>
      <p:sp>
        <p:nvSpPr>
          <p:cNvPr id="12" name="Text 10"/>
          <p:cNvSpPr txBox="1"/>
          <p:nvPr/>
        </p:nvSpPr>
        <p:spPr>
          <a:xfrm>
            <a:off x="3511296" y="2011680"/>
            <a:ext cx="2359152" cy="960120"/>
          </a:xfrm>
          <a:prstGeom prst="rect">
            <a:avLst/>
          </a:prstGeom>
          <a:noFill/>
          <a:ln/>
        </p:spPr>
        <p:txBody>
          <a:bodyPr wrap="square" lIns="0" tIns="0" rIns="0" bIns="0" rtlCol="0" anchor="t"/>
          <a:lstStyle/>
          <a:p>
            <a:pPr indent="0" marL="0">
              <a:buNone/>
            </a:pPr>
            <a:r>
              <a:rPr lang="en-US" sz="1100" dirty="0">
                <a:solidFill>
                  <a:srgbClr val="1F2937"/>
                </a:solidFill>
              </a:rPr>
              <a:t>Local: surfactants, bottles, caps, labels. Imported: GLDA (via local agents of Nouryon or BASF) and foil-sealed strips from two suppliers</a:t>
            </a:r>
            <a:endParaRPr lang="en-US" sz="1100" dirty="0"/>
          </a:p>
        </p:txBody>
      </p:sp>
      <p:sp>
        <p:nvSpPr>
          <p:cNvPr id="13" name="Shape 11"/>
          <p:cNvSpPr/>
          <p:nvPr/>
        </p:nvSpPr>
        <p:spPr>
          <a:xfrm>
            <a:off x="6016752" y="2176272"/>
            <a:ext cx="155448" cy="219456"/>
          </a:xfrm>
          <a:prstGeom prst="rightArrow">
            <a:avLst/>
          </a:prstGeom>
          <a:solidFill>
            <a:srgbClr val="A7B0BE"/>
          </a:solidFill>
          <a:ln/>
        </p:spPr>
      </p:sp>
      <p:sp>
        <p:nvSpPr>
          <p:cNvPr id="14" name="Shape 12"/>
          <p:cNvSpPr/>
          <p:nvPr/>
        </p:nvSpPr>
        <p:spPr>
          <a:xfrm>
            <a:off x="6199632" y="1554480"/>
            <a:ext cx="2615184" cy="1463040"/>
          </a:xfrm>
          <a:prstGeom prst="roundRect">
            <a:avLst>
              <a:gd name="adj" fmla="val 5000"/>
            </a:avLst>
          </a:prstGeom>
          <a:solidFill>
            <a:srgbClr val="F3F6FA"/>
          </a:solidFill>
          <a:ln/>
        </p:spPr>
      </p:sp>
      <p:sp>
        <p:nvSpPr>
          <p:cNvPr id="15" name="Shape 13"/>
          <p:cNvSpPr/>
          <p:nvPr/>
        </p:nvSpPr>
        <p:spPr>
          <a:xfrm>
            <a:off x="6336792" y="1664208"/>
            <a:ext cx="914400" cy="274320"/>
          </a:xfrm>
          <a:prstGeom prst="roundRect">
            <a:avLst>
              <a:gd name="adj" fmla="val 26667"/>
            </a:avLst>
          </a:prstGeom>
          <a:solidFill>
            <a:srgbClr val="12A5C4"/>
          </a:solidFill>
          <a:ln/>
        </p:spPr>
      </p:sp>
      <p:sp>
        <p:nvSpPr>
          <p:cNvPr id="16" name="Text 14"/>
          <p:cNvSpPr txBox="1"/>
          <p:nvPr/>
        </p:nvSpPr>
        <p:spPr>
          <a:xfrm>
            <a:off x="6336792" y="1664208"/>
            <a:ext cx="914400" cy="274320"/>
          </a:xfrm>
          <a:prstGeom prst="rect">
            <a:avLst/>
          </a:prstGeom>
          <a:noFill/>
          <a:ln/>
        </p:spPr>
        <p:txBody>
          <a:bodyPr wrap="square" lIns="0" tIns="0" rIns="0" bIns="0" rtlCol="0" anchor="ctr"/>
          <a:lstStyle/>
          <a:p>
            <a:pPr algn="ctr" indent="0" marL="0">
              <a:buNone/>
            </a:pPr>
            <a:r>
              <a:rPr lang="en-US" sz="1100" b="1" dirty="0">
                <a:solidFill>
                  <a:srgbClr val="FFFFFF"/>
                </a:solidFill>
              </a:rPr>
              <a:t>MAKE</a:t>
            </a:r>
            <a:endParaRPr lang="en-US" sz="1100" dirty="0"/>
          </a:p>
        </p:txBody>
      </p:sp>
      <p:sp>
        <p:nvSpPr>
          <p:cNvPr id="17" name="Text 15"/>
          <p:cNvSpPr txBox="1"/>
          <p:nvPr/>
        </p:nvSpPr>
        <p:spPr>
          <a:xfrm>
            <a:off x="6336792" y="2011680"/>
            <a:ext cx="2359152" cy="960120"/>
          </a:xfrm>
          <a:prstGeom prst="rect">
            <a:avLst/>
          </a:prstGeom>
          <a:noFill/>
          <a:ln/>
        </p:spPr>
        <p:txBody>
          <a:bodyPr wrap="square" lIns="0" tIns="0" rIns="0" bIns="0" rtlCol="0" anchor="t"/>
          <a:lstStyle/>
          <a:p>
            <a:pPr indent="0" marL="0">
              <a:buNone/>
            </a:pPr>
            <a:r>
              <a:rPr lang="en-US" sz="1100" dirty="0">
                <a:solidFill>
                  <a:srgbClr val="1F2937"/>
                </a:solidFill>
              </a:rPr>
              <a:t>Mouchak: batch mixing (+45% capacity in FY26), bottle and sachet filling (two new sachet machines), strip insertion (manual in pilot, semi-automatic nationally)</a:t>
            </a:r>
            <a:endParaRPr lang="en-US" sz="1100" dirty="0"/>
          </a:p>
        </p:txBody>
      </p:sp>
      <p:sp>
        <p:nvSpPr>
          <p:cNvPr id="18" name="Shape 16"/>
          <p:cNvSpPr/>
          <p:nvPr/>
        </p:nvSpPr>
        <p:spPr>
          <a:xfrm>
            <a:off x="8842248" y="2176272"/>
            <a:ext cx="155448" cy="219456"/>
          </a:xfrm>
          <a:prstGeom prst="rightArrow">
            <a:avLst/>
          </a:prstGeom>
          <a:solidFill>
            <a:srgbClr val="A7B0BE"/>
          </a:solidFill>
          <a:ln/>
        </p:spPr>
      </p:sp>
      <p:sp>
        <p:nvSpPr>
          <p:cNvPr id="19" name="Shape 17"/>
          <p:cNvSpPr/>
          <p:nvPr/>
        </p:nvSpPr>
        <p:spPr>
          <a:xfrm>
            <a:off x="9025128" y="1554480"/>
            <a:ext cx="2615184" cy="1463040"/>
          </a:xfrm>
          <a:prstGeom prst="roundRect">
            <a:avLst>
              <a:gd name="adj" fmla="val 5000"/>
            </a:avLst>
          </a:prstGeom>
          <a:solidFill>
            <a:srgbClr val="F3F6FA"/>
          </a:solidFill>
          <a:ln/>
        </p:spPr>
      </p:sp>
      <p:sp>
        <p:nvSpPr>
          <p:cNvPr id="20" name="Shape 18"/>
          <p:cNvSpPr/>
          <p:nvPr/>
        </p:nvSpPr>
        <p:spPr>
          <a:xfrm>
            <a:off x="9162288" y="1664208"/>
            <a:ext cx="914400" cy="274320"/>
          </a:xfrm>
          <a:prstGeom prst="roundRect">
            <a:avLst>
              <a:gd name="adj" fmla="val 26667"/>
            </a:avLst>
          </a:prstGeom>
          <a:solidFill>
            <a:srgbClr val="3E9B3A"/>
          </a:solidFill>
          <a:ln/>
        </p:spPr>
      </p:sp>
      <p:sp>
        <p:nvSpPr>
          <p:cNvPr id="21" name="Text 19"/>
          <p:cNvSpPr txBox="1"/>
          <p:nvPr/>
        </p:nvSpPr>
        <p:spPr>
          <a:xfrm>
            <a:off x="9162288" y="1664208"/>
            <a:ext cx="914400" cy="274320"/>
          </a:xfrm>
          <a:prstGeom prst="rect">
            <a:avLst/>
          </a:prstGeom>
          <a:noFill/>
          <a:ln/>
        </p:spPr>
        <p:txBody>
          <a:bodyPr wrap="square" lIns="0" tIns="0" rIns="0" bIns="0" rtlCol="0" anchor="ctr"/>
          <a:lstStyle/>
          <a:p>
            <a:pPr algn="ctr" indent="0" marL="0">
              <a:buNone/>
            </a:pPr>
            <a:r>
              <a:rPr lang="en-US" sz="1100" b="1" dirty="0">
                <a:solidFill>
                  <a:srgbClr val="FFFFFF"/>
                </a:solidFill>
              </a:rPr>
              <a:t>MOVE</a:t>
            </a:r>
            <a:endParaRPr lang="en-US" sz="1100" dirty="0"/>
          </a:p>
        </p:txBody>
      </p:sp>
      <p:sp>
        <p:nvSpPr>
          <p:cNvPr id="22" name="Text 20"/>
          <p:cNvSpPr txBox="1"/>
          <p:nvPr/>
        </p:nvSpPr>
        <p:spPr>
          <a:xfrm>
            <a:off x="9162288" y="2011680"/>
            <a:ext cx="2359152" cy="960120"/>
          </a:xfrm>
          <a:prstGeom prst="rect">
            <a:avLst/>
          </a:prstGeom>
          <a:noFill/>
          <a:ln/>
        </p:spPr>
        <p:txBody>
          <a:bodyPr wrap="square" lIns="0" tIns="0" rIns="0" bIns="0" rtlCol="0" anchor="t"/>
          <a:lstStyle/>
          <a:p>
            <a:pPr indent="0" marL="0">
              <a:buNone/>
            </a:pPr>
            <a:r>
              <a:rPr lang="en-US" sz="1100" dirty="0">
                <a:solidFill>
                  <a:srgbClr val="1F2937"/>
                </a:solidFill>
              </a:rPr>
              <a:t>Existing Naturale distributors to GT, MT and e-commerce. QC release: pH 5.0–5.5, viscosity, microbiology, strip CoA and seal check</a:t>
            </a:r>
            <a:endParaRPr lang="en-US" sz="1100" dirty="0"/>
          </a:p>
        </p:txBody>
      </p:sp>
      <p:sp>
        <p:nvSpPr>
          <p:cNvPr id="23" name="Shape 21"/>
          <p:cNvSpPr/>
          <p:nvPr/>
        </p:nvSpPr>
        <p:spPr>
          <a:xfrm>
            <a:off x="548640" y="3154680"/>
            <a:ext cx="3474720" cy="2697480"/>
          </a:xfrm>
          <a:prstGeom prst="roundRect">
            <a:avLst>
              <a:gd name="adj" fmla="val 2712"/>
            </a:avLst>
          </a:prstGeom>
          <a:solidFill>
            <a:srgbClr val="F3F6FA"/>
          </a:solidFill>
          <a:ln/>
        </p:spPr>
      </p:sp>
      <p:sp>
        <p:nvSpPr>
          <p:cNvPr id="24" name="Text 22"/>
          <p:cNvSpPr txBox="1"/>
          <p:nvPr/>
        </p:nvSpPr>
        <p:spPr>
          <a:xfrm>
            <a:off x="731520" y="3246120"/>
            <a:ext cx="3108960" cy="274320"/>
          </a:xfrm>
          <a:prstGeom prst="rect">
            <a:avLst/>
          </a:prstGeom>
          <a:noFill/>
          <a:ln/>
        </p:spPr>
        <p:txBody>
          <a:bodyPr wrap="square" lIns="0" tIns="0" rIns="0" bIns="0" rtlCol="0" anchor="t"/>
          <a:lstStyle/>
          <a:p>
            <a:pPr indent="0" marL="0">
              <a:buNone/>
            </a:pPr>
            <a:r>
              <a:rPr lang="en-US" sz="1100" b="1" spc="100" kern="0" dirty="0">
                <a:solidFill>
                  <a:srgbClr val="0E7FA0"/>
                </a:solidFill>
              </a:rPr>
              <a:t>MAKE · MODIFY · BUY</a:t>
            </a:r>
            <a:endParaRPr lang="en-US" sz="1100" dirty="0"/>
          </a:p>
        </p:txBody>
      </p:sp>
      <p:sp>
        <p:nvSpPr>
          <p:cNvPr id="25" name="Shape 23"/>
          <p:cNvSpPr/>
          <p:nvPr/>
        </p:nvSpPr>
        <p:spPr>
          <a:xfrm>
            <a:off x="731520" y="3611880"/>
            <a:ext cx="868680" cy="292608"/>
          </a:xfrm>
          <a:prstGeom prst="roundRect">
            <a:avLst>
              <a:gd name="adj" fmla="val 25000"/>
            </a:avLst>
          </a:prstGeom>
          <a:solidFill>
            <a:srgbClr val="141C52"/>
          </a:solidFill>
          <a:ln/>
        </p:spPr>
      </p:sp>
      <p:sp>
        <p:nvSpPr>
          <p:cNvPr id="26" name="Text 24"/>
          <p:cNvSpPr txBox="1"/>
          <p:nvPr/>
        </p:nvSpPr>
        <p:spPr>
          <a:xfrm>
            <a:off x="731520" y="3611880"/>
            <a:ext cx="868680" cy="292608"/>
          </a:xfrm>
          <a:prstGeom prst="rect">
            <a:avLst/>
          </a:prstGeom>
          <a:noFill/>
          <a:ln/>
        </p:spPr>
        <p:txBody>
          <a:bodyPr wrap="square" lIns="0" tIns="0" rIns="0" bIns="0" rtlCol="0" anchor="ctr"/>
          <a:lstStyle/>
          <a:p>
            <a:pPr algn="ctr" indent="0" marL="0">
              <a:buNone/>
            </a:pPr>
            <a:r>
              <a:rPr lang="en-US" sz="1000" b="1" dirty="0">
                <a:solidFill>
                  <a:srgbClr val="FFFFFF"/>
                </a:solidFill>
              </a:rPr>
              <a:t>MAKE</a:t>
            </a:r>
            <a:endParaRPr lang="en-US" sz="1000" dirty="0"/>
          </a:p>
        </p:txBody>
      </p:sp>
      <p:sp>
        <p:nvSpPr>
          <p:cNvPr id="27" name="Text 25"/>
          <p:cNvSpPr txBox="1"/>
          <p:nvPr/>
        </p:nvSpPr>
        <p:spPr>
          <a:xfrm>
            <a:off x="1691640" y="3566160"/>
            <a:ext cx="2240280" cy="658368"/>
          </a:xfrm>
          <a:prstGeom prst="rect">
            <a:avLst/>
          </a:prstGeom>
          <a:noFill/>
          <a:ln/>
        </p:spPr>
        <p:txBody>
          <a:bodyPr wrap="square" lIns="0" tIns="0" rIns="0" bIns="0" rtlCol="0" anchor="t"/>
          <a:lstStyle/>
          <a:p>
            <a:pPr indent="0" marL="0">
              <a:buNone/>
            </a:pPr>
            <a:r>
              <a:rPr lang="en-US" sz="1100" dirty="0">
                <a:solidFill>
                  <a:srgbClr val="1F2937"/>
                </a:solidFill>
              </a:rPr>
              <a:t>Bulk shampoo; bottle and sachet filling</a:t>
            </a:r>
            <a:endParaRPr lang="en-US" sz="1100" dirty="0"/>
          </a:p>
        </p:txBody>
      </p:sp>
      <p:sp>
        <p:nvSpPr>
          <p:cNvPr id="28" name="Shape 26"/>
          <p:cNvSpPr/>
          <p:nvPr/>
        </p:nvSpPr>
        <p:spPr>
          <a:xfrm>
            <a:off x="731520" y="4343400"/>
            <a:ext cx="868680" cy="292608"/>
          </a:xfrm>
          <a:prstGeom prst="roundRect">
            <a:avLst>
              <a:gd name="adj" fmla="val 25000"/>
            </a:avLst>
          </a:prstGeom>
          <a:solidFill>
            <a:srgbClr val="12A5C4"/>
          </a:solidFill>
          <a:ln/>
        </p:spPr>
      </p:sp>
      <p:sp>
        <p:nvSpPr>
          <p:cNvPr id="29" name="Text 27"/>
          <p:cNvSpPr txBox="1"/>
          <p:nvPr/>
        </p:nvSpPr>
        <p:spPr>
          <a:xfrm>
            <a:off x="731520" y="4343400"/>
            <a:ext cx="868680" cy="292608"/>
          </a:xfrm>
          <a:prstGeom prst="rect">
            <a:avLst/>
          </a:prstGeom>
          <a:noFill/>
          <a:ln/>
        </p:spPr>
        <p:txBody>
          <a:bodyPr wrap="square" lIns="0" tIns="0" rIns="0" bIns="0" rtlCol="0" anchor="ctr"/>
          <a:lstStyle/>
          <a:p>
            <a:pPr algn="ctr" indent="0" marL="0">
              <a:buNone/>
            </a:pPr>
            <a:r>
              <a:rPr lang="en-US" sz="1000" b="1" dirty="0">
                <a:solidFill>
                  <a:srgbClr val="FFFFFF"/>
                </a:solidFill>
              </a:rPr>
              <a:t>MODIFY</a:t>
            </a:r>
            <a:endParaRPr lang="en-US" sz="1000" dirty="0"/>
          </a:p>
        </p:txBody>
      </p:sp>
      <p:sp>
        <p:nvSpPr>
          <p:cNvPr id="30" name="Text 28"/>
          <p:cNvSpPr txBox="1"/>
          <p:nvPr/>
        </p:nvSpPr>
        <p:spPr>
          <a:xfrm>
            <a:off x="1691640" y="4297680"/>
            <a:ext cx="2240280" cy="658368"/>
          </a:xfrm>
          <a:prstGeom prst="rect">
            <a:avLst/>
          </a:prstGeom>
          <a:noFill/>
          <a:ln/>
        </p:spPr>
        <p:txBody>
          <a:bodyPr wrap="square" lIns="0" tIns="0" rIns="0" bIns="0" rtlCol="0" anchor="t"/>
          <a:lstStyle/>
          <a:p>
            <a:pPr indent="0" marL="0">
              <a:buNone/>
            </a:pPr>
            <a:r>
              <a:rPr lang="en-US" sz="1100" dirty="0">
                <a:solidFill>
                  <a:srgbClr val="1F2937"/>
                </a:solidFill>
              </a:rPr>
              <a:t>Naturale base + GLDA; 340 ml flip-top cap with a strip pocket (new mould)</a:t>
            </a:r>
            <a:endParaRPr lang="en-US" sz="1100" dirty="0"/>
          </a:p>
        </p:txBody>
      </p:sp>
      <p:sp>
        <p:nvSpPr>
          <p:cNvPr id="31" name="Shape 29"/>
          <p:cNvSpPr/>
          <p:nvPr/>
        </p:nvSpPr>
        <p:spPr>
          <a:xfrm>
            <a:off x="731520" y="5074920"/>
            <a:ext cx="868680" cy="292608"/>
          </a:xfrm>
          <a:prstGeom prst="roundRect">
            <a:avLst>
              <a:gd name="adj" fmla="val 25000"/>
            </a:avLst>
          </a:prstGeom>
          <a:solidFill>
            <a:srgbClr val="F5A31A"/>
          </a:solidFill>
          <a:ln/>
        </p:spPr>
      </p:sp>
      <p:sp>
        <p:nvSpPr>
          <p:cNvPr id="32" name="Text 30"/>
          <p:cNvSpPr txBox="1"/>
          <p:nvPr/>
        </p:nvSpPr>
        <p:spPr>
          <a:xfrm>
            <a:off x="731520" y="5074920"/>
            <a:ext cx="868680" cy="292608"/>
          </a:xfrm>
          <a:prstGeom prst="rect">
            <a:avLst/>
          </a:prstGeom>
          <a:noFill/>
          <a:ln/>
        </p:spPr>
        <p:txBody>
          <a:bodyPr wrap="square" lIns="0" tIns="0" rIns="0" bIns="0" rtlCol="0" anchor="ctr"/>
          <a:lstStyle/>
          <a:p>
            <a:pPr algn="ctr" indent="0" marL="0">
              <a:buNone/>
            </a:pPr>
            <a:r>
              <a:rPr lang="en-US" sz="1000" b="1" dirty="0">
                <a:solidFill>
                  <a:srgbClr val="141C52"/>
                </a:solidFill>
              </a:rPr>
              <a:t>BUY</a:t>
            </a:r>
            <a:endParaRPr lang="en-US" sz="1000" dirty="0"/>
          </a:p>
        </p:txBody>
      </p:sp>
      <p:sp>
        <p:nvSpPr>
          <p:cNvPr id="33" name="Text 31"/>
          <p:cNvSpPr txBox="1"/>
          <p:nvPr/>
        </p:nvSpPr>
        <p:spPr>
          <a:xfrm>
            <a:off x="1691640" y="5029200"/>
            <a:ext cx="2240280" cy="658368"/>
          </a:xfrm>
          <a:prstGeom prst="rect">
            <a:avLst/>
          </a:prstGeom>
          <a:noFill/>
          <a:ln/>
        </p:spPr>
        <p:txBody>
          <a:bodyPr wrap="square" lIns="0" tIns="0" rIns="0" bIns="0" rtlCol="0" anchor="t"/>
          <a:lstStyle/>
          <a:p>
            <a:pPr indent="0" marL="0">
              <a:buNone/>
            </a:pPr>
            <a:r>
              <a:rPr lang="en-US" sz="1100" dirty="0">
                <a:solidFill>
                  <a:srgbClr val="1F2937"/>
                </a:solidFill>
              </a:rPr>
              <a:t>Hardness strips with foil sleeve; GLDA chelator</a:t>
            </a:r>
            <a:endParaRPr lang="en-US" sz="1100" dirty="0"/>
          </a:p>
        </p:txBody>
      </p:sp>
      <p:sp>
        <p:nvSpPr>
          <p:cNvPr id="34" name="Shape 32"/>
          <p:cNvSpPr/>
          <p:nvPr/>
        </p:nvSpPr>
        <p:spPr>
          <a:xfrm>
            <a:off x="4206240" y="3154680"/>
            <a:ext cx="3657600" cy="2697480"/>
          </a:xfrm>
          <a:prstGeom prst="roundRect">
            <a:avLst>
              <a:gd name="adj" fmla="val 2712"/>
            </a:avLst>
          </a:prstGeom>
          <a:solidFill>
            <a:srgbClr val="F3F6FA"/>
          </a:solidFill>
          <a:ln/>
        </p:spPr>
      </p:sp>
      <p:sp>
        <p:nvSpPr>
          <p:cNvPr id="35" name="Text 33"/>
          <p:cNvSpPr txBox="1"/>
          <p:nvPr/>
        </p:nvSpPr>
        <p:spPr>
          <a:xfrm>
            <a:off x="4389120" y="3246120"/>
            <a:ext cx="3383280" cy="274320"/>
          </a:xfrm>
          <a:prstGeom prst="rect">
            <a:avLst/>
          </a:prstGeom>
          <a:noFill/>
          <a:ln/>
        </p:spPr>
        <p:txBody>
          <a:bodyPr wrap="square" lIns="0" tIns="0" rIns="0" bIns="0" rtlCol="0" anchor="t"/>
          <a:lstStyle/>
          <a:p>
            <a:pPr indent="0" marL="0">
              <a:buNone/>
            </a:pPr>
            <a:r>
              <a:rPr lang="en-US" sz="1000" b="1" spc="100" kern="0" dirty="0">
                <a:solidFill>
                  <a:srgbClr val="0E7FA0"/>
                </a:solidFill>
              </a:rPr>
              <a:t>FACTORY READINESS</a:t>
            </a:r>
            <a:endParaRPr lang="en-US" sz="1000" dirty="0"/>
          </a:p>
        </p:txBody>
      </p:sp>
      <p:sp>
        <p:nvSpPr>
          <p:cNvPr id="61" name="Shape 43"/>
          <p:cNvSpPr/>
          <p:nvPr/>
        </p:nvSpPr>
        <p:spPr>
          <a:xfrm>
            <a:off x="4389120" y="3630168"/>
            <a:ext cx="201168" cy="201168"/>
          </a:xfrm>
          <a:prstGeom prst="ellipse">
            <a:avLst/>
          </a:prstGeom>
          <a:solidFill>
            <a:srgbClr val="F5A31A"/>
          </a:solidFill>
          <a:ln/>
        </p:spPr>
      </p:sp>
      <p:sp>
        <p:nvSpPr>
          <p:cNvPr id="62" name="Text 44"/>
          <p:cNvSpPr txBox="1"/>
          <p:nvPr/>
        </p:nvSpPr>
        <p:spPr>
          <a:xfrm>
            <a:off x="4389120" y="3630168"/>
            <a:ext cx="201168" cy="201168"/>
          </a:xfrm>
          <a:prstGeom prst="rect">
            <a:avLst/>
          </a:prstGeom>
          <a:noFill/>
          <a:ln/>
        </p:spPr>
        <p:txBody>
          <a:bodyPr wrap="square" lIns="0" tIns="0" rIns="0" bIns="0" rtlCol="0" anchor="ctr"/>
          <a:lstStyle/>
          <a:p>
            <a:pPr algn="ctr" indent="0" marL="0">
              <a:buNone/>
            </a:pPr>
            <a:r>
              <a:rPr lang="en-US" sz="1000" b="1" dirty="0">
                <a:solidFill>
                  <a:srgbClr val="FFFFFF"/>
                </a:solidFill>
              </a:rPr>
              <a:t>!</a:t>
            </a:r>
            <a:endParaRPr lang="en-US" sz="1000" dirty="0"/>
          </a:p>
        </p:txBody>
      </p:sp>
      <p:sp>
        <p:nvSpPr>
          <p:cNvPr id="38" name="Text 36"/>
          <p:cNvSpPr txBox="1"/>
          <p:nvPr/>
        </p:nvSpPr>
        <p:spPr>
          <a:xfrm>
            <a:off x="4681728" y="3584448"/>
            <a:ext cx="3108960" cy="292608"/>
          </a:xfrm>
          <a:prstGeom prst="rect">
            <a:avLst/>
          </a:prstGeom>
          <a:noFill/>
          <a:ln/>
        </p:spPr>
        <p:txBody>
          <a:bodyPr wrap="square" lIns="0" tIns="0" rIns="0" bIns="0" rtlCol="0" anchor="ctr"/>
          <a:lstStyle/>
          <a:p>
            <a:pPr indent="0" marL="0">
              <a:buNone/>
            </a:pPr>
            <a:r>
              <a:rPr lang="en-US" sz="1100" b="1" dirty="0">
                <a:solidFill>
                  <a:srgbClr val="141C52"/>
                </a:solidFill>
              </a:rPr>
              <a:t>Feasibility  </a:t>
            </a:r>
            <a:pPr indent="0" marL="0">
              <a:buNone/>
            </a:pPr>
            <a:r>
              <a:rPr lang="en-US" sz="1100" dirty="0">
                <a:solidFill>
                  <a:srgbClr val="1F2937"/>
                </a:solidFill>
              </a:rPr>
              <a:t>To qualify: existing shampoo line</a:t>
            </a:r>
            <a:endParaRPr lang="en-US" sz="1100" dirty="0"/>
          </a:p>
        </p:txBody>
      </p:sp>
      <p:sp>
        <p:nvSpPr>
          <p:cNvPr id="39" name="Shape 37"/>
          <p:cNvSpPr/>
          <p:nvPr/>
        </p:nvSpPr>
        <p:spPr>
          <a:xfrm>
            <a:off x="4389120" y="3950208"/>
            <a:ext cx="201168" cy="201168"/>
          </a:xfrm>
          <a:prstGeom prst="ellipse">
            <a:avLst/>
          </a:prstGeom>
          <a:solidFill>
            <a:srgbClr val="3E9B3A"/>
          </a:solidFill>
          <a:ln/>
        </p:spPr>
      </p:sp>
      <p:sp>
        <p:nvSpPr>
          <p:cNvPr id="40" name="Text 38"/>
          <p:cNvSpPr txBox="1"/>
          <p:nvPr/>
        </p:nvSpPr>
        <p:spPr>
          <a:xfrm>
            <a:off x="4389120" y="3950208"/>
            <a:ext cx="201168" cy="201168"/>
          </a:xfrm>
          <a:prstGeom prst="rect">
            <a:avLst/>
          </a:prstGeom>
          <a:noFill/>
          <a:ln/>
        </p:spPr>
        <p:txBody>
          <a:bodyPr wrap="square" lIns="0" tIns="0" rIns="0" bIns="0" rtlCol="0" anchor="ctr"/>
          <a:lstStyle/>
          <a:p>
            <a:pPr algn="ctr" indent="0" marL="0">
              <a:buNone/>
            </a:pPr>
            <a:r>
              <a:rPr lang="en-US" sz="1000" b="1" dirty="0">
                <a:solidFill>
                  <a:srgbClr val="FFFFFF"/>
                </a:solidFill>
              </a:rPr>
              <a:t>✓</a:t>
            </a:r>
            <a:endParaRPr lang="en-US" sz="1000" dirty="0"/>
          </a:p>
        </p:txBody>
      </p:sp>
      <p:sp>
        <p:nvSpPr>
          <p:cNvPr id="41" name="Text 39"/>
          <p:cNvSpPr txBox="1"/>
          <p:nvPr/>
        </p:nvSpPr>
        <p:spPr>
          <a:xfrm>
            <a:off x="4681728" y="3904488"/>
            <a:ext cx="3108960" cy="292608"/>
          </a:xfrm>
          <a:prstGeom prst="rect">
            <a:avLst/>
          </a:prstGeom>
          <a:noFill/>
          <a:ln/>
        </p:spPr>
        <p:txBody>
          <a:bodyPr wrap="square" lIns="0" tIns="0" rIns="0" bIns="0" rtlCol="0" anchor="ctr"/>
          <a:lstStyle/>
          <a:p>
            <a:pPr indent="0" marL="0">
              <a:buNone/>
            </a:pPr>
            <a:r>
              <a:rPr lang="en-US" sz="1100" b="1" dirty="0">
                <a:solidFill>
                  <a:srgbClr val="141C52"/>
                </a:solidFill>
              </a:rPr>
              <a:t>Affordability  </a:t>
            </a:r>
            <a:pPr indent="0" marL="0">
              <a:buNone/>
            </a:pPr>
            <a:r>
              <a:rPr lang="en-US" sz="1100" dirty="0">
                <a:solidFill>
                  <a:srgbClr val="1F2937"/>
                </a:solidFill>
              </a:rPr>
              <a:t>Blended gross margin 47%</a:t>
            </a:r>
            <a:endParaRPr lang="en-US" sz="1100" dirty="0"/>
          </a:p>
        </p:txBody>
      </p:sp>
      <p:sp>
        <p:nvSpPr>
          <p:cNvPr id="63" name="Shape 43"/>
          <p:cNvSpPr/>
          <p:nvPr/>
        </p:nvSpPr>
        <p:spPr>
          <a:xfrm>
            <a:off x="4389120" y="4270248"/>
            <a:ext cx="201168" cy="201168"/>
          </a:xfrm>
          <a:prstGeom prst="ellipse">
            <a:avLst/>
          </a:prstGeom>
          <a:solidFill>
            <a:srgbClr val="F5A31A"/>
          </a:solidFill>
          <a:ln/>
        </p:spPr>
      </p:sp>
      <p:sp>
        <p:nvSpPr>
          <p:cNvPr id="64" name="Text 44"/>
          <p:cNvSpPr txBox="1"/>
          <p:nvPr/>
        </p:nvSpPr>
        <p:spPr>
          <a:xfrm>
            <a:off x="4389120" y="4270248"/>
            <a:ext cx="201168" cy="201168"/>
          </a:xfrm>
          <a:prstGeom prst="rect">
            <a:avLst/>
          </a:prstGeom>
          <a:noFill/>
          <a:ln/>
        </p:spPr>
        <p:txBody>
          <a:bodyPr wrap="square" lIns="0" tIns="0" rIns="0" bIns="0" rtlCol="0" anchor="ctr"/>
          <a:lstStyle/>
          <a:p>
            <a:pPr algn="ctr" indent="0" marL="0">
              <a:buNone/>
            </a:pPr>
            <a:r>
              <a:rPr lang="en-US" sz="1000" b="1" dirty="0">
                <a:solidFill>
                  <a:srgbClr val="FFFFFF"/>
                </a:solidFill>
              </a:rPr>
              <a:t>!</a:t>
            </a:r>
            <a:endParaRPr lang="en-US" sz="1000" dirty="0"/>
          </a:p>
        </p:txBody>
      </p:sp>
      <p:sp>
        <p:nvSpPr>
          <p:cNvPr id="44" name="Text 42"/>
          <p:cNvSpPr txBox="1"/>
          <p:nvPr/>
        </p:nvSpPr>
        <p:spPr>
          <a:xfrm>
            <a:off x="4681728" y="4224528"/>
            <a:ext cx="3108960" cy="292608"/>
          </a:xfrm>
          <a:prstGeom prst="rect">
            <a:avLst/>
          </a:prstGeom>
          <a:noFill/>
          <a:ln/>
        </p:spPr>
        <p:txBody>
          <a:bodyPr wrap="square" lIns="0" tIns="0" rIns="0" bIns="0" rtlCol="0" anchor="ctr"/>
          <a:lstStyle/>
          <a:p>
            <a:pPr indent="0" marL="0">
              <a:buNone/>
            </a:pPr>
            <a:r>
              <a:rPr lang="en-US" sz="1100" b="1" dirty="0">
                <a:solidFill>
                  <a:srgbClr val="141C52"/>
                </a:solidFill>
              </a:rPr>
              <a:t>Capability  </a:t>
            </a:r>
            <a:pPr indent="0" marL="0">
              <a:buNone/>
            </a:pPr>
            <a:r>
              <a:rPr lang="en-US" sz="1100" dirty="0">
                <a:solidFill>
                  <a:srgbClr val="1F2937"/>
                </a:solidFill>
              </a:rPr>
              <a:t>To qualify: Make + Modify</a:t>
            </a:r>
            <a:endParaRPr lang="en-US" sz="1100" dirty="0"/>
          </a:p>
        </p:txBody>
      </p:sp>
      <p:sp>
        <p:nvSpPr>
          <p:cNvPr id="45" name="Shape 43"/>
          <p:cNvSpPr/>
          <p:nvPr/>
        </p:nvSpPr>
        <p:spPr>
          <a:xfrm>
            <a:off x="4389120" y="4590288"/>
            <a:ext cx="201168" cy="201168"/>
          </a:xfrm>
          <a:prstGeom prst="ellipse">
            <a:avLst/>
          </a:prstGeom>
          <a:solidFill>
            <a:srgbClr val="F5A31A"/>
          </a:solidFill>
          <a:ln/>
        </p:spPr>
      </p:sp>
      <p:sp>
        <p:nvSpPr>
          <p:cNvPr id="46" name="Text 44"/>
          <p:cNvSpPr txBox="1"/>
          <p:nvPr/>
        </p:nvSpPr>
        <p:spPr>
          <a:xfrm>
            <a:off x="4389120" y="4590288"/>
            <a:ext cx="201168" cy="201168"/>
          </a:xfrm>
          <a:prstGeom prst="rect">
            <a:avLst/>
          </a:prstGeom>
          <a:noFill/>
          <a:ln/>
        </p:spPr>
        <p:txBody>
          <a:bodyPr wrap="square" lIns="0" tIns="0" rIns="0" bIns="0" rtlCol="0" anchor="ctr"/>
          <a:lstStyle/>
          <a:p>
            <a:pPr algn="ctr" indent="0" marL="0">
              <a:buNone/>
            </a:pPr>
            <a:r>
              <a:rPr lang="en-US" sz="1000" b="1" dirty="0">
                <a:solidFill>
                  <a:srgbClr val="FFFFFF"/>
                </a:solidFill>
              </a:rPr>
              <a:t>!</a:t>
            </a:r>
            <a:endParaRPr lang="en-US" sz="1000" dirty="0"/>
          </a:p>
        </p:txBody>
      </p:sp>
      <p:sp>
        <p:nvSpPr>
          <p:cNvPr id="47" name="Text 45"/>
          <p:cNvSpPr txBox="1"/>
          <p:nvPr/>
        </p:nvSpPr>
        <p:spPr>
          <a:xfrm>
            <a:off x="4681728" y="4544568"/>
            <a:ext cx="3108960" cy="292608"/>
          </a:xfrm>
          <a:prstGeom prst="rect">
            <a:avLst/>
          </a:prstGeom>
          <a:noFill/>
          <a:ln/>
        </p:spPr>
        <p:txBody>
          <a:bodyPr wrap="square" lIns="0" tIns="0" rIns="0" bIns="0" rtlCol="0" anchor="ctr"/>
          <a:lstStyle/>
          <a:p>
            <a:pPr indent="0" marL="0">
              <a:buNone/>
            </a:pPr>
            <a:r>
              <a:rPr lang="en-US" sz="1100" b="1" dirty="0">
                <a:solidFill>
                  <a:srgbClr val="141C52"/>
                </a:solidFill>
              </a:rPr>
              <a:t>Time  </a:t>
            </a:r>
            <a:pPr indent="0" marL="0">
              <a:buNone/>
            </a:pPr>
            <a:r>
              <a:rPr lang="en-US" sz="1100" dirty="0">
                <a:solidFill>
                  <a:srgbClr val="1F2937"/>
                </a:solidFill>
              </a:rPr>
              <a:t>4–6 months of stability testing</a:t>
            </a:r>
            <a:endParaRPr lang="en-US" sz="1100" dirty="0"/>
          </a:p>
        </p:txBody>
      </p:sp>
      <p:sp>
        <p:nvSpPr>
          <p:cNvPr id="65" name="Shape 43"/>
          <p:cNvSpPr/>
          <p:nvPr/>
        </p:nvSpPr>
        <p:spPr>
          <a:xfrm>
            <a:off x="4389120" y="4910328"/>
            <a:ext cx="201168" cy="201168"/>
          </a:xfrm>
          <a:prstGeom prst="ellipse">
            <a:avLst/>
          </a:prstGeom>
          <a:solidFill>
            <a:srgbClr val="F5A31A"/>
          </a:solidFill>
          <a:ln/>
        </p:spPr>
      </p:sp>
      <p:sp>
        <p:nvSpPr>
          <p:cNvPr id="66" name="Text 44"/>
          <p:cNvSpPr txBox="1"/>
          <p:nvPr/>
        </p:nvSpPr>
        <p:spPr>
          <a:xfrm>
            <a:off x="4389120" y="4910328"/>
            <a:ext cx="201168" cy="201168"/>
          </a:xfrm>
          <a:prstGeom prst="rect">
            <a:avLst/>
          </a:prstGeom>
          <a:noFill/>
          <a:ln/>
        </p:spPr>
        <p:txBody>
          <a:bodyPr wrap="square" lIns="0" tIns="0" rIns="0" bIns="0" rtlCol="0" anchor="ctr"/>
          <a:lstStyle/>
          <a:p>
            <a:pPr algn="ctr" indent="0" marL="0">
              <a:buNone/>
            </a:pPr>
            <a:r>
              <a:rPr lang="en-US" sz="1000" b="1" dirty="0">
                <a:solidFill>
                  <a:srgbClr val="FFFFFF"/>
                </a:solidFill>
              </a:rPr>
              <a:t>!</a:t>
            </a:r>
            <a:endParaRPr lang="en-US" sz="1000" dirty="0"/>
          </a:p>
        </p:txBody>
      </p:sp>
      <p:sp>
        <p:nvSpPr>
          <p:cNvPr id="50" name="Text 48"/>
          <p:cNvSpPr txBox="1"/>
          <p:nvPr/>
        </p:nvSpPr>
        <p:spPr>
          <a:xfrm>
            <a:off x="4681728" y="4864608"/>
            <a:ext cx="3108960" cy="292608"/>
          </a:xfrm>
          <a:prstGeom prst="rect">
            <a:avLst/>
          </a:prstGeom>
          <a:noFill/>
          <a:ln/>
        </p:spPr>
        <p:txBody>
          <a:bodyPr wrap="square" lIns="0" tIns="0" rIns="0" bIns="0" rtlCol="0" anchor="ctr"/>
          <a:lstStyle/>
          <a:p>
            <a:pPr indent="0" marL="0">
              <a:buNone/>
            </a:pPr>
            <a:r>
              <a:rPr lang="en-US" sz="1100" b="1" dirty="0">
                <a:solidFill>
                  <a:srgbClr val="141C52"/>
                </a:solidFill>
              </a:rPr>
              <a:t>Operation  </a:t>
            </a:r>
            <a:pPr indent="0" marL="0">
              <a:buNone/>
            </a:pPr>
            <a:r>
              <a:rPr lang="en-US" sz="1100" dirty="0">
                <a:solidFill>
                  <a:srgbClr val="1F2937"/>
                </a:solidFill>
              </a:rPr>
              <a:t>To qualify: 0.86M litres in Year 3</a:t>
            </a:r>
            <a:endParaRPr lang="en-US" sz="1100" dirty="0"/>
          </a:p>
        </p:txBody>
      </p:sp>
      <p:sp>
        <p:nvSpPr>
          <p:cNvPr id="51" name="Shape 49"/>
          <p:cNvSpPr/>
          <p:nvPr/>
        </p:nvSpPr>
        <p:spPr>
          <a:xfrm>
            <a:off x="4389120" y="5230368"/>
            <a:ext cx="201168" cy="201168"/>
          </a:xfrm>
          <a:prstGeom prst="ellipse">
            <a:avLst/>
          </a:prstGeom>
          <a:solidFill>
            <a:srgbClr val="F5A31A"/>
          </a:solidFill>
          <a:ln/>
        </p:spPr>
      </p:sp>
      <p:sp>
        <p:nvSpPr>
          <p:cNvPr id="52" name="Text 50"/>
          <p:cNvSpPr txBox="1"/>
          <p:nvPr/>
        </p:nvSpPr>
        <p:spPr>
          <a:xfrm>
            <a:off x="4389120" y="5230368"/>
            <a:ext cx="201168" cy="201168"/>
          </a:xfrm>
          <a:prstGeom prst="rect">
            <a:avLst/>
          </a:prstGeom>
          <a:noFill/>
          <a:ln/>
        </p:spPr>
        <p:txBody>
          <a:bodyPr wrap="square" lIns="0" tIns="0" rIns="0" bIns="0" rtlCol="0" anchor="ctr"/>
          <a:lstStyle/>
          <a:p>
            <a:pPr algn="ctr" indent="0" marL="0">
              <a:buNone/>
            </a:pPr>
            <a:r>
              <a:rPr lang="en-US" sz="1000" b="1" dirty="0">
                <a:solidFill>
                  <a:srgbClr val="FFFFFF"/>
                </a:solidFill>
              </a:rPr>
              <a:t>!</a:t>
            </a:r>
            <a:endParaRPr lang="en-US" sz="1000" dirty="0"/>
          </a:p>
        </p:txBody>
      </p:sp>
      <p:sp>
        <p:nvSpPr>
          <p:cNvPr id="53" name="Text 51"/>
          <p:cNvSpPr txBox="1"/>
          <p:nvPr/>
        </p:nvSpPr>
        <p:spPr>
          <a:xfrm>
            <a:off x="4681728" y="5184648"/>
            <a:ext cx="3108960" cy="292608"/>
          </a:xfrm>
          <a:prstGeom prst="rect">
            <a:avLst/>
          </a:prstGeom>
          <a:noFill/>
          <a:ln/>
        </p:spPr>
        <p:txBody>
          <a:bodyPr wrap="square" lIns="0" tIns="0" rIns="0" bIns="0" rtlCol="0" anchor="ctr"/>
          <a:lstStyle/>
          <a:p>
            <a:pPr indent="0" marL="0">
              <a:buNone/>
            </a:pPr>
            <a:r>
              <a:rPr lang="en-US" sz="1100" b="1" dirty="0">
                <a:solidFill>
                  <a:srgbClr val="141C52"/>
                </a:solidFill>
              </a:rPr>
              <a:t>Risk  </a:t>
            </a:r>
            <a:pPr indent="0" marL="0">
              <a:buNone/>
            </a:pPr>
            <a:r>
              <a:rPr lang="en-US" sz="1100" dirty="0">
                <a:solidFill>
                  <a:srgbClr val="1F2937"/>
                </a:solidFill>
              </a:rPr>
              <a:t>Strip life in humidity; DGDA and BSTI</a:t>
            </a:r>
            <a:endParaRPr lang="en-US" sz="1100" dirty="0"/>
          </a:p>
        </p:txBody>
      </p:sp>
      <p:sp>
        <p:nvSpPr>
          <p:cNvPr id="54" name="Shape 52"/>
          <p:cNvSpPr/>
          <p:nvPr/>
        </p:nvSpPr>
        <p:spPr>
          <a:xfrm>
            <a:off x="4389120" y="5550408"/>
            <a:ext cx="201168" cy="201168"/>
          </a:xfrm>
          <a:prstGeom prst="ellipse">
            <a:avLst/>
          </a:prstGeom>
          <a:solidFill>
            <a:srgbClr val="3E9B3A"/>
          </a:solidFill>
          <a:ln/>
        </p:spPr>
      </p:sp>
      <p:sp>
        <p:nvSpPr>
          <p:cNvPr id="55" name="Text 53"/>
          <p:cNvSpPr txBox="1"/>
          <p:nvPr/>
        </p:nvSpPr>
        <p:spPr>
          <a:xfrm>
            <a:off x="4389120" y="5550408"/>
            <a:ext cx="201168" cy="201168"/>
          </a:xfrm>
          <a:prstGeom prst="rect">
            <a:avLst/>
          </a:prstGeom>
          <a:noFill/>
          <a:ln/>
        </p:spPr>
        <p:txBody>
          <a:bodyPr wrap="square" lIns="0" tIns="0" rIns="0" bIns="0" rtlCol="0" anchor="ctr"/>
          <a:lstStyle/>
          <a:p>
            <a:pPr algn="ctr" indent="0" marL="0">
              <a:buNone/>
            </a:pPr>
            <a:r>
              <a:rPr lang="en-US" sz="1000" b="1" dirty="0">
                <a:solidFill>
                  <a:srgbClr val="FFFFFF"/>
                </a:solidFill>
              </a:rPr>
              <a:t>✓</a:t>
            </a:r>
            <a:endParaRPr lang="en-US" sz="1000" dirty="0"/>
          </a:p>
        </p:txBody>
      </p:sp>
      <p:sp>
        <p:nvSpPr>
          <p:cNvPr id="56" name="Text 54"/>
          <p:cNvSpPr txBox="1"/>
          <p:nvPr/>
        </p:nvSpPr>
        <p:spPr>
          <a:xfrm>
            <a:off x="4681728" y="5504688"/>
            <a:ext cx="3108960" cy="292608"/>
          </a:xfrm>
          <a:prstGeom prst="rect">
            <a:avLst/>
          </a:prstGeom>
          <a:noFill/>
          <a:ln/>
        </p:spPr>
        <p:txBody>
          <a:bodyPr wrap="square" lIns="0" tIns="0" rIns="0" bIns="0" rtlCol="0" anchor="ctr"/>
          <a:lstStyle/>
          <a:p>
            <a:pPr indent="0" marL="0">
              <a:buNone/>
            </a:pPr>
            <a:r>
              <a:rPr lang="en-US" sz="1100" b="1" dirty="0">
                <a:solidFill>
                  <a:srgbClr val="141C52"/>
                </a:solidFill>
              </a:rPr>
              <a:t>Yield &amp; scale  </a:t>
            </a:r>
            <a:pPr indent="0" marL="0">
              <a:buNone/>
            </a:pPr>
            <a:r>
              <a:rPr lang="en-US" sz="1100" dirty="0">
                <a:solidFill>
                  <a:srgbClr val="1F2937"/>
                </a:solidFill>
              </a:rPr>
              <a:t>One platform, two variants</a:t>
            </a:r>
            <a:endParaRPr lang="en-US" sz="1100" dirty="0"/>
          </a:p>
        </p:txBody>
      </p:sp>
      <p:sp>
        <p:nvSpPr>
          <p:cNvPr id="57" name="Shape 55"/>
          <p:cNvSpPr/>
          <p:nvPr/>
        </p:nvSpPr>
        <p:spPr>
          <a:xfrm>
            <a:off x="8046720" y="3154680"/>
            <a:ext cx="3593592" cy="2697480"/>
          </a:xfrm>
          <a:prstGeom prst="roundRect">
            <a:avLst>
              <a:gd name="adj" fmla="val 2712"/>
            </a:avLst>
          </a:prstGeom>
          <a:solidFill>
            <a:srgbClr val="F3F6FA"/>
          </a:solidFill>
          <a:ln/>
        </p:spPr>
      </p:sp>
      <p:sp>
        <p:nvSpPr>
          <p:cNvPr id="58" name="Text 56"/>
          <p:cNvSpPr txBox="1"/>
          <p:nvPr/>
        </p:nvSpPr>
        <p:spPr>
          <a:xfrm>
            <a:off x="8229600" y="3246120"/>
            <a:ext cx="3291840" cy="2560320"/>
          </a:xfrm>
          <a:prstGeom prst="rect">
            <a:avLst/>
          </a:prstGeom>
          <a:noFill/>
          <a:ln/>
        </p:spPr>
        <p:txBody>
          <a:bodyPr wrap="square" lIns="0" tIns="0" rIns="0" bIns="0" rtlCol="0" anchor="t"/>
          <a:lstStyle/>
          <a:p>
            <a:pPr indent="0" marL="0">
              <a:buNone/>
            </a:pPr>
            <a:r>
              <a:rPr lang="en-US" sz="1000" b="1" spc="100" kern="0" dirty="0">
                <a:solidFill>
                  <a:srgbClr val="0E7FA0"/>
                </a:solidFill>
              </a:rPr>
              <a:t>REGULATION &amp; SUSTAINABILITY</a:t>
            </a:r>
            <a:endParaRPr lang="en-US" sz="1200" dirty="0"/>
          </a:p>
          <a:p>
            <a:pPr marL="152400" indent="-152400">
              <a:spcBef>
                <a:spcPts val="500"/>
              </a:spcBef>
              <a:buSzPct val="100000"/>
              <a:buChar char="•"/>
            </a:pPr>
            <a:r>
              <a:rPr lang="en-US" sz="1100" dirty="0">
                <a:solidFill>
                  <a:srgbClr val="1F2937"/>
                </a:solidFill>
              </a:rPr>
              <a:t>BSTI: shampoo needs certification under BDS 1269:2022</a:t>
            </a:r>
            <a:endParaRPr lang="en-US" sz="1200" dirty="0"/>
          </a:p>
          <a:p>
            <a:pPr marL="152400" indent="-152400">
              <a:spcBef>
                <a:spcPts val="500"/>
              </a:spcBef>
              <a:buSzPct val="100000"/>
              <a:buChar char="•"/>
            </a:pPr>
            <a:r>
              <a:rPr lang="en-US" sz="1100" dirty="0">
                <a:solidFill>
                  <a:srgbClr val="1F2937"/>
                </a:solidFill>
              </a:rPr>
              <a:t>DGDA: Drugs and Cosmetics Act 2023; 2026 cosmetics rules still in draft</a:t>
            </a:r>
            <a:endParaRPr lang="en-US" sz="1200" dirty="0"/>
          </a:p>
          <a:p>
            <a:pPr marL="152400" indent="-152400">
              <a:spcBef>
                <a:spcPts val="500"/>
              </a:spcBef>
              <a:buSzPct val="100000"/>
              <a:buChar char="•"/>
            </a:pPr>
            <a:r>
              <a:rPr lang="en-US" sz="1100" dirty="0">
                <a:solidFill>
                  <a:srgbClr val="1F2937"/>
                </a:solidFill>
              </a:rPr>
              <a:t>EPR Guidelines 2026: plastic take-back; 1% of net revenue reserved</a:t>
            </a:r>
            <a:endParaRPr lang="en-US" sz="1200" dirty="0"/>
          </a:p>
          <a:p>
            <a:pPr marL="152400" indent="-152400">
              <a:spcBef>
                <a:spcPts val="500"/>
              </a:spcBef>
              <a:buSzPct val="100000"/>
              <a:buChar char="•"/>
            </a:pPr>
            <a:r>
              <a:rPr lang="en-US" sz="1100" dirty="0">
                <a:solidFill>
                  <a:srgbClr val="1F2937"/>
                </a:solidFill>
              </a:rPr>
              <a:t>GLDA is readily biodegradable, unlike EDTA</a:t>
            </a:r>
            <a:endParaRPr lang="en-US" sz="1200" dirty="0"/>
          </a:p>
          <a:p>
            <a:pPr marL="152400" indent="-152400">
              <a:spcBef>
                <a:spcPts val="500"/>
              </a:spcBef>
              <a:buSzPct val="100000"/>
              <a:buChar char="•"/>
            </a:pPr>
            <a:r>
              <a:rPr lang="en-US" sz="1100" dirty="0">
                <a:solidFill>
                  <a:srgbClr val="1F2937"/>
                </a:solidFill>
              </a:rPr>
              <a:t>Phase 2 refill pouch: 68% less plastic per wash (illustrative estimate)</a:t>
            </a:r>
            <a:endParaRPr lang="en-US" sz="1200" dirty="0"/>
          </a:p>
        </p:txBody>
      </p:sp>
      <p:sp>
        <p:nvSpPr>
          <p:cNvPr id="59" name="Text 57"/>
          <p:cNvSpPr txBox="1"/>
          <p:nvPr/>
        </p:nvSpPr>
        <p:spPr>
          <a:xfrm>
            <a:off x="548640" y="5989320"/>
            <a:ext cx="11091672" cy="365760"/>
          </a:xfrm>
          <a:prstGeom prst="rect">
            <a:avLst/>
          </a:prstGeom>
          <a:noFill/>
          <a:ln/>
        </p:spPr>
        <p:txBody>
          <a:bodyPr wrap="square" lIns="0" tIns="0" rIns="0" bIns="0" rtlCol="0" anchor="b"/>
          <a:lstStyle/>
          <a:p>
            <a:pPr indent="0" marL="0">
              <a:buNone/>
            </a:pPr>
            <a:r>
              <a:rPr lang="en-US" sz="1000" i="1" dirty="0">
                <a:solidFill>
                  <a:srgbClr val="5B6472"/>
                </a:solidFill>
              </a:rPr>
              <a:t>Sources: Marico Bangladesh Annual Report FY2025-26 (Mouchak capacity); BSTI mandatory-certification list; Drugs and Cosmetics Act 2023; EPR Guidelines 2026 (SRO 293); Nouryon Dissolvine guide; Supply chain and Manufacturing masterclasses.</a:t>
            </a:r>
            <a:endParaRPr lang="en-US" sz="1000" dirty="0"/>
          </a:p>
        </p:txBody>
      </p:sp>
      <p:sp>
        <p:nvSpPr>
          <p:cNvPr id="60"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defRPr>
            </a:lvl1pPr>
          </a:lstStyle>
          <a:p>
            <a:pPr algn="r"/>
            <a:r>
              <a:t>12</a:t>
            </a:r>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548640" y="274320"/>
            <a:ext cx="9601200" cy="256032"/>
          </a:xfrm>
          <a:prstGeom prst="rect">
            <a:avLst/>
          </a:prstGeom>
          <a:noFill/>
          <a:ln/>
        </p:spPr>
        <p:txBody>
          <a:bodyPr wrap="square" lIns="0" tIns="0" rIns="0" bIns="0" rtlCol="0" anchor="t"/>
          <a:lstStyle/>
          <a:p>
            <a:pPr indent="0" marL="0">
              <a:buNone/>
            </a:pPr>
            <a:r>
              <a:rPr lang="en-US" sz="1100" b="1" spc="200" kern="0" dirty="0">
                <a:solidFill>
                  <a:srgbClr val="0E7FA0"/>
                </a:solidFill>
              </a:rPr>
              <a:t>FINANCIAL PLAN  ·  REVENUE MODEL</a:t>
            </a:r>
            <a:endParaRPr lang="en-US" sz="1100" dirty="0"/>
          </a:p>
        </p:txBody>
      </p:sp>
      <p:sp>
        <p:nvSpPr>
          <p:cNvPr id="3" name="Text 1"/>
          <p:cNvSpPr/>
          <p:nvPr>
            <p:ph idx="102" type="title" hasCustomPrompt="1"/>
          </p:nvPr>
        </p:nvSpPr>
        <p:spPr>
          <a:xfrm>
            <a:off x="548640" y="566928"/>
            <a:ext cx="9875520" cy="868680"/>
          </a:xfrm>
          <a:prstGeom prst="rect">
            <a:avLst/>
          </a:prstGeom>
          <a:noFill/>
          <a:ln/>
        </p:spPr>
        <p:txBody>
          <a:bodyPr wrap="square" lIns="0" tIns="0" rIns="0" bIns="0" rtlCol="0" anchor="t"/>
          <a:lstStyle/>
          <a:p>
            <a:pPr algn="l" indent="0" marL="0">
              <a:buNone/>
            </a:pPr>
            <a:r>
              <a:rPr lang="en-US" sz="2600" b="1" dirty="0">
                <a:solidFill>
                  <a:srgbClr val="141C52"/>
                </a:solidFill>
              </a:rPr>
              <a:t>Revenue built bottom-up: outlets × units × net realisation = Tk 41 Cr by Year 3</a:t>
            </a:r>
            <a:endParaRPr lang="en-US" sz="2600" dirty="0"/>
          </a:p>
        </p:txBody>
      </p:sp>
      <p:sp>
        <p:nvSpPr>
          <p:cNvPr id="4" name="Text 2"/>
          <p:cNvSpPr txBox="1"/>
          <p:nvPr/>
        </p:nvSpPr>
        <p:spPr>
          <a:xfrm>
            <a:off x="548640" y="1536192"/>
            <a:ext cx="5486400" cy="292608"/>
          </a:xfrm>
          <a:prstGeom prst="rect">
            <a:avLst/>
          </a:prstGeom>
          <a:noFill/>
          <a:ln/>
        </p:spPr>
        <p:txBody>
          <a:bodyPr wrap="square" lIns="0" tIns="0" rIns="0" bIns="0" rtlCol="0" anchor="t"/>
          <a:lstStyle/>
          <a:p>
            <a:pPr indent="0" marL="0">
              <a:buNone/>
            </a:pPr>
            <a:r>
              <a:rPr lang="en-US" sz="1400" b="1" dirty="0">
                <a:solidFill>
                  <a:srgbClr val="141C52"/>
                </a:solidFill>
              </a:rPr>
              <a:t>Where Tk 360 goes: one 340 ml bottle</a:t>
            </a:r>
            <a:endParaRPr lang="en-US" sz="1400" dirty="0"/>
          </a:p>
        </p:txBody>
      </p:sp>
      <p:sp>
        <p:nvSpPr>
          <p:cNvPr id="5" name="Shape 3"/>
          <p:cNvSpPr/>
          <p:nvPr/>
        </p:nvSpPr>
        <p:spPr>
          <a:xfrm>
            <a:off x="685800" y="2240280"/>
            <a:ext cx="566928" cy="2834640"/>
          </a:xfrm>
          <a:prstGeom prst="rect">
            <a:avLst/>
          </a:prstGeom>
          <a:solidFill>
            <a:srgbClr val="141C52"/>
          </a:solidFill>
          <a:ln/>
        </p:spPr>
      </p:sp>
      <p:sp>
        <p:nvSpPr>
          <p:cNvPr id="6" name="Text 4"/>
          <p:cNvSpPr txBox="1"/>
          <p:nvPr/>
        </p:nvSpPr>
        <p:spPr>
          <a:xfrm>
            <a:off x="548640" y="1965960"/>
            <a:ext cx="841248" cy="237744"/>
          </a:xfrm>
          <a:prstGeom prst="rect">
            <a:avLst/>
          </a:prstGeom>
          <a:noFill/>
          <a:ln/>
        </p:spPr>
        <p:txBody>
          <a:bodyPr wrap="square" lIns="0" tIns="0" rIns="0" bIns="0" rtlCol="0" anchor="t"/>
          <a:lstStyle/>
          <a:p>
            <a:pPr algn="ctr" indent="0" marL="0">
              <a:buNone/>
            </a:pPr>
            <a:r>
              <a:rPr lang="en-US" sz="1100" b="1" dirty="0">
                <a:solidFill>
                  <a:srgbClr val="141C52"/>
                </a:solidFill>
              </a:rPr>
              <a:t>Tk 360</a:t>
            </a:r>
            <a:endParaRPr lang="en-US" sz="1100" dirty="0"/>
          </a:p>
        </p:txBody>
      </p:sp>
      <p:sp>
        <p:nvSpPr>
          <p:cNvPr id="7" name="Text 5"/>
          <p:cNvSpPr txBox="1"/>
          <p:nvPr/>
        </p:nvSpPr>
        <p:spPr>
          <a:xfrm>
            <a:off x="576072" y="5129784"/>
            <a:ext cx="786384" cy="384048"/>
          </a:xfrm>
          <a:prstGeom prst="rect">
            <a:avLst/>
          </a:prstGeom>
          <a:noFill/>
          <a:ln/>
        </p:spPr>
        <p:txBody>
          <a:bodyPr wrap="square" lIns="0" tIns="0" rIns="0" bIns="0" rtlCol="0" anchor="t"/>
          <a:lstStyle/>
          <a:p>
            <a:pPr algn="ctr" indent="0" marL="0">
              <a:buNone/>
            </a:pPr>
            <a:r>
              <a:rPr lang="en-US" sz="1000" dirty="0">
                <a:solidFill>
                  <a:srgbClr val="1F2937"/>
                </a:solidFill>
              </a:rPr>
              <a:t>MRP</a:t>
            </a:r>
            <a:endParaRPr lang="en-US" sz="1000" dirty="0"/>
          </a:p>
        </p:txBody>
      </p:sp>
      <p:sp>
        <p:nvSpPr>
          <p:cNvPr id="8" name="Shape 6"/>
          <p:cNvSpPr/>
          <p:nvPr/>
        </p:nvSpPr>
        <p:spPr>
          <a:xfrm>
            <a:off x="1444752" y="2240280"/>
            <a:ext cx="566928" cy="369736"/>
          </a:xfrm>
          <a:prstGeom prst="rect">
            <a:avLst/>
          </a:prstGeom>
          <a:solidFill>
            <a:srgbClr val="A7B0BE"/>
          </a:solidFill>
          <a:ln/>
        </p:spPr>
      </p:sp>
      <p:sp>
        <p:nvSpPr>
          <p:cNvPr id="9" name="Text 7"/>
          <p:cNvSpPr txBox="1"/>
          <p:nvPr/>
        </p:nvSpPr>
        <p:spPr>
          <a:xfrm>
            <a:off x="1307592" y="1965960"/>
            <a:ext cx="841248" cy="237744"/>
          </a:xfrm>
          <a:prstGeom prst="rect">
            <a:avLst/>
          </a:prstGeom>
          <a:noFill/>
          <a:ln/>
        </p:spPr>
        <p:txBody>
          <a:bodyPr wrap="square" lIns="0" tIns="0" rIns="0" bIns="0" rtlCol="0" anchor="t"/>
          <a:lstStyle/>
          <a:p>
            <a:pPr algn="ctr" indent="0" marL="0">
              <a:buNone/>
            </a:pPr>
            <a:r>
              <a:rPr lang="en-US" sz="1100" b="1" dirty="0">
                <a:solidFill>
                  <a:srgbClr val="141C52"/>
                </a:solidFill>
              </a:rPr>
              <a:t>−47</a:t>
            </a:r>
            <a:endParaRPr lang="en-US" sz="1100" dirty="0"/>
          </a:p>
        </p:txBody>
      </p:sp>
      <p:sp>
        <p:nvSpPr>
          <p:cNvPr id="10" name="Text 8"/>
          <p:cNvSpPr txBox="1"/>
          <p:nvPr/>
        </p:nvSpPr>
        <p:spPr>
          <a:xfrm>
            <a:off x="1335024" y="5129784"/>
            <a:ext cx="786384" cy="384048"/>
          </a:xfrm>
          <a:prstGeom prst="rect">
            <a:avLst/>
          </a:prstGeom>
          <a:noFill/>
          <a:ln/>
        </p:spPr>
        <p:txBody>
          <a:bodyPr wrap="square" lIns="0" tIns="0" rIns="0" bIns="0" rtlCol="0" anchor="t"/>
          <a:lstStyle/>
          <a:p>
            <a:pPr algn="ctr" indent="0" marL="0">
              <a:buNone/>
            </a:pPr>
            <a:r>
              <a:rPr lang="en-US" sz="1000" dirty="0">
                <a:solidFill>
                  <a:srgbClr val="1F2937"/>
                </a:solidFill>
              </a:rPr>
              <a:t>VAT 15%</a:t>
            </a:r>
            <a:endParaRPr lang="en-US" sz="1000" dirty="0"/>
          </a:p>
        </p:txBody>
      </p:sp>
      <p:sp>
        <p:nvSpPr>
          <p:cNvPr id="11" name="Shape 9"/>
          <p:cNvSpPr/>
          <p:nvPr/>
        </p:nvSpPr>
        <p:spPr>
          <a:xfrm>
            <a:off x="2203704" y="2610016"/>
            <a:ext cx="566928" cy="542279"/>
          </a:xfrm>
          <a:prstGeom prst="rect">
            <a:avLst/>
          </a:prstGeom>
          <a:solidFill>
            <a:srgbClr val="A7B0BE"/>
          </a:solidFill>
          <a:ln/>
        </p:spPr>
      </p:sp>
      <p:sp>
        <p:nvSpPr>
          <p:cNvPr id="12" name="Text 10"/>
          <p:cNvSpPr txBox="1"/>
          <p:nvPr/>
        </p:nvSpPr>
        <p:spPr>
          <a:xfrm>
            <a:off x="2066544" y="2335696"/>
            <a:ext cx="841248" cy="237744"/>
          </a:xfrm>
          <a:prstGeom prst="rect">
            <a:avLst/>
          </a:prstGeom>
          <a:noFill/>
          <a:ln/>
        </p:spPr>
        <p:txBody>
          <a:bodyPr wrap="square" lIns="0" tIns="0" rIns="0" bIns="0" rtlCol="0" anchor="t"/>
          <a:lstStyle/>
          <a:p>
            <a:pPr algn="ctr" indent="0" marL="0">
              <a:buNone/>
            </a:pPr>
            <a:r>
              <a:rPr lang="en-US" sz="1100" b="1" dirty="0">
                <a:solidFill>
                  <a:srgbClr val="141C52"/>
                </a:solidFill>
              </a:rPr>
              <a:t>−69</a:t>
            </a:r>
            <a:endParaRPr lang="en-US" sz="1100" dirty="0"/>
          </a:p>
        </p:txBody>
      </p:sp>
      <p:sp>
        <p:nvSpPr>
          <p:cNvPr id="13" name="Text 11"/>
          <p:cNvSpPr txBox="1"/>
          <p:nvPr/>
        </p:nvSpPr>
        <p:spPr>
          <a:xfrm>
            <a:off x="2093976" y="5129784"/>
            <a:ext cx="786384" cy="384048"/>
          </a:xfrm>
          <a:prstGeom prst="rect">
            <a:avLst/>
          </a:prstGeom>
          <a:noFill/>
          <a:ln/>
        </p:spPr>
        <p:txBody>
          <a:bodyPr wrap="square" lIns="0" tIns="0" rIns="0" bIns="0" rtlCol="0" anchor="t"/>
          <a:lstStyle/>
          <a:p>
            <a:pPr algn="ctr" indent="0" marL="0">
              <a:buNone/>
            </a:pPr>
            <a:r>
              <a:rPr lang="en-US" sz="1000" dirty="0">
                <a:solidFill>
                  <a:srgbClr val="1F2937"/>
                </a:solidFill>
              </a:rPr>
              <a:t>Trade 22%</a:t>
            </a:r>
            <a:endParaRPr lang="en-US" sz="1000" dirty="0"/>
          </a:p>
        </p:txBody>
      </p:sp>
      <p:sp>
        <p:nvSpPr>
          <p:cNvPr id="14" name="Shape 12"/>
          <p:cNvSpPr/>
          <p:nvPr/>
        </p:nvSpPr>
        <p:spPr>
          <a:xfrm>
            <a:off x="2962656" y="3152295"/>
            <a:ext cx="566928" cy="250777"/>
          </a:xfrm>
          <a:prstGeom prst="rect">
            <a:avLst/>
          </a:prstGeom>
          <a:solidFill>
            <a:srgbClr val="A7B0BE"/>
          </a:solidFill>
          <a:ln/>
        </p:spPr>
      </p:sp>
      <p:sp>
        <p:nvSpPr>
          <p:cNvPr id="15" name="Text 13"/>
          <p:cNvSpPr txBox="1"/>
          <p:nvPr/>
        </p:nvSpPr>
        <p:spPr>
          <a:xfrm>
            <a:off x="2825496" y="2877975"/>
            <a:ext cx="841248" cy="237744"/>
          </a:xfrm>
          <a:prstGeom prst="rect">
            <a:avLst/>
          </a:prstGeom>
          <a:noFill/>
          <a:ln/>
        </p:spPr>
        <p:txBody>
          <a:bodyPr wrap="square" lIns="0" tIns="0" rIns="0" bIns="0" rtlCol="0" anchor="t"/>
          <a:lstStyle/>
          <a:p>
            <a:pPr algn="ctr" indent="0" marL="0">
              <a:buNone/>
            </a:pPr>
            <a:r>
              <a:rPr lang="en-US" sz="1100" b="1" dirty="0">
                <a:solidFill>
                  <a:srgbClr val="141C52"/>
                </a:solidFill>
              </a:rPr>
              <a:t>−32</a:t>
            </a:r>
            <a:endParaRPr lang="en-US" sz="1100" dirty="0"/>
          </a:p>
        </p:txBody>
      </p:sp>
      <p:sp>
        <p:nvSpPr>
          <p:cNvPr id="16" name="Text 14"/>
          <p:cNvSpPr txBox="1"/>
          <p:nvPr/>
        </p:nvSpPr>
        <p:spPr>
          <a:xfrm>
            <a:off x="2852928" y="5129784"/>
            <a:ext cx="786384" cy="384048"/>
          </a:xfrm>
          <a:prstGeom prst="rect">
            <a:avLst/>
          </a:prstGeom>
          <a:noFill/>
          <a:ln/>
        </p:spPr>
        <p:txBody>
          <a:bodyPr wrap="square" lIns="0" tIns="0" rIns="0" bIns="0" rtlCol="0" anchor="t"/>
          <a:lstStyle/>
          <a:p>
            <a:pPr algn="ctr" indent="0" marL="0">
              <a:buNone/>
            </a:pPr>
            <a:r>
              <a:rPr lang="en-US" sz="1000" dirty="0">
                <a:solidFill>
                  <a:srgbClr val="1F2937"/>
                </a:solidFill>
              </a:rPr>
              <a:t>SD 15%</a:t>
            </a:r>
            <a:endParaRPr lang="en-US" sz="1000" dirty="0"/>
          </a:p>
        </p:txBody>
      </p:sp>
      <p:sp>
        <p:nvSpPr>
          <p:cNvPr id="17" name="Shape 15"/>
          <p:cNvSpPr/>
          <p:nvPr/>
        </p:nvSpPr>
        <p:spPr>
          <a:xfrm>
            <a:off x="3721608" y="3403072"/>
            <a:ext cx="566928" cy="1671848"/>
          </a:xfrm>
          <a:prstGeom prst="rect">
            <a:avLst/>
          </a:prstGeom>
          <a:solidFill>
            <a:srgbClr val="12A5C4"/>
          </a:solidFill>
          <a:ln/>
        </p:spPr>
      </p:sp>
      <p:sp>
        <p:nvSpPr>
          <p:cNvPr id="18" name="Text 16"/>
          <p:cNvSpPr txBox="1"/>
          <p:nvPr/>
        </p:nvSpPr>
        <p:spPr>
          <a:xfrm>
            <a:off x="3584448" y="3128752"/>
            <a:ext cx="841248" cy="237744"/>
          </a:xfrm>
          <a:prstGeom prst="rect">
            <a:avLst/>
          </a:prstGeom>
          <a:noFill/>
          <a:ln/>
        </p:spPr>
        <p:txBody>
          <a:bodyPr wrap="square" lIns="0" tIns="0" rIns="0" bIns="0" rtlCol="0" anchor="t"/>
          <a:lstStyle/>
          <a:p>
            <a:pPr algn="ctr" indent="0" marL="0">
              <a:buNone/>
            </a:pPr>
            <a:r>
              <a:rPr lang="en-US" sz="1100" b="1" dirty="0">
                <a:solidFill>
                  <a:srgbClr val="141C52"/>
                </a:solidFill>
              </a:rPr>
              <a:t>Tk 212</a:t>
            </a:r>
            <a:endParaRPr lang="en-US" sz="1100" dirty="0"/>
          </a:p>
        </p:txBody>
      </p:sp>
      <p:sp>
        <p:nvSpPr>
          <p:cNvPr id="19" name="Text 17"/>
          <p:cNvSpPr txBox="1"/>
          <p:nvPr/>
        </p:nvSpPr>
        <p:spPr>
          <a:xfrm>
            <a:off x="3611880" y="5129784"/>
            <a:ext cx="786384" cy="384048"/>
          </a:xfrm>
          <a:prstGeom prst="rect">
            <a:avLst/>
          </a:prstGeom>
          <a:noFill/>
          <a:ln/>
        </p:spPr>
        <p:txBody>
          <a:bodyPr wrap="square" lIns="0" tIns="0" rIns="0" bIns="0" rtlCol="0" anchor="t"/>
          <a:lstStyle/>
          <a:p>
            <a:pPr algn="ctr" indent="0" marL="0">
              <a:buNone/>
            </a:pPr>
            <a:r>
              <a:rPr lang="en-US" sz="1000" dirty="0">
                <a:solidFill>
                  <a:srgbClr val="1F2937"/>
                </a:solidFill>
              </a:rPr>
              <a:t>Net realisation</a:t>
            </a:r>
            <a:endParaRPr lang="en-US" sz="1000" dirty="0"/>
          </a:p>
        </p:txBody>
      </p:sp>
      <p:sp>
        <p:nvSpPr>
          <p:cNvPr id="20" name="Shape 18"/>
          <p:cNvSpPr/>
          <p:nvPr/>
        </p:nvSpPr>
        <p:spPr>
          <a:xfrm>
            <a:off x="4480560" y="3403072"/>
            <a:ext cx="566928" cy="748030"/>
          </a:xfrm>
          <a:prstGeom prst="rect">
            <a:avLst/>
          </a:prstGeom>
          <a:solidFill>
            <a:srgbClr val="B4511F"/>
          </a:solidFill>
          <a:ln/>
        </p:spPr>
      </p:sp>
      <p:sp>
        <p:nvSpPr>
          <p:cNvPr id="21" name="Text 19"/>
          <p:cNvSpPr txBox="1"/>
          <p:nvPr/>
        </p:nvSpPr>
        <p:spPr>
          <a:xfrm>
            <a:off x="4343400" y="3128752"/>
            <a:ext cx="841248" cy="237744"/>
          </a:xfrm>
          <a:prstGeom prst="rect">
            <a:avLst/>
          </a:prstGeom>
          <a:noFill/>
          <a:ln/>
        </p:spPr>
        <p:txBody>
          <a:bodyPr wrap="square" lIns="0" tIns="0" rIns="0" bIns="0" rtlCol="0" anchor="t"/>
          <a:lstStyle/>
          <a:p>
            <a:pPr algn="ctr" indent="0" marL="0">
              <a:buNone/>
            </a:pPr>
            <a:r>
              <a:rPr lang="en-US" sz="1100" b="1" dirty="0">
                <a:solidFill>
                  <a:srgbClr val="141C52"/>
                </a:solidFill>
              </a:rPr>
              <a:t>−95</a:t>
            </a:r>
            <a:endParaRPr lang="en-US" sz="1100" dirty="0"/>
          </a:p>
        </p:txBody>
      </p:sp>
      <p:sp>
        <p:nvSpPr>
          <p:cNvPr id="22" name="Text 20"/>
          <p:cNvSpPr txBox="1"/>
          <p:nvPr/>
        </p:nvSpPr>
        <p:spPr>
          <a:xfrm>
            <a:off x="4370832" y="5129784"/>
            <a:ext cx="786384" cy="384048"/>
          </a:xfrm>
          <a:prstGeom prst="rect">
            <a:avLst/>
          </a:prstGeom>
          <a:noFill/>
          <a:ln/>
        </p:spPr>
        <p:txBody>
          <a:bodyPr wrap="square" lIns="0" tIns="0" rIns="0" bIns="0" rtlCol="0" anchor="t"/>
          <a:lstStyle/>
          <a:p>
            <a:pPr algn="ctr" indent="0" marL="0">
              <a:buNone/>
            </a:pPr>
            <a:r>
              <a:rPr lang="en-US" sz="1000" dirty="0">
                <a:solidFill>
                  <a:srgbClr val="1F2937"/>
                </a:solidFill>
              </a:rPr>
              <a:t>COGS</a:t>
            </a:r>
            <a:endParaRPr lang="en-US" sz="1000" dirty="0"/>
          </a:p>
        </p:txBody>
      </p:sp>
      <p:sp>
        <p:nvSpPr>
          <p:cNvPr id="23" name="Shape 21"/>
          <p:cNvSpPr/>
          <p:nvPr/>
        </p:nvSpPr>
        <p:spPr>
          <a:xfrm>
            <a:off x="5239512" y="4151102"/>
            <a:ext cx="566928" cy="923818"/>
          </a:xfrm>
          <a:prstGeom prst="rect">
            <a:avLst/>
          </a:prstGeom>
          <a:solidFill>
            <a:srgbClr val="3E9B3A"/>
          </a:solidFill>
          <a:ln/>
        </p:spPr>
      </p:sp>
      <p:sp>
        <p:nvSpPr>
          <p:cNvPr id="24" name="Text 22"/>
          <p:cNvSpPr txBox="1"/>
          <p:nvPr/>
        </p:nvSpPr>
        <p:spPr>
          <a:xfrm>
            <a:off x="5102352" y="3876782"/>
            <a:ext cx="841248" cy="237744"/>
          </a:xfrm>
          <a:prstGeom prst="rect">
            <a:avLst/>
          </a:prstGeom>
          <a:noFill/>
          <a:ln/>
        </p:spPr>
        <p:txBody>
          <a:bodyPr wrap="square" lIns="0" tIns="0" rIns="0" bIns="0" rtlCol="0" anchor="t"/>
          <a:lstStyle/>
          <a:p>
            <a:pPr algn="ctr" indent="0" marL="0">
              <a:buNone/>
            </a:pPr>
            <a:r>
              <a:rPr lang="en-US" sz="1100" b="1" dirty="0">
                <a:solidFill>
                  <a:srgbClr val="141C52"/>
                </a:solidFill>
              </a:rPr>
              <a:t>Tk 117</a:t>
            </a:r>
            <a:endParaRPr lang="en-US" sz="1100" dirty="0"/>
          </a:p>
        </p:txBody>
      </p:sp>
      <p:sp>
        <p:nvSpPr>
          <p:cNvPr id="25" name="Text 23"/>
          <p:cNvSpPr txBox="1"/>
          <p:nvPr/>
        </p:nvSpPr>
        <p:spPr>
          <a:xfrm>
            <a:off x="5129784" y="5129784"/>
            <a:ext cx="786384" cy="384048"/>
          </a:xfrm>
          <a:prstGeom prst="rect">
            <a:avLst/>
          </a:prstGeom>
          <a:noFill/>
          <a:ln/>
        </p:spPr>
        <p:txBody>
          <a:bodyPr wrap="square" lIns="0" tIns="0" rIns="0" bIns="0" rtlCol="0" anchor="t"/>
          <a:lstStyle/>
          <a:p>
            <a:pPr algn="ctr" indent="0" marL="0">
              <a:buNone/>
            </a:pPr>
            <a:r>
              <a:rPr lang="en-US" sz="1000" dirty="0">
                <a:solidFill>
                  <a:srgbClr val="1F2937"/>
                </a:solidFill>
              </a:rPr>
              <a:t>Gross profit</a:t>
            </a:r>
            <a:endParaRPr lang="en-US" sz="1000" dirty="0"/>
          </a:p>
        </p:txBody>
      </p:sp>
      <p:sp>
        <p:nvSpPr>
          <p:cNvPr id="26" name="Shape 24"/>
          <p:cNvSpPr/>
          <p:nvPr/>
        </p:nvSpPr>
        <p:spPr>
          <a:xfrm>
            <a:off x="594360" y="5074920"/>
            <a:ext cx="5349240" cy="0"/>
          </a:xfrm>
          <a:prstGeom prst="line">
            <a:avLst/>
          </a:prstGeom>
          <a:noFill/>
          <a:ln w="12700">
            <a:solidFill>
              <a:srgbClr val="D5DCE6"/>
            </a:solidFill>
            <a:prstDash val="solid"/>
          </a:ln>
        </p:spPr>
      </p:sp>
      <p:sp>
        <p:nvSpPr>
          <p:cNvPr id="27" name="Text 25"/>
          <p:cNvSpPr txBox="1"/>
          <p:nvPr/>
        </p:nvSpPr>
        <p:spPr>
          <a:xfrm>
            <a:off x="548640" y="5577840"/>
            <a:ext cx="5486400" cy="320040"/>
          </a:xfrm>
          <a:prstGeom prst="rect">
            <a:avLst/>
          </a:prstGeom>
          <a:noFill/>
          <a:ln/>
        </p:spPr>
        <p:txBody>
          <a:bodyPr wrap="square" lIns="0" tIns="0" rIns="0" bIns="0" rtlCol="0" anchor="t"/>
          <a:lstStyle/>
          <a:p>
            <a:pPr indent="0" marL="0">
              <a:buNone/>
            </a:pPr>
            <a:r>
              <a:rPr lang="en-US" sz="1100" i="1" dirty="0">
                <a:solidFill>
                  <a:srgbClr val="5B6472"/>
                </a:solidFill>
              </a:rPr>
              <a:t>Gross margin 55% on the 340 ml; blended 47% with the 180 ml (48%) and sachets (29%).</a:t>
            </a:r>
            <a:endParaRPr lang="en-US" sz="1100" dirty="0"/>
          </a:p>
        </p:txBody>
      </p:sp>
      <p:graphicFrame>
        <p:nvGraphicFramePr>
          <p:cNvPr id="28" name="Chart 0" descr=""/>
          <p:cNvGraphicFramePr/>
          <p:nvPr/>
        </p:nvGraphicFramePr>
        <p:xfrm>
          <a:off x="6309360" y="1508760"/>
          <a:ext cx="5330952" cy="3611880"/>
        </p:xfrm>
        <a:graphic xmlns:a="http://schemas.openxmlformats.org/drawingml/2006/main">
          <a:graphicData uri="http://schemas.openxmlformats.org/drawingml/2006/chart">
            <c:chart xmlns:c="http://schemas.openxmlformats.org/drawingml/2006/chart" r:id="rId1"/>
          </a:graphicData>
        </a:graphic>
      </p:graphicFrame>
      <p:sp>
        <p:nvSpPr>
          <p:cNvPr id="29" name="Shape 26"/>
          <p:cNvSpPr/>
          <p:nvPr/>
        </p:nvSpPr>
        <p:spPr>
          <a:xfrm>
            <a:off x="6309360" y="5212080"/>
            <a:ext cx="5330952" cy="713232"/>
          </a:xfrm>
          <a:prstGeom prst="roundRect">
            <a:avLst>
              <a:gd name="adj" fmla="val 10256"/>
            </a:avLst>
          </a:prstGeom>
          <a:solidFill>
            <a:srgbClr val="F3F6FA"/>
          </a:solidFill>
          <a:ln/>
        </p:spPr>
      </p:sp>
      <p:sp>
        <p:nvSpPr>
          <p:cNvPr id="30" name="Text 27"/>
          <p:cNvSpPr txBox="1"/>
          <p:nvPr/>
        </p:nvSpPr>
        <p:spPr>
          <a:xfrm>
            <a:off x="6446520" y="5212080"/>
            <a:ext cx="5074920" cy="713232"/>
          </a:xfrm>
          <a:prstGeom prst="rect">
            <a:avLst/>
          </a:prstGeom>
          <a:noFill/>
          <a:ln/>
        </p:spPr>
        <p:txBody>
          <a:bodyPr wrap="square" lIns="0" tIns="0" rIns="0" bIns="0" rtlCol="0" anchor="ctr"/>
          <a:lstStyle/>
          <a:p>
            <a:pPr indent="0" marL="0">
              <a:buNone/>
            </a:pPr>
            <a:r>
              <a:rPr lang="en-US" sz="1100" dirty="0">
                <a:solidFill>
                  <a:srgbClr val="1F2937"/>
                </a:solidFill>
              </a:rPr>
              <a:t>Units (million): sachets 9.0 → 36.4 → 56.1 · 180 ml 0.27 → 0.96 → 1.40 · 340 ml 0.17 → 0.57 → 0.80. Year 1 has nine selling months after the pilot and pipeline fill.</a:t>
            </a:r>
            <a:endParaRPr lang="en-US" sz="1100" dirty="0"/>
          </a:p>
        </p:txBody>
      </p:sp>
      <p:sp>
        <p:nvSpPr>
          <p:cNvPr id="31" name="Text 28"/>
          <p:cNvSpPr txBox="1"/>
          <p:nvPr/>
        </p:nvSpPr>
        <p:spPr>
          <a:xfrm>
            <a:off x="548640" y="5989320"/>
            <a:ext cx="11091672" cy="365760"/>
          </a:xfrm>
          <a:prstGeom prst="rect">
            <a:avLst/>
          </a:prstGeom>
          <a:noFill/>
          <a:ln/>
        </p:spPr>
        <p:txBody>
          <a:bodyPr wrap="square" lIns="0" tIns="0" rIns="0" bIns="0" rtlCol="0" anchor="b"/>
          <a:lstStyle/>
          <a:p>
            <a:pPr indent="0" marL="0">
              <a:buNone/>
            </a:pPr>
            <a:r>
              <a:rPr lang="en-US" sz="1000" i="1" dirty="0">
                <a:solidFill>
                  <a:srgbClr val="5B6472"/>
                </a:solidFill>
              </a:rPr>
              <a:t>Team model v4. Gross-to-net as taught in the Finance masterclass: MRP − VAT − trade margin − SD = net realisation. VAT and SD at 15% on shampoo (VAT &amp; SD Act 2012); invoice treatment to be confirmed with Marico Tax.</a:t>
            </a:r>
            <a:endParaRPr lang="en-US" sz="1000" dirty="0"/>
          </a:p>
        </p:txBody>
      </p:sp>
      <p:sp>
        <p:nvSpPr>
          <p:cNvPr id="32"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defRPr>
            </a:lvl1pPr>
          </a:lstStyle>
          <a:p>
            <a:pPr algn="r"/>
            <a:r>
              <a:t>13</a:t>
            </a:r>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548640" y="274320"/>
            <a:ext cx="9601200" cy="256032"/>
          </a:xfrm>
          <a:prstGeom prst="rect">
            <a:avLst/>
          </a:prstGeom>
          <a:noFill/>
          <a:ln/>
        </p:spPr>
        <p:txBody>
          <a:bodyPr wrap="square" lIns="0" tIns="0" rIns="0" bIns="0" rtlCol="0" anchor="t"/>
          <a:lstStyle/>
          <a:p>
            <a:pPr indent="0" marL="0">
              <a:buNone/>
            </a:pPr>
            <a:r>
              <a:rPr lang="en-US" sz="1100" b="1" spc="200" kern="0" dirty="0">
                <a:solidFill>
                  <a:srgbClr val="0E7FA0"/>
                </a:solidFill>
              </a:rPr>
              <a:t>FINANCIAL PLAN  ·  PROFIT &amp; LOSS ROAD MAP</a:t>
            </a:r>
            <a:endParaRPr lang="en-US" sz="1100" dirty="0"/>
          </a:p>
        </p:txBody>
      </p:sp>
      <p:sp>
        <p:nvSpPr>
          <p:cNvPr id="3" name="Text 1"/>
          <p:cNvSpPr/>
          <p:nvPr>
            <p:ph idx="102" type="title" hasCustomPrompt="1"/>
          </p:nvPr>
        </p:nvSpPr>
        <p:spPr>
          <a:xfrm>
            <a:off x="548640" y="566928"/>
            <a:ext cx="9875520" cy="868680"/>
          </a:xfrm>
          <a:prstGeom prst="rect">
            <a:avLst/>
          </a:prstGeom>
          <a:noFill/>
          <a:ln/>
        </p:spPr>
        <p:txBody>
          <a:bodyPr wrap="square" lIns="0" tIns="0" rIns="0" bIns="0" rtlCol="0" anchor="t"/>
          <a:lstStyle/>
          <a:p>
            <a:pPr algn="l" indent="0" marL="0">
              <a:buNone/>
            </a:pPr>
            <a:r>
              <a:rPr lang="en-US" sz="2600" b="1" dirty="0">
                <a:solidFill>
                  <a:srgbClr val="141C52"/>
                </a:solidFill>
              </a:rPr>
              <a:t>P&amp;L: EBITDA-positive in Year 2 and NPV +Tk 3.1 Cr at a 15% hurdle</a:t>
            </a:r>
            <a:endParaRPr lang="en-US" sz="26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48640" y="1508760"/>
          <a:ext cx="6309360" cy="914400"/>
        </p:xfrm>
        <a:graphic>
          <a:graphicData uri="http://schemas.openxmlformats.org/drawingml/2006/table">
            <a:tbl>
              <a:tblPr/>
              <a:tblGrid>
                <a:gridCol w="3017520"/>
                <a:gridCol w="1097280"/>
                <a:gridCol w="1097280"/>
                <a:gridCol w="1097280"/>
              </a:tblGrid>
              <a:tr h="256032">
                <a:tc>
                  <a:txBody>
                    <a:bodyPr/>
                    <a:lstStyle/>
                    <a:p>
                      <a:pPr indent="0" marL="0">
                        <a:buNone/>
                      </a:pPr>
                      <a:r>
                        <a:rPr lang="en-US" sz="1100" b="1" dirty="0">
                          <a:solidFill>
                            <a:srgbClr val="FFFFFF"/>
                          </a:solidFill>
                        </a:rPr>
                        <a:t>Tk crore</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141C52"/>
                    </a:solidFill>
                  </a:tcPr>
                </a:tc>
                <a:tc>
                  <a:txBody>
                    <a:bodyPr/>
                    <a:lstStyle/>
                    <a:p>
                      <a:pPr algn="r" indent="0" marL="0">
                        <a:buNone/>
                      </a:pPr>
                      <a:r>
                        <a:rPr lang="en-US" sz="1100" b="1" dirty="0">
                          <a:solidFill>
                            <a:srgbClr val="FFFFFF"/>
                          </a:solidFill>
                        </a:rPr>
                        <a:t>Year 1</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141C52"/>
                    </a:solidFill>
                  </a:tcPr>
                </a:tc>
                <a:tc>
                  <a:txBody>
                    <a:bodyPr/>
                    <a:lstStyle/>
                    <a:p>
                      <a:pPr algn="r" indent="0" marL="0">
                        <a:buNone/>
                      </a:pPr>
                      <a:r>
                        <a:rPr lang="en-US" sz="1100" b="1" dirty="0">
                          <a:solidFill>
                            <a:srgbClr val="FFFFFF"/>
                          </a:solidFill>
                        </a:rPr>
                        <a:t>Year 2</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141C52"/>
                    </a:solidFill>
                  </a:tcPr>
                </a:tc>
                <a:tc>
                  <a:txBody>
                    <a:bodyPr/>
                    <a:lstStyle/>
                    <a:p>
                      <a:pPr algn="r" indent="0" marL="0">
                        <a:buNone/>
                      </a:pPr>
                      <a:r>
                        <a:rPr lang="en-US" sz="1100" b="1" dirty="0">
                          <a:solidFill>
                            <a:srgbClr val="FFFFFF"/>
                          </a:solidFill>
                        </a:rPr>
                        <a:t>Year 3</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141C52"/>
                    </a:solidFill>
                  </a:tcPr>
                </a:tc>
              </a:tr>
              <a:tr h="256032">
                <a:tc>
                  <a:txBody>
                    <a:bodyPr/>
                    <a:lstStyle/>
                    <a:p>
                      <a:pPr indent="0" marL="0">
                        <a:buNone/>
                      </a:pPr>
                      <a:r>
                        <a:rPr lang="en-US" sz="1100" dirty="0">
                          <a:solidFill>
                            <a:srgbClr val="5B6472"/>
                          </a:solidFill>
                        </a:rPr>
                        <a:t>Gross sales (MRP)</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c>
                  <a:txBody>
                    <a:bodyPr/>
                    <a:lstStyle/>
                    <a:p>
                      <a:pPr algn="r" indent="0" marL="0">
                        <a:buNone/>
                      </a:pPr>
                      <a:r>
                        <a:rPr lang="en-US" sz="1100" dirty="0">
                          <a:solidFill>
                            <a:srgbClr val="5B6472"/>
                          </a:solidFill>
                        </a:rPr>
                        <a:t>13.8</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c>
                  <a:txBody>
                    <a:bodyPr/>
                    <a:lstStyle/>
                    <a:p>
                      <a:pPr algn="r" indent="0" marL="0">
                        <a:buNone/>
                      </a:pPr>
                      <a:r>
                        <a:rPr lang="en-US" sz="1100" dirty="0">
                          <a:solidFill>
                            <a:srgbClr val="5B6472"/>
                          </a:solidFill>
                        </a:rPr>
                        <a:t>48.7</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c>
                  <a:txBody>
                    <a:bodyPr/>
                    <a:lstStyle/>
                    <a:p>
                      <a:pPr algn="r" indent="0" marL="0">
                        <a:buNone/>
                      </a:pPr>
                      <a:r>
                        <a:rPr lang="en-US" sz="1100" dirty="0">
                          <a:solidFill>
                            <a:srgbClr val="5B6472"/>
                          </a:solidFill>
                        </a:rPr>
                        <a:t>70.8</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r>
              <a:tr h="256032">
                <a:tc>
                  <a:txBody>
                    <a:bodyPr/>
                    <a:lstStyle/>
                    <a:p>
                      <a:pPr indent="0" marL="0">
                        <a:buNone/>
                      </a:pPr>
                      <a:r>
                        <a:rPr lang="en-US" sz="1100" b="1" dirty="0">
                          <a:solidFill>
                            <a:srgbClr val="1F2937"/>
                          </a:solidFill>
                        </a:rPr>
                        <a:t>Net revenue</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3F5FA"/>
                    </a:solidFill>
                  </a:tcPr>
                </a:tc>
                <a:tc>
                  <a:txBody>
                    <a:bodyPr/>
                    <a:lstStyle/>
                    <a:p>
                      <a:pPr algn="r" indent="0" marL="0">
                        <a:buNone/>
                      </a:pPr>
                      <a:r>
                        <a:rPr lang="en-US" sz="1100" b="1" dirty="0">
                          <a:solidFill>
                            <a:srgbClr val="1F2937"/>
                          </a:solidFill>
                        </a:rPr>
                        <a:t>8.1</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3F5FA"/>
                    </a:solidFill>
                  </a:tcPr>
                </a:tc>
                <a:tc>
                  <a:txBody>
                    <a:bodyPr/>
                    <a:lstStyle/>
                    <a:p>
                      <a:pPr algn="r" indent="0" marL="0">
                        <a:buNone/>
                      </a:pPr>
                      <a:r>
                        <a:rPr lang="en-US" sz="1100" b="1" dirty="0">
                          <a:solidFill>
                            <a:srgbClr val="1F2937"/>
                          </a:solidFill>
                        </a:rPr>
                        <a:t>28.5</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3F5FA"/>
                    </a:solidFill>
                  </a:tcPr>
                </a:tc>
                <a:tc>
                  <a:txBody>
                    <a:bodyPr/>
                    <a:lstStyle/>
                    <a:p>
                      <a:pPr algn="r" indent="0" marL="0">
                        <a:buNone/>
                      </a:pPr>
                      <a:r>
                        <a:rPr lang="en-US" sz="1100" b="1" dirty="0">
                          <a:solidFill>
                            <a:srgbClr val="1F2937"/>
                          </a:solidFill>
                        </a:rPr>
                        <a:t>41.4</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3F5FA"/>
                    </a:solidFill>
                  </a:tcPr>
                </a:tc>
              </a:tr>
              <a:tr h="256032">
                <a:tc>
                  <a:txBody>
                    <a:bodyPr/>
                    <a:lstStyle/>
                    <a:p>
                      <a:pPr indent="0" marL="0">
                        <a:buNone/>
                      </a:pPr>
                      <a:r>
                        <a:rPr lang="en-US" sz="1100" b="1" dirty="0">
                          <a:solidFill>
                            <a:srgbClr val="1F2937"/>
                          </a:solidFill>
                        </a:rPr>
                        <a:t>Gross profit</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c>
                  <a:txBody>
                    <a:bodyPr/>
                    <a:lstStyle/>
                    <a:p>
                      <a:pPr algn="r" indent="0" marL="0">
                        <a:buNone/>
                      </a:pPr>
                      <a:r>
                        <a:rPr lang="en-US" sz="1100" b="1" dirty="0">
                          <a:solidFill>
                            <a:srgbClr val="1F2937"/>
                          </a:solidFill>
                        </a:rPr>
                        <a:t>3.9</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c>
                  <a:txBody>
                    <a:bodyPr/>
                    <a:lstStyle/>
                    <a:p>
                      <a:pPr algn="r" indent="0" marL="0">
                        <a:buNone/>
                      </a:pPr>
                      <a:r>
                        <a:rPr lang="en-US" sz="1100" b="1" dirty="0">
                          <a:solidFill>
                            <a:srgbClr val="1F2937"/>
                          </a:solidFill>
                        </a:rPr>
                        <a:t>13.4</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c>
                  <a:txBody>
                    <a:bodyPr/>
                    <a:lstStyle/>
                    <a:p>
                      <a:pPr algn="r" indent="0" marL="0">
                        <a:buNone/>
                      </a:pPr>
                      <a:r>
                        <a:rPr lang="en-US" sz="1100" b="1" dirty="0">
                          <a:solidFill>
                            <a:srgbClr val="1F2937"/>
                          </a:solidFill>
                        </a:rPr>
                        <a:t>19.3</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r>
              <a:tr h="256032">
                <a:tc>
                  <a:txBody>
                    <a:bodyPr/>
                    <a:lstStyle/>
                    <a:p>
                      <a:pPr indent="0" marL="0">
                        <a:buNone/>
                      </a:pPr>
                      <a:r>
                        <a:rPr lang="en-US" sz="1100" dirty="0">
                          <a:solidFill>
                            <a:srgbClr val="5B6472"/>
                          </a:solidFill>
                        </a:rPr>
                        <a:t>   Gross margin</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c>
                  <a:txBody>
                    <a:bodyPr/>
                    <a:lstStyle/>
                    <a:p>
                      <a:pPr algn="r" indent="0" marL="0">
                        <a:buNone/>
                      </a:pPr>
                      <a:r>
                        <a:rPr lang="en-US" sz="1100" dirty="0">
                          <a:solidFill>
                            <a:srgbClr val="5B6472"/>
                          </a:solidFill>
                        </a:rPr>
                        <a:t>47.9%</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c>
                  <a:txBody>
                    <a:bodyPr/>
                    <a:lstStyle/>
                    <a:p>
                      <a:pPr algn="r" indent="0" marL="0">
                        <a:buNone/>
                      </a:pPr>
                      <a:r>
                        <a:rPr lang="en-US" sz="1100" dirty="0">
                          <a:solidFill>
                            <a:srgbClr val="5B6472"/>
                          </a:solidFill>
                        </a:rPr>
                        <a:t>47.1%</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c>
                  <a:txBody>
                    <a:bodyPr/>
                    <a:lstStyle/>
                    <a:p>
                      <a:pPr algn="r" indent="0" marL="0">
                        <a:buNone/>
                      </a:pPr>
                      <a:r>
                        <a:rPr lang="en-US" sz="1100" dirty="0">
                          <a:solidFill>
                            <a:srgbClr val="5B6472"/>
                          </a:solidFill>
                        </a:rPr>
                        <a:t>46.8%</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r>
              <a:tr h="256032">
                <a:tc>
                  <a:txBody>
                    <a:bodyPr/>
                    <a:lstStyle/>
                    <a:p>
                      <a:pPr indent="0" marL="0">
                        <a:buNone/>
                      </a:pPr>
                      <a:r>
                        <a:rPr lang="en-US" sz="1100" dirty="0">
                          <a:solidFill>
                            <a:srgbClr val="1F2937"/>
                          </a:solidFill>
                        </a:rPr>
                        <a:t>Advertising and promotion</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c>
                  <a:txBody>
                    <a:bodyPr/>
                    <a:lstStyle/>
                    <a:p>
                      <a:pPr algn="r" indent="0" marL="0">
                        <a:buNone/>
                      </a:pPr>
                      <a:r>
                        <a:rPr lang="en-US" sz="1100" dirty="0">
                          <a:solidFill>
                            <a:srgbClr val="1F2937"/>
                          </a:solidFill>
                        </a:rPr>
                        <a:t>(4.5)</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c>
                  <a:txBody>
                    <a:bodyPr/>
                    <a:lstStyle/>
                    <a:p>
                      <a:pPr algn="r" indent="0" marL="0">
                        <a:buNone/>
                      </a:pPr>
                      <a:r>
                        <a:rPr lang="en-US" sz="1100" dirty="0">
                          <a:solidFill>
                            <a:srgbClr val="1F2937"/>
                          </a:solidFill>
                        </a:rPr>
                        <a:t>(4.3)</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c>
                  <a:txBody>
                    <a:bodyPr/>
                    <a:lstStyle/>
                    <a:p>
                      <a:pPr algn="r" indent="0" marL="0">
                        <a:buNone/>
                      </a:pPr>
                      <a:r>
                        <a:rPr lang="en-US" sz="1100" dirty="0">
                          <a:solidFill>
                            <a:srgbClr val="1F2937"/>
                          </a:solidFill>
                        </a:rPr>
                        <a:t>(5.0)</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r>
              <a:tr h="256032">
                <a:tc>
                  <a:txBody>
                    <a:bodyPr/>
                    <a:lstStyle/>
                    <a:p>
                      <a:pPr indent="0" marL="0">
                        <a:buNone/>
                      </a:pPr>
                      <a:r>
                        <a:rPr lang="en-US" sz="1100" dirty="0">
                          <a:solidFill>
                            <a:srgbClr val="1F2937"/>
                          </a:solidFill>
                        </a:rPr>
                        <a:t>Selling and distribution</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c>
                  <a:txBody>
                    <a:bodyPr/>
                    <a:lstStyle/>
                    <a:p>
                      <a:pPr algn="r" indent="0" marL="0">
                        <a:buNone/>
                      </a:pPr>
                      <a:r>
                        <a:rPr lang="en-US" sz="1100" dirty="0">
                          <a:solidFill>
                            <a:srgbClr val="1F2937"/>
                          </a:solidFill>
                        </a:rPr>
                        <a:t>(1.6)</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c>
                  <a:txBody>
                    <a:bodyPr/>
                    <a:lstStyle/>
                    <a:p>
                      <a:pPr algn="r" indent="0" marL="0">
                        <a:buNone/>
                      </a:pPr>
                      <a:r>
                        <a:rPr lang="en-US" sz="1100" dirty="0">
                          <a:solidFill>
                            <a:srgbClr val="1F2937"/>
                          </a:solidFill>
                        </a:rPr>
                        <a:t>(3.3)</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c>
                  <a:txBody>
                    <a:bodyPr/>
                    <a:lstStyle/>
                    <a:p>
                      <a:pPr algn="r" indent="0" marL="0">
                        <a:buNone/>
                      </a:pPr>
                      <a:r>
                        <a:rPr lang="en-US" sz="1100" dirty="0">
                          <a:solidFill>
                            <a:srgbClr val="1F2937"/>
                          </a:solidFill>
                        </a:rPr>
                        <a:t>(4.3)</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r>
              <a:tr h="256032">
                <a:tc>
                  <a:txBody>
                    <a:bodyPr/>
                    <a:lstStyle/>
                    <a:p>
                      <a:pPr indent="0" marL="0">
                        <a:buNone/>
                      </a:pPr>
                      <a:r>
                        <a:rPr lang="en-US" sz="1100" dirty="0">
                          <a:solidFill>
                            <a:srgbClr val="1F2937"/>
                          </a:solidFill>
                        </a:rPr>
                        <a:t>EPR (plastic)</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c>
                  <a:txBody>
                    <a:bodyPr/>
                    <a:lstStyle/>
                    <a:p>
                      <a:pPr algn="r" indent="0" marL="0">
                        <a:buNone/>
                      </a:pPr>
                      <a:r>
                        <a:rPr lang="en-US" sz="1100" dirty="0">
                          <a:solidFill>
                            <a:srgbClr val="1F2937"/>
                          </a:solidFill>
                        </a:rPr>
                        <a:t>(0.1)</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c>
                  <a:txBody>
                    <a:bodyPr/>
                    <a:lstStyle/>
                    <a:p>
                      <a:pPr algn="r" indent="0" marL="0">
                        <a:buNone/>
                      </a:pPr>
                      <a:r>
                        <a:rPr lang="en-US" sz="1100" dirty="0">
                          <a:solidFill>
                            <a:srgbClr val="1F2937"/>
                          </a:solidFill>
                        </a:rPr>
                        <a:t>(0.3)</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c>
                  <a:txBody>
                    <a:bodyPr/>
                    <a:lstStyle/>
                    <a:p>
                      <a:pPr algn="r" indent="0" marL="0">
                        <a:buNone/>
                      </a:pPr>
                      <a:r>
                        <a:rPr lang="en-US" sz="1100" dirty="0">
                          <a:solidFill>
                            <a:srgbClr val="1F2937"/>
                          </a:solidFill>
                        </a:rPr>
                        <a:t>(0.4)</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r>
              <a:tr h="256032">
                <a:tc>
                  <a:txBody>
                    <a:bodyPr/>
                    <a:lstStyle/>
                    <a:p>
                      <a:pPr indent="0" marL="0">
                        <a:buNone/>
                      </a:pPr>
                      <a:r>
                        <a:rPr lang="en-US" sz="1100" dirty="0">
                          <a:solidFill>
                            <a:srgbClr val="1F2937"/>
                          </a:solidFill>
                        </a:rPr>
                        <a:t>EBITDA, standalone</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c>
                  <a:txBody>
                    <a:bodyPr/>
                    <a:lstStyle/>
                    <a:p>
                      <a:pPr algn="r" indent="0" marL="0">
                        <a:buNone/>
                      </a:pPr>
                      <a:r>
                        <a:rPr lang="en-US" sz="1100" dirty="0">
                          <a:solidFill>
                            <a:srgbClr val="1F2937"/>
                          </a:solidFill>
                        </a:rPr>
                        <a:t>(2.3)</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c>
                  <a:txBody>
                    <a:bodyPr/>
                    <a:lstStyle/>
                    <a:p>
                      <a:pPr algn="r" indent="0" marL="0">
                        <a:buNone/>
                      </a:pPr>
                      <a:r>
                        <a:rPr lang="en-US" sz="1100" dirty="0">
                          <a:solidFill>
                            <a:srgbClr val="1F2937"/>
                          </a:solidFill>
                        </a:rPr>
                        <a:t>5.6</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c>
                  <a:txBody>
                    <a:bodyPr/>
                    <a:lstStyle/>
                    <a:p>
                      <a:pPr algn="r" indent="0" marL="0">
                        <a:buNone/>
                      </a:pPr>
                      <a:r>
                        <a:rPr lang="en-US" sz="1100" dirty="0">
                          <a:solidFill>
                            <a:srgbClr val="1F2937"/>
                          </a:solidFill>
                        </a:rPr>
                        <a:t>9.7</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r>
              <a:tr h="256032">
                <a:tc>
                  <a:txBody>
                    <a:bodyPr/>
                    <a:lstStyle/>
                    <a:p>
                      <a:pPr indent="0" marL="0">
                        <a:buNone/>
                      </a:pPr>
                      <a:r>
                        <a:rPr lang="en-US" sz="1100" dirty="0">
                          <a:solidFill>
                            <a:srgbClr val="1F2937"/>
                          </a:solidFill>
                        </a:rPr>
                        <a:t>Naturale cannibalisation</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c>
                  <a:txBody>
                    <a:bodyPr/>
                    <a:lstStyle/>
                    <a:p>
                      <a:pPr algn="r" indent="0" marL="0">
                        <a:buNone/>
                      </a:pPr>
                      <a:r>
                        <a:rPr lang="en-US" sz="1100" dirty="0">
                          <a:solidFill>
                            <a:srgbClr val="1F2937"/>
                          </a:solidFill>
                        </a:rPr>
                        <a:t>(0.7)</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c>
                  <a:txBody>
                    <a:bodyPr/>
                    <a:lstStyle/>
                    <a:p>
                      <a:pPr algn="r" indent="0" marL="0">
                        <a:buNone/>
                      </a:pPr>
                      <a:r>
                        <a:rPr lang="en-US" sz="1100" dirty="0">
                          <a:solidFill>
                            <a:srgbClr val="1F2937"/>
                          </a:solidFill>
                        </a:rPr>
                        <a:t>(2.6)</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c>
                  <a:txBody>
                    <a:bodyPr/>
                    <a:lstStyle/>
                    <a:p>
                      <a:pPr algn="r" indent="0" marL="0">
                        <a:buNone/>
                      </a:pPr>
                      <a:r>
                        <a:rPr lang="en-US" sz="1100" dirty="0">
                          <a:solidFill>
                            <a:srgbClr val="1F2937"/>
                          </a:solidFill>
                        </a:rPr>
                        <a:t>(3.7)</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r>
              <a:tr h="256032">
                <a:tc>
                  <a:txBody>
                    <a:bodyPr/>
                    <a:lstStyle/>
                    <a:p>
                      <a:pPr indent="0" marL="0">
                        <a:buNone/>
                      </a:pPr>
                      <a:r>
                        <a:rPr lang="en-US" sz="1100" b="1" dirty="0">
                          <a:solidFill>
                            <a:srgbClr val="1F2937"/>
                          </a:solidFill>
                        </a:rPr>
                        <a:t>Incremental EBITDA</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3F5FA"/>
                    </a:solidFill>
                  </a:tcPr>
                </a:tc>
                <a:tc>
                  <a:txBody>
                    <a:bodyPr/>
                    <a:lstStyle/>
                    <a:p>
                      <a:pPr algn="r" indent="0" marL="0">
                        <a:buNone/>
                      </a:pPr>
                      <a:r>
                        <a:rPr lang="en-US" sz="1100" b="1" dirty="0">
                          <a:solidFill>
                            <a:srgbClr val="1F2937"/>
                          </a:solidFill>
                        </a:rPr>
                        <a:t>(3.1)</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3F5FA"/>
                    </a:solidFill>
                  </a:tcPr>
                </a:tc>
                <a:tc>
                  <a:txBody>
                    <a:bodyPr/>
                    <a:lstStyle/>
                    <a:p>
                      <a:pPr algn="r" indent="0" marL="0">
                        <a:buNone/>
                      </a:pPr>
                      <a:r>
                        <a:rPr lang="en-US" sz="1100" b="1" dirty="0">
                          <a:solidFill>
                            <a:srgbClr val="1F2937"/>
                          </a:solidFill>
                        </a:rPr>
                        <a:t>3.0</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3F5FA"/>
                    </a:solidFill>
                  </a:tcPr>
                </a:tc>
                <a:tc>
                  <a:txBody>
                    <a:bodyPr/>
                    <a:lstStyle/>
                    <a:p>
                      <a:pPr algn="r" indent="0" marL="0">
                        <a:buNone/>
                      </a:pPr>
                      <a:r>
                        <a:rPr lang="en-US" sz="1100" b="1" dirty="0">
                          <a:solidFill>
                            <a:srgbClr val="1F2937"/>
                          </a:solidFill>
                        </a:rPr>
                        <a:t>5.9</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3F5FA"/>
                    </a:solidFill>
                  </a:tcPr>
                </a:tc>
              </a:tr>
              <a:tr h="256032">
                <a:tc>
                  <a:txBody>
                    <a:bodyPr/>
                    <a:lstStyle/>
                    <a:p>
                      <a:pPr indent="0" marL="0">
                        <a:buNone/>
                      </a:pPr>
                      <a:r>
                        <a:rPr lang="en-US" sz="1100" dirty="0">
                          <a:solidFill>
                            <a:srgbClr val="5B6472"/>
                          </a:solidFill>
                        </a:rPr>
                        <a:t>   EBITDA margin</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c>
                  <a:txBody>
                    <a:bodyPr/>
                    <a:lstStyle/>
                    <a:p>
                      <a:pPr algn="r" indent="0" marL="0">
                        <a:buNone/>
                      </a:pPr>
                      <a:r>
                        <a:rPr lang="en-US" sz="1100" dirty="0">
                          <a:solidFill>
                            <a:srgbClr val="5B6472"/>
                          </a:solidFill>
                        </a:rPr>
                        <a:t>-38.0%</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c>
                  <a:txBody>
                    <a:bodyPr/>
                    <a:lstStyle/>
                    <a:p>
                      <a:pPr algn="r" indent="0" marL="0">
                        <a:buNone/>
                      </a:pPr>
                      <a:r>
                        <a:rPr lang="en-US" sz="1100" dirty="0">
                          <a:solidFill>
                            <a:srgbClr val="5B6472"/>
                          </a:solidFill>
                        </a:rPr>
                        <a:t>10.6%</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c>
                  <a:txBody>
                    <a:bodyPr/>
                    <a:lstStyle/>
                    <a:p>
                      <a:pPr algn="r" indent="0" marL="0">
                        <a:buNone/>
                      </a:pPr>
                      <a:r>
                        <a:rPr lang="en-US" sz="1100" dirty="0">
                          <a:solidFill>
                            <a:srgbClr val="5B6472"/>
                          </a:solidFill>
                        </a:rPr>
                        <a:t>14.4%</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r>
              <a:tr h="256032">
                <a:tc>
                  <a:txBody>
                    <a:bodyPr/>
                    <a:lstStyle/>
                    <a:p>
                      <a:pPr indent="0" marL="0">
                        <a:buNone/>
                      </a:pPr>
                      <a:r>
                        <a:rPr lang="en-US" sz="1100" dirty="0">
                          <a:solidFill>
                            <a:srgbClr val="1F2937"/>
                          </a:solidFill>
                        </a:rPr>
                        <a:t>Depreciation</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c>
                  <a:txBody>
                    <a:bodyPr/>
                    <a:lstStyle/>
                    <a:p>
                      <a:pPr algn="r" indent="0" marL="0">
                        <a:buNone/>
                      </a:pPr>
                      <a:r>
                        <a:rPr lang="en-US" sz="1100" dirty="0">
                          <a:solidFill>
                            <a:srgbClr val="1F2937"/>
                          </a:solidFill>
                        </a:rPr>
                        <a:t>(0.6)</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c>
                  <a:txBody>
                    <a:bodyPr/>
                    <a:lstStyle/>
                    <a:p>
                      <a:pPr algn="r" indent="0" marL="0">
                        <a:buNone/>
                      </a:pPr>
                      <a:r>
                        <a:rPr lang="en-US" sz="1100" dirty="0">
                          <a:solidFill>
                            <a:srgbClr val="1F2937"/>
                          </a:solidFill>
                        </a:rPr>
                        <a:t>(0.6)</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c>
                  <a:txBody>
                    <a:bodyPr/>
                    <a:lstStyle/>
                    <a:p>
                      <a:pPr algn="r" indent="0" marL="0">
                        <a:buNone/>
                      </a:pPr>
                      <a:r>
                        <a:rPr lang="en-US" sz="1100" dirty="0">
                          <a:solidFill>
                            <a:srgbClr val="1F2937"/>
                          </a:solidFill>
                        </a:rPr>
                        <a:t>(0.6)</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r>
              <a:tr h="256032">
                <a:tc>
                  <a:txBody>
                    <a:bodyPr/>
                    <a:lstStyle/>
                    <a:p>
                      <a:pPr indent="0" marL="0">
                        <a:buNone/>
                      </a:pPr>
                      <a:r>
                        <a:rPr lang="en-US" sz="1100" dirty="0">
                          <a:solidFill>
                            <a:srgbClr val="1F2937"/>
                          </a:solidFill>
                        </a:rPr>
                        <a:t>WPPF and tax</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c>
                  <a:txBody>
                    <a:bodyPr/>
                    <a:lstStyle/>
                    <a:p>
                      <a:pPr algn="r" indent="0" marL="0">
                        <a:buNone/>
                      </a:pPr>
                      <a:r>
                        <a:rPr lang="en-US" sz="1100" dirty="0">
                          <a:solidFill>
                            <a:srgbClr val="1F2937"/>
                          </a:solidFill>
                        </a:rPr>
                        <a:t>0.0</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c>
                  <a:txBody>
                    <a:bodyPr/>
                    <a:lstStyle/>
                    <a:p>
                      <a:pPr algn="r" indent="0" marL="0">
                        <a:buNone/>
                      </a:pPr>
                      <a:r>
                        <a:rPr lang="en-US" sz="1100" dirty="0">
                          <a:solidFill>
                            <a:srgbClr val="1F2937"/>
                          </a:solidFill>
                        </a:rPr>
                        <a:t>(0.6)</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c>
                  <a:txBody>
                    <a:bodyPr/>
                    <a:lstStyle/>
                    <a:p>
                      <a:pPr algn="r" indent="0" marL="0">
                        <a:buNone/>
                      </a:pPr>
                      <a:r>
                        <a:rPr lang="en-US" sz="1100" dirty="0">
                          <a:solidFill>
                            <a:srgbClr val="1F2937"/>
                          </a:solidFill>
                        </a:rPr>
                        <a:t>(1.3)</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r>
              <a:tr h="256032">
                <a:tc>
                  <a:txBody>
                    <a:bodyPr/>
                    <a:lstStyle/>
                    <a:p>
                      <a:pPr indent="0" marL="0">
                        <a:buNone/>
                      </a:pPr>
                      <a:r>
                        <a:rPr lang="en-US" sz="1100" b="1" dirty="0">
                          <a:solidFill>
                            <a:srgbClr val="1F2937"/>
                          </a:solidFill>
                        </a:rPr>
                        <a:t>Net profit</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c>
                  <a:txBody>
                    <a:bodyPr/>
                    <a:lstStyle/>
                    <a:p>
                      <a:pPr algn="r" indent="0" marL="0">
                        <a:buNone/>
                      </a:pPr>
                      <a:r>
                        <a:rPr lang="en-US" sz="1100" b="1" dirty="0">
                          <a:solidFill>
                            <a:srgbClr val="1F2937"/>
                          </a:solidFill>
                        </a:rPr>
                        <a:t>(3.7)</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c>
                  <a:txBody>
                    <a:bodyPr/>
                    <a:lstStyle/>
                    <a:p>
                      <a:pPr algn="r" indent="0" marL="0">
                        <a:buNone/>
                      </a:pPr>
                      <a:r>
                        <a:rPr lang="en-US" sz="1100" b="1" dirty="0">
                          <a:solidFill>
                            <a:srgbClr val="1F2937"/>
                          </a:solidFill>
                        </a:rPr>
                        <a:t>1.8</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c>
                  <a:txBody>
                    <a:bodyPr/>
                    <a:lstStyle/>
                    <a:p>
                      <a:pPr algn="r" indent="0" marL="0">
                        <a:buNone/>
                      </a:pPr>
                      <a:r>
                        <a:rPr lang="en-US" sz="1100" b="1" dirty="0">
                          <a:solidFill>
                            <a:srgbClr val="1F2937"/>
                          </a:solidFill>
                        </a:rPr>
                        <a:t>4.1</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r>
              <a:tr h="256032">
                <a:tc>
                  <a:txBody>
                    <a:bodyPr/>
                    <a:lstStyle/>
                    <a:p>
                      <a:pPr indent="0" marL="0">
                        <a:buNone/>
                      </a:pPr>
                      <a:r>
                        <a:rPr lang="en-US" sz="1100" dirty="0">
                          <a:solidFill>
                            <a:srgbClr val="5B6472"/>
                          </a:solidFill>
                        </a:rPr>
                        <a:t>Free cash flow</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c>
                  <a:txBody>
                    <a:bodyPr/>
                    <a:lstStyle/>
                    <a:p>
                      <a:pPr algn="r" indent="0" marL="0">
                        <a:buNone/>
                      </a:pPr>
                      <a:r>
                        <a:rPr lang="en-US" sz="1100" dirty="0">
                          <a:solidFill>
                            <a:srgbClr val="5B6472"/>
                          </a:solidFill>
                        </a:rPr>
                        <a:t>(4.9)</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c>
                  <a:txBody>
                    <a:bodyPr/>
                    <a:lstStyle/>
                    <a:p>
                      <a:pPr algn="r" indent="0" marL="0">
                        <a:buNone/>
                      </a:pPr>
                      <a:r>
                        <a:rPr lang="en-US" sz="1100" dirty="0">
                          <a:solidFill>
                            <a:srgbClr val="5B6472"/>
                          </a:solidFill>
                        </a:rPr>
                        <a:t>0.9</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c>
                  <a:txBody>
                    <a:bodyPr/>
                    <a:lstStyle/>
                    <a:p>
                      <a:pPr algn="r" indent="0" marL="0">
                        <a:buNone/>
                      </a:pPr>
                      <a:r>
                        <a:rPr lang="en-US" sz="1100" dirty="0">
                          <a:solidFill>
                            <a:srgbClr val="5B6472"/>
                          </a:solidFill>
                        </a:rPr>
                        <a:t>3.1</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r>
            </a:tbl>
          </a:graphicData>
        </a:graphic>
      </p:graphicFrame>
      <p:sp>
        <p:nvSpPr>
          <p:cNvPr id="5" name="Shape 2"/>
          <p:cNvSpPr/>
          <p:nvPr/>
        </p:nvSpPr>
        <p:spPr>
          <a:xfrm>
            <a:off x="7132320" y="1508760"/>
            <a:ext cx="2157984" cy="1143000"/>
          </a:xfrm>
          <a:prstGeom prst="roundRect">
            <a:avLst>
              <a:gd name="adj" fmla="val 6400"/>
            </a:avLst>
          </a:prstGeom>
          <a:solidFill>
            <a:srgbClr val="141C52"/>
          </a:solidFill>
          <a:ln/>
        </p:spPr>
      </p:sp>
      <p:sp>
        <p:nvSpPr>
          <p:cNvPr id="6" name="Text 3"/>
          <p:cNvSpPr txBox="1"/>
          <p:nvPr/>
        </p:nvSpPr>
        <p:spPr>
          <a:xfrm>
            <a:off x="7269480" y="1600200"/>
            <a:ext cx="1920240" cy="228600"/>
          </a:xfrm>
          <a:prstGeom prst="rect">
            <a:avLst/>
          </a:prstGeom>
          <a:noFill/>
          <a:ln/>
        </p:spPr>
        <p:txBody>
          <a:bodyPr wrap="square" lIns="0" tIns="0" rIns="0" bIns="0" rtlCol="0" anchor="t"/>
          <a:lstStyle/>
          <a:p>
            <a:pPr indent="0" marL="0">
              <a:buNone/>
            </a:pPr>
            <a:r>
              <a:rPr lang="en-US" sz="1100" b="1" spc="100" kern="0" dirty="0">
                <a:solidFill>
                  <a:srgbClr val="F5A31A"/>
                </a:solidFill>
              </a:rPr>
              <a:t>NPV @ 15%</a:t>
            </a:r>
            <a:endParaRPr lang="en-US" sz="1100" dirty="0"/>
          </a:p>
        </p:txBody>
      </p:sp>
      <p:sp>
        <p:nvSpPr>
          <p:cNvPr id="7" name="Text 4"/>
          <p:cNvSpPr txBox="1"/>
          <p:nvPr/>
        </p:nvSpPr>
        <p:spPr>
          <a:xfrm>
            <a:off x="7269480" y="1828800"/>
            <a:ext cx="1920240" cy="457200"/>
          </a:xfrm>
          <a:prstGeom prst="rect">
            <a:avLst/>
          </a:prstGeom>
          <a:noFill/>
          <a:ln/>
        </p:spPr>
        <p:txBody>
          <a:bodyPr wrap="square" lIns="0" tIns="0" rIns="0" bIns="0" rtlCol="0" anchor="t"/>
          <a:lstStyle/>
          <a:p>
            <a:pPr indent="0" marL="0">
              <a:buNone/>
            </a:pPr>
            <a:r>
              <a:rPr lang="en-US" sz="2400" b="1" dirty="0">
                <a:solidFill>
                  <a:srgbClr val="FFFFFF"/>
                </a:solidFill>
              </a:rPr>
              <a:t>+Tk 3.1 Cr</a:t>
            </a:r>
            <a:endParaRPr lang="en-US" sz="2400" dirty="0"/>
          </a:p>
        </p:txBody>
      </p:sp>
      <p:sp>
        <p:nvSpPr>
          <p:cNvPr id="8" name="Text 5"/>
          <p:cNvSpPr txBox="1"/>
          <p:nvPr/>
        </p:nvSpPr>
        <p:spPr>
          <a:xfrm>
            <a:off x="7269480" y="2276856"/>
            <a:ext cx="1920240" cy="347472"/>
          </a:xfrm>
          <a:prstGeom prst="rect">
            <a:avLst/>
          </a:prstGeom>
          <a:noFill/>
          <a:ln/>
        </p:spPr>
        <p:txBody>
          <a:bodyPr wrap="square" lIns="0" tIns="0" rIns="0" bIns="0" rtlCol="0" anchor="t"/>
          <a:lstStyle/>
          <a:p>
            <a:pPr indent="0" marL="0">
              <a:buNone/>
            </a:pPr>
            <a:r>
              <a:rPr lang="en-US" sz="1000" dirty="0">
                <a:solidFill>
                  <a:srgbClr val="C9D3F5"/>
                </a:solidFill>
              </a:rPr>
              <a:t>+Tk 0.5 Cr without working-capital recovery</a:t>
            </a:r>
            <a:endParaRPr lang="en-US" sz="1000" dirty="0"/>
          </a:p>
        </p:txBody>
      </p:sp>
      <p:sp>
        <p:nvSpPr>
          <p:cNvPr id="9" name="Shape 6"/>
          <p:cNvSpPr/>
          <p:nvPr/>
        </p:nvSpPr>
        <p:spPr>
          <a:xfrm>
            <a:off x="9482328" y="1508760"/>
            <a:ext cx="2157984" cy="1143000"/>
          </a:xfrm>
          <a:prstGeom prst="roundRect">
            <a:avLst>
              <a:gd name="adj" fmla="val 6400"/>
            </a:avLst>
          </a:prstGeom>
          <a:solidFill>
            <a:srgbClr val="F3F6FA"/>
          </a:solidFill>
          <a:ln/>
        </p:spPr>
      </p:sp>
      <p:sp>
        <p:nvSpPr>
          <p:cNvPr id="10" name="Text 7"/>
          <p:cNvSpPr txBox="1"/>
          <p:nvPr/>
        </p:nvSpPr>
        <p:spPr>
          <a:xfrm>
            <a:off x="9619488" y="1600200"/>
            <a:ext cx="1920240" cy="228600"/>
          </a:xfrm>
          <a:prstGeom prst="rect">
            <a:avLst/>
          </a:prstGeom>
          <a:noFill/>
          <a:ln/>
        </p:spPr>
        <p:txBody>
          <a:bodyPr wrap="square" lIns="0" tIns="0" rIns="0" bIns="0" rtlCol="0" anchor="t"/>
          <a:lstStyle/>
          <a:p>
            <a:pPr indent="0" marL="0">
              <a:buNone/>
            </a:pPr>
            <a:r>
              <a:rPr lang="en-US" sz="1100" b="1" spc="100" kern="0" dirty="0">
                <a:solidFill>
                  <a:srgbClr val="0E7FA0"/>
                </a:solidFill>
              </a:rPr>
              <a:t>IRR</a:t>
            </a:r>
            <a:endParaRPr lang="en-US" sz="1100" dirty="0"/>
          </a:p>
        </p:txBody>
      </p:sp>
      <p:sp>
        <p:nvSpPr>
          <p:cNvPr id="11" name="Text 8"/>
          <p:cNvSpPr txBox="1"/>
          <p:nvPr/>
        </p:nvSpPr>
        <p:spPr>
          <a:xfrm>
            <a:off x="9619488" y="1828800"/>
            <a:ext cx="1920240" cy="457200"/>
          </a:xfrm>
          <a:prstGeom prst="rect">
            <a:avLst/>
          </a:prstGeom>
          <a:noFill/>
          <a:ln/>
        </p:spPr>
        <p:txBody>
          <a:bodyPr wrap="square" lIns="0" tIns="0" rIns="0" bIns="0" rtlCol="0" anchor="t"/>
          <a:lstStyle/>
          <a:p>
            <a:pPr indent="0" marL="0">
              <a:buNone/>
            </a:pPr>
            <a:r>
              <a:rPr lang="en-US" sz="2400" b="1" dirty="0">
                <a:solidFill>
                  <a:srgbClr val="141C52"/>
                </a:solidFill>
              </a:rPr>
              <a:t>25.1%</a:t>
            </a:r>
            <a:endParaRPr lang="en-US" sz="2400" dirty="0"/>
          </a:p>
        </p:txBody>
      </p:sp>
      <p:sp>
        <p:nvSpPr>
          <p:cNvPr id="12" name="Text 9"/>
          <p:cNvSpPr txBox="1"/>
          <p:nvPr/>
        </p:nvSpPr>
        <p:spPr>
          <a:xfrm>
            <a:off x="9619488" y="2276856"/>
            <a:ext cx="1920240" cy="347472"/>
          </a:xfrm>
          <a:prstGeom prst="rect">
            <a:avLst/>
          </a:prstGeom>
          <a:noFill/>
          <a:ln/>
        </p:spPr>
        <p:txBody>
          <a:bodyPr wrap="square" lIns="0" tIns="0" rIns="0" bIns="0" rtlCol="0" anchor="t"/>
          <a:lstStyle/>
          <a:p>
            <a:pPr indent="0" marL="0">
              <a:buNone/>
            </a:pPr>
            <a:r>
              <a:rPr lang="en-US" sz="1000" dirty="0">
                <a:solidFill>
                  <a:srgbClr val="5B6472"/>
                </a:solidFill>
              </a:rPr>
              <a:t>17.0% without recovery; hurdle 15%</a:t>
            </a:r>
            <a:endParaRPr lang="en-US" sz="1000" dirty="0"/>
          </a:p>
        </p:txBody>
      </p:sp>
      <p:sp>
        <p:nvSpPr>
          <p:cNvPr id="13" name="Shape 10"/>
          <p:cNvSpPr/>
          <p:nvPr/>
        </p:nvSpPr>
        <p:spPr>
          <a:xfrm>
            <a:off x="7132320" y="2761488"/>
            <a:ext cx="2157984" cy="1143000"/>
          </a:xfrm>
          <a:prstGeom prst="roundRect">
            <a:avLst>
              <a:gd name="adj" fmla="val 6400"/>
            </a:avLst>
          </a:prstGeom>
          <a:solidFill>
            <a:srgbClr val="F3F6FA"/>
          </a:solidFill>
          <a:ln/>
        </p:spPr>
      </p:sp>
      <p:sp>
        <p:nvSpPr>
          <p:cNvPr id="14" name="Text 11"/>
          <p:cNvSpPr txBox="1"/>
          <p:nvPr/>
        </p:nvSpPr>
        <p:spPr>
          <a:xfrm>
            <a:off x="7269480" y="2852928"/>
            <a:ext cx="1920240" cy="228600"/>
          </a:xfrm>
          <a:prstGeom prst="rect">
            <a:avLst/>
          </a:prstGeom>
          <a:noFill/>
          <a:ln/>
        </p:spPr>
        <p:txBody>
          <a:bodyPr wrap="square" lIns="0" tIns="0" rIns="0" bIns="0" rtlCol="0" anchor="t"/>
          <a:lstStyle/>
          <a:p>
            <a:pPr indent="0" marL="0">
              <a:buNone/>
            </a:pPr>
            <a:r>
              <a:rPr lang="en-US" sz="1100" b="1" spc="100" kern="0" dirty="0">
                <a:solidFill>
                  <a:srgbClr val="0E7FA0"/>
                </a:solidFill>
              </a:rPr>
              <a:t>Peak funding</a:t>
            </a:r>
            <a:endParaRPr lang="en-US" sz="1100" dirty="0"/>
          </a:p>
        </p:txBody>
      </p:sp>
      <p:sp>
        <p:nvSpPr>
          <p:cNvPr id="15" name="Text 12"/>
          <p:cNvSpPr txBox="1"/>
          <p:nvPr/>
        </p:nvSpPr>
        <p:spPr>
          <a:xfrm>
            <a:off x="7269480" y="3081528"/>
            <a:ext cx="1920240" cy="457200"/>
          </a:xfrm>
          <a:prstGeom prst="rect">
            <a:avLst/>
          </a:prstGeom>
          <a:noFill/>
          <a:ln/>
        </p:spPr>
        <p:txBody>
          <a:bodyPr wrap="square" lIns="0" tIns="0" rIns="0" bIns="0" rtlCol="0" anchor="t"/>
          <a:lstStyle/>
          <a:p>
            <a:pPr indent="0" marL="0">
              <a:buNone/>
            </a:pPr>
            <a:r>
              <a:rPr lang="en-US" sz="2400" b="1" dirty="0">
                <a:solidFill>
                  <a:srgbClr val="141C52"/>
                </a:solidFill>
              </a:rPr>
              <a:t>Tk 9.8 Cr</a:t>
            </a:r>
            <a:endParaRPr lang="en-US" sz="2400" dirty="0"/>
          </a:p>
        </p:txBody>
      </p:sp>
      <p:sp>
        <p:nvSpPr>
          <p:cNvPr id="32" name="Text 13"/>
          <p:cNvSpPr txBox="1"/>
          <p:nvPr/>
        </p:nvSpPr>
        <p:spPr>
          <a:xfrm>
            <a:off x="7269480" y="3529584"/>
            <a:ext cx="1920240" cy="347472"/>
          </a:xfrm>
          <a:prstGeom prst="rect">
            <a:avLst/>
          </a:prstGeom>
          <a:noFill/>
          <a:ln/>
        </p:spPr>
        <p:txBody>
          <a:bodyPr wrap="square" lIns="0" tIns="0" rIns="0" bIns="0" rtlCol="0" anchor="t"/>
          <a:lstStyle/>
          <a:p>
            <a:pPr indent="0" marL="0">
              <a:buNone/>
            </a:pPr>
            <a:r>
              <a:rPr lang="en-US" sz="1000" dirty="0">
                <a:solidFill>
                  <a:srgbClr val="5B6472"/>
                </a:solidFill>
              </a:rPr>
              <a:t>Month 25, first month of Year 2</a:t>
            </a:r>
            <a:endParaRPr lang="en-US" sz="1000" dirty="0"/>
          </a:p>
        </p:txBody>
      </p:sp>
      <p:sp>
        <p:nvSpPr>
          <p:cNvPr id="17" name="Shape 14"/>
          <p:cNvSpPr/>
          <p:nvPr/>
        </p:nvSpPr>
        <p:spPr>
          <a:xfrm>
            <a:off x="9482328" y="2761488"/>
            <a:ext cx="2157984" cy="1143000"/>
          </a:xfrm>
          <a:prstGeom prst="roundRect">
            <a:avLst>
              <a:gd name="adj" fmla="val 6400"/>
            </a:avLst>
          </a:prstGeom>
          <a:solidFill>
            <a:srgbClr val="F3F6FA"/>
          </a:solidFill>
          <a:ln/>
        </p:spPr>
      </p:sp>
      <p:sp>
        <p:nvSpPr>
          <p:cNvPr id="18" name="Text 15"/>
          <p:cNvSpPr txBox="1"/>
          <p:nvPr/>
        </p:nvSpPr>
        <p:spPr>
          <a:xfrm>
            <a:off x="9619488" y="2852928"/>
            <a:ext cx="1920240" cy="228600"/>
          </a:xfrm>
          <a:prstGeom prst="rect">
            <a:avLst/>
          </a:prstGeom>
          <a:noFill/>
          <a:ln/>
        </p:spPr>
        <p:txBody>
          <a:bodyPr wrap="square" lIns="0" tIns="0" rIns="0" bIns="0" rtlCol="0" anchor="t"/>
          <a:lstStyle/>
          <a:p>
            <a:pPr indent="0" marL="0">
              <a:buNone/>
            </a:pPr>
            <a:r>
              <a:rPr lang="en-US" sz="1100" b="1" spc="100" kern="0" dirty="0">
                <a:solidFill>
                  <a:srgbClr val="0E7FA0"/>
                </a:solidFill>
              </a:rPr>
              <a:t>Payback</a:t>
            </a:r>
            <a:endParaRPr lang="en-US" sz="1100" dirty="0"/>
          </a:p>
        </p:txBody>
      </p:sp>
      <p:sp>
        <p:nvSpPr>
          <p:cNvPr id="19" name="Text 16"/>
          <p:cNvSpPr txBox="1"/>
          <p:nvPr/>
        </p:nvSpPr>
        <p:spPr>
          <a:xfrm>
            <a:off x="9619488" y="3081528"/>
            <a:ext cx="1920240" cy="457200"/>
          </a:xfrm>
          <a:prstGeom prst="rect">
            <a:avLst/>
          </a:prstGeom>
          <a:noFill/>
          <a:ln/>
        </p:spPr>
        <p:txBody>
          <a:bodyPr wrap="square" lIns="0" tIns="0" rIns="0" bIns="0" rtlCol="0" anchor="t"/>
          <a:lstStyle/>
          <a:p>
            <a:pPr indent="0" marL="0">
              <a:buNone/>
            </a:pPr>
            <a:r>
              <a:rPr lang="en-US" sz="2400" b="1" dirty="0">
                <a:solidFill>
                  <a:srgbClr val="141C52"/>
                </a:solidFill>
              </a:rPr>
              <a:t>4.8 years</a:t>
            </a:r>
            <a:endParaRPr lang="en-US" sz="2400" dirty="0"/>
          </a:p>
        </p:txBody>
      </p:sp>
      <p:sp>
        <p:nvSpPr>
          <p:cNvPr id="20" name="Text 17"/>
          <p:cNvSpPr txBox="1"/>
          <p:nvPr/>
        </p:nvSpPr>
        <p:spPr>
          <a:xfrm>
            <a:off x="9619488" y="3529584"/>
            <a:ext cx="1920240" cy="347472"/>
          </a:xfrm>
          <a:prstGeom prst="rect">
            <a:avLst/>
          </a:prstGeom>
          <a:noFill/>
          <a:ln/>
        </p:spPr>
        <p:txBody>
          <a:bodyPr wrap="square" lIns="0" tIns="0" rIns="0" bIns="0" rtlCol="0" anchor="t"/>
          <a:lstStyle/>
          <a:p>
            <a:pPr indent="0" marL="0">
              <a:buNone/>
            </a:pPr>
            <a:r>
              <a:rPr lang="en-US" sz="1000" dirty="0">
                <a:solidFill>
                  <a:srgbClr val="5B6472"/>
                </a:solidFill>
              </a:rPr>
              <a:t>From project start; 3.6 years after first sale</a:t>
            </a:r>
            <a:endParaRPr lang="en-US" sz="1000" dirty="0"/>
          </a:p>
        </p:txBody>
      </p:sp>
      <p:graphicFrame>
        <p:nvGraphicFramePr>
          <p:cNvPr id="31" name="Table 1"/>
          <p:cNvGraphicFramePr>
            <a:graphicFrameLocks noGrp="1"/>
          </p:cNvGraphicFramePr>
          <p:nvPr>
            <p:extLst>
              <p:ext uri="{D42A27DB-BD31-4B8C-83A1-F6EECF244321}">
                <p14:modId xmlns:p14="http://schemas.microsoft.com/office/powerpoint/2010/main" val="1579011935"/>
              </p:ext>
            </p:extLst>
          </p:nvPr>
        </p:nvGraphicFramePr>
        <p:xfrm>
          <a:off x="7132320" y="4069080"/>
          <a:ext cx="4507992" cy="914400"/>
        </p:xfrm>
        <a:graphic>
          <a:graphicData uri="http://schemas.openxmlformats.org/drawingml/2006/table">
            <a:tbl>
              <a:tblPr/>
              <a:tblGrid>
                <a:gridCol w="3502152"/>
                <a:gridCol w="1005840"/>
              </a:tblGrid>
              <a:tr h="310896">
                <a:tc>
                  <a:txBody>
                    <a:bodyPr/>
                    <a:lstStyle/>
                    <a:p>
                      <a:pPr indent="0" marL="0">
                        <a:buNone/>
                      </a:pPr>
                      <a:r>
                        <a:rPr lang="en-US" sz="1100" b="1" dirty="0">
                          <a:solidFill>
                            <a:srgbClr val="FFFFFF"/>
                          </a:solidFill>
                        </a:rPr>
                        <a:t>Scenario (Finance masterclass grid)</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141C52"/>
                    </a:solidFill>
                  </a:tcPr>
                </a:tc>
                <a:tc>
                  <a:txBody>
                    <a:bodyPr/>
                    <a:lstStyle/>
                    <a:p>
                      <a:pPr algn="r" indent="0" marL="0">
                        <a:buNone/>
                      </a:pPr>
                      <a:r>
                        <a:rPr lang="en-US" sz="1100" b="1" dirty="0">
                          <a:solidFill>
                            <a:srgbClr val="FFFFFF"/>
                          </a:solidFill>
                        </a:rPr>
                        <a:t>NPV</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141C52"/>
                    </a:solidFill>
                  </a:tcPr>
                </a:tc>
              </a:tr>
              <a:tr h="310896">
                <a:tc>
                  <a:txBody>
                    <a:bodyPr/>
                    <a:lstStyle/>
                    <a:p>
                      <a:pPr indent="0" marL="0">
                        <a:buNone/>
                      </a:pPr>
                      <a:r>
                        <a:rPr lang="en-US" sz="1100" dirty="0">
                          <a:solidFill>
                            <a:srgbClr val="1F2937"/>
                          </a:solidFill>
                        </a:rPr>
                        <a:t>Worst: volume −20%, price −5%, COGS +8%, 3-month delay</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c>
                  <a:txBody>
                    <a:bodyPr/>
                    <a:lstStyle/>
                    <a:p>
                      <a:pPr algn="r" indent="0" marL="0">
                        <a:buNone/>
                      </a:pPr>
                      <a:r>
                        <a:rPr lang="en-US" sz="1100" b="1" dirty="0">
                          <a:solidFill>
                            <a:srgbClr val="B4511F"/>
                          </a:solidFill>
                        </a:rPr>
                        <a:t>−Tk 4.4 Cr</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r>
              <a:tr h="310896">
                <a:tc>
                  <a:txBody>
                    <a:bodyPr/>
                    <a:lstStyle/>
                    <a:p>
                      <a:pPr indent="0" marL="0">
                        <a:buNone/>
                      </a:pPr>
                      <a:r>
                        <a:rPr lang="en-US" sz="1100" b="1" dirty="0">
                          <a:solidFill>
                            <a:srgbClr val="1F2937"/>
                          </a:solidFill>
                        </a:rPr>
                        <a:t>Base plan</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c>
                  <a:txBody>
                    <a:bodyPr/>
                    <a:lstStyle/>
                    <a:p>
                      <a:pPr algn="r" indent="0" marL="0">
                        <a:buNone/>
                      </a:pPr>
                      <a:r>
                        <a:rPr lang="en-US" sz="1100" b="1" dirty="0">
                          <a:solidFill>
                            <a:srgbClr val="141C52"/>
                          </a:solidFill>
                        </a:rPr>
                        <a:t>+Tk 3.1 Cr</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r>
              <a:tr h="310896">
                <a:tc>
                  <a:txBody>
                    <a:bodyPr/>
                    <a:lstStyle/>
                    <a:p>
                      <a:pPr indent="0" marL="0">
                        <a:buNone/>
                      </a:pPr>
                      <a:r>
                        <a:rPr lang="en-US" sz="1100" dirty="0">
                          <a:solidFill>
                            <a:srgbClr val="1F2937"/>
                          </a:solidFill>
                        </a:rPr>
                        <a:t>Best: volume +15%, price +2%, COGS −3%</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c>
                  <a:txBody>
                    <a:bodyPr/>
                    <a:lstStyle/>
                    <a:p>
                      <a:pPr algn="r" indent="0" marL="0">
                        <a:buNone/>
                      </a:pPr>
                      <a:r>
                        <a:rPr lang="en-US" sz="1100" b="1" dirty="0">
                          <a:solidFill>
                            <a:srgbClr val="3E9B3A"/>
                          </a:solidFill>
                        </a:rPr>
                        <a:t>+Tk 7.6 Cr</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r>
            </a:tbl>
          </a:graphicData>
        </a:graphic>
      </p:graphicFrame>
      <p:sp>
        <p:nvSpPr>
          <p:cNvPr id="22" name="Text 18"/>
          <p:cNvSpPr txBox="1"/>
          <p:nvPr/>
        </p:nvSpPr>
        <p:spPr>
          <a:xfrm>
            <a:off x="7132320" y="5413248"/>
            <a:ext cx="4507992" cy="457200"/>
          </a:xfrm>
          <a:prstGeom prst="rect">
            <a:avLst/>
          </a:prstGeom>
          <a:noFill/>
          <a:ln/>
        </p:spPr>
        <p:txBody>
          <a:bodyPr wrap="square" lIns="0" tIns="0" rIns="0" bIns="0" rtlCol="0" anchor="t"/>
          <a:lstStyle/>
        </p:txBody>
      </p:sp>
      <p:sp>
        <p:nvSpPr>
          <p:cNvPr id="23" name="Text 19"/>
          <p:cNvSpPr txBox="1"/>
          <p:nvPr/>
        </p:nvSpPr>
        <p:spPr>
          <a:xfrm>
            <a:off x="548640" y="5989320"/>
            <a:ext cx="11091672" cy="365760"/>
          </a:xfrm>
          <a:prstGeom prst="rect">
            <a:avLst/>
          </a:prstGeom>
          <a:noFill/>
          <a:ln/>
        </p:spPr>
        <p:txBody>
          <a:bodyPr wrap="square" lIns="0" tIns="0" rIns="0" bIns="0" rtlCol="0" anchor="b"/>
          <a:lstStyle/>
          <a:p>
            <a:pPr indent="0" marL="0">
              <a:buNone/>
            </a:pPr>
            <a:r>
              <a:rPr lang="en-US" sz="1000" i="1" dirty="0">
                <a:solidFill>
                  <a:srgbClr val="5B6472"/>
                </a:solidFill>
              </a:rPr>
              <a:t>Five commercial years after a 12-month R&amp;D and pilot phase; no terminal value; working capital 12% of net revenue. Cannibalisation: 20% of WaterSmart revenue at 45% contribution. Tax 20%, WPPF 5%. Scenario NPVs include working-capital recovery. Planning assumptions; register in speaker notes.</a:t>
            </a:r>
            <a:endParaRPr lang="en-US" sz="10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defRPr>
            </a:lvl1pPr>
          </a:lstStyle>
          <a:p>
            <a:pPr algn="r"/>
            <a:r>
              <a:t>14</a:t>
            </a:r>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txBox="1"/>
          <p:nvPr/>
        </p:nvSpPr>
        <p:spPr>
          <a:xfrm>
            <a:off x="548640" y="274320"/>
            <a:ext cx="9601200" cy="256032"/>
          </a:xfrm>
          <a:prstGeom prst="rect">
            <a:avLst/>
          </a:prstGeom>
          <a:noFill/>
          <a:ln/>
        </p:spPr>
        <p:txBody>
          <a:bodyPr wrap="square" lIns="0" tIns="0" rIns="0" bIns="0" rtlCol="0" anchor="t"/>
          <a:lstStyle/>
          <a:p>
            <a:pPr indent="0" marL="0">
              <a:buNone/>
            </a:pPr>
            <a:r>
              <a:rPr lang="en-US" sz="1100" b="1" spc="200" kern="0" dirty="0">
                <a:solidFill>
                  <a:srgbClr val="F5A31A"/>
                </a:solidFill>
              </a:rPr>
              <a:t>THE DECISION</a:t>
            </a:r>
            <a:endParaRPr lang="en-US" sz="1100" dirty="0"/>
          </a:p>
        </p:txBody>
      </p:sp>
      <p:sp>
        <p:nvSpPr>
          <p:cNvPr id="3" name="Text 1"/>
          <p:cNvSpPr/>
          <p:nvPr>
            <p:ph idx="101" type="title" hasCustomPrompt="1"/>
          </p:nvPr>
        </p:nvSpPr>
        <p:spPr>
          <a:xfrm>
            <a:off x="548640" y="566928"/>
            <a:ext cx="11064240" cy="868680"/>
          </a:xfrm>
          <a:prstGeom prst="rect">
            <a:avLst/>
          </a:prstGeom>
          <a:noFill/>
          <a:ln/>
        </p:spPr>
        <p:txBody>
          <a:bodyPr wrap="square" lIns="0" tIns="0" rIns="0" bIns="0" rtlCol="0" anchor="t"/>
          <a:lstStyle/>
          <a:p>
            <a:pPr algn="l" indent="0" marL="0">
              <a:buNone/>
            </a:pPr>
            <a:r>
              <a:rPr lang="en-US" sz="2800" b="1" dirty="0">
                <a:solidFill>
                  <a:srgbClr val="FFFFFF"/>
                </a:solidFill>
              </a:rPr>
              <a:t>Approve a 6-month pilot, and scale nationally only on proof</a:t>
            </a:r>
            <a:endParaRPr lang="en-US" sz="2800" dirty="0"/>
          </a:p>
        </p:txBody>
      </p:sp>
      <p:sp>
        <p:nvSpPr>
          <p:cNvPr id="4" name="Shape 2"/>
          <p:cNvSpPr/>
          <p:nvPr/>
        </p:nvSpPr>
        <p:spPr>
          <a:xfrm>
            <a:off x="548640" y="1554480"/>
            <a:ext cx="2651760" cy="1051560"/>
          </a:xfrm>
          <a:prstGeom prst="roundRect">
            <a:avLst>
              <a:gd name="adj" fmla="val 6957"/>
            </a:avLst>
          </a:prstGeom>
          <a:solidFill>
            <a:srgbClr val="222D72"/>
          </a:solidFill>
          <a:ln/>
        </p:spPr>
      </p:sp>
      <p:sp>
        <p:nvSpPr>
          <p:cNvPr id="5" name="Text 3"/>
          <p:cNvSpPr txBox="1"/>
          <p:nvPr/>
        </p:nvSpPr>
        <p:spPr>
          <a:xfrm>
            <a:off x="685800" y="1627632"/>
            <a:ext cx="2377440" cy="914400"/>
          </a:xfrm>
          <a:prstGeom prst="rect">
            <a:avLst/>
          </a:prstGeom>
          <a:noFill/>
          <a:ln/>
        </p:spPr>
        <p:txBody>
          <a:bodyPr wrap="square" lIns="0" tIns="0" rIns="0" bIns="0" rtlCol="0" anchor="t"/>
          <a:lstStyle/>
          <a:p>
            <a:pPr indent="0" marL="0">
              <a:buNone/>
            </a:pPr>
            <a:r>
              <a:rPr lang="en-US" sz="1200" b="1" dirty="0">
                <a:solidFill>
                  <a:srgbClr val="F5A31A"/>
                </a:solidFill>
              </a:rPr>
              <a:t>M1–6  </a:t>
            </a:r>
            <a:pPr indent="0" marL="0">
              <a:buNone/>
            </a:pPr>
            <a:r>
              <a:rPr lang="en-US" sz="1300" b="1" dirty="0">
                <a:solidFill>
                  <a:srgbClr val="FFFFFF"/>
                </a:solidFill>
              </a:rPr>
              <a:t>R&amp;D and qualification</a:t>
            </a:r>
            <a:endParaRPr lang="en-US" sz="1200" dirty="0"/>
          </a:p>
          <a:p>
            <a:pPr indent="0" marL="0">
              <a:buNone/>
            </a:pPr>
            <a:r>
              <a:rPr lang="en-US" sz="1100" dirty="0">
                <a:solidFill>
                  <a:srgbClr val="C9D3F5"/>
                </a:solidFill>
              </a:rPr>
              <a:t>Tress deposit ≥30% less Ca/Fe; lather ≥80% of soft water; stability 40°C/75% RH; home-use test n≈100.</a:t>
            </a:r>
            <a:endParaRPr lang="en-US" sz="1200" dirty="0"/>
          </a:p>
        </p:txBody>
      </p:sp>
      <p:sp>
        <p:nvSpPr>
          <p:cNvPr id="6" name="Shape 4"/>
          <p:cNvSpPr/>
          <p:nvPr/>
        </p:nvSpPr>
        <p:spPr>
          <a:xfrm>
            <a:off x="3218688" y="1965960"/>
            <a:ext cx="128016" cy="219456"/>
          </a:xfrm>
          <a:prstGeom prst="rightArrow">
            <a:avLst/>
          </a:prstGeom>
          <a:solidFill>
            <a:srgbClr val="F5A31A"/>
          </a:solidFill>
          <a:ln/>
        </p:spPr>
      </p:sp>
      <p:sp>
        <p:nvSpPr>
          <p:cNvPr id="7" name="Shape 5"/>
          <p:cNvSpPr/>
          <p:nvPr/>
        </p:nvSpPr>
        <p:spPr>
          <a:xfrm>
            <a:off x="3364992" y="1554480"/>
            <a:ext cx="2651760" cy="1051560"/>
          </a:xfrm>
          <a:prstGeom prst="roundRect">
            <a:avLst>
              <a:gd name="adj" fmla="val 6957"/>
            </a:avLst>
          </a:prstGeom>
          <a:solidFill>
            <a:srgbClr val="222D72"/>
          </a:solidFill>
          <a:ln/>
        </p:spPr>
      </p:sp>
      <p:sp>
        <p:nvSpPr>
          <p:cNvPr id="8" name="Text 6"/>
          <p:cNvSpPr txBox="1"/>
          <p:nvPr/>
        </p:nvSpPr>
        <p:spPr>
          <a:xfrm>
            <a:off x="3502152" y="1627632"/>
            <a:ext cx="2377440" cy="914400"/>
          </a:xfrm>
          <a:prstGeom prst="rect">
            <a:avLst/>
          </a:prstGeom>
          <a:noFill/>
          <a:ln/>
        </p:spPr>
        <p:txBody>
          <a:bodyPr wrap="square" lIns="0" tIns="0" rIns="0" bIns="0" rtlCol="0" anchor="t"/>
          <a:lstStyle/>
          <a:p>
            <a:pPr indent="0" marL="0">
              <a:buNone/>
            </a:pPr>
            <a:r>
              <a:rPr lang="en-US" sz="1200" b="1" dirty="0">
                <a:solidFill>
                  <a:srgbClr val="F5A31A"/>
                </a:solidFill>
              </a:rPr>
              <a:t>M7–12  </a:t>
            </a:r>
            <a:pPr indent="0" marL="0">
              <a:buNone/>
            </a:pPr>
            <a:r>
              <a:rPr lang="en-US" sz="1300" b="1" dirty="0">
                <a:solidFill>
                  <a:srgbClr val="FFFFFF"/>
                </a:solidFill>
              </a:rPr>
              <a:t>Pilot in two cells</a:t>
            </a:r>
            <a:endParaRPr lang="en-US" sz="1200" dirty="0"/>
          </a:p>
          <a:p>
            <a:pPr indent="0" marL="0">
              <a:buNone/>
            </a:pPr>
            <a:r>
              <a:rPr lang="en-US" sz="1100" dirty="0">
                <a:solidFill>
                  <a:srgbClr val="C9D3F5"/>
                </a:solidFill>
              </a:rPr>
              <a:t>~1,500 outlets: a Dhaka hall/mess catchment and one hard-water town</a:t>
            </a:r>
            <a:endParaRPr lang="en-US" sz="1200" dirty="0"/>
          </a:p>
        </p:txBody>
      </p:sp>
      <p:sp>
        <p:nvSpPr>
          <p:cNvPr id="9" name="Shape 7"/>
          <p:cNvSpPr/>
          <p:nvPr/>
        </p:nvSpPr>
        <p:spPr>
          <a:xfrm>
            <a:off x="6035040" y="1965960"/>
            <a:ext cx="128016" cy="219456"/>
          </a:xfrm>
          <a:prstGeom prst="rightArrow">
            <a:avLst/>
          </a:prstGeom>
          <a:solidFill>
            <a:srgbClr val="F5A31A"/>
          </a:solidFill>
          <a:ln/>
        </p:spPr>
      </p:sp>
      <p:sp>
        <p:nvSpPr>
          <p:cNvPr id="10" name="Shape 8"/>
          <p:cNvSpPr/>
          <p:nvPr/>
        </p:nvSpPr>
        <p:spPr>
          <a:xfrm>
            <a:off x="6181344" y="1554480"/>
            <a:ext cx="2651760" cy="1051560"/>
          </a:xfrm>
          <a:prstGeom prst="roundRect">
            <a:avLst>
              <a:gd name="adj" fmla="val 6957"/>
            </a:avLst>
          </a:prstGeom>
          <a:solidFill>
            <a:srgbClr val="222D72"/>
          </a:solidFill>
          <a:ln/>
        </p:spPr>
      </p:sp>
      <p:sp>
        <p:nvSpPr>
          <p:cNvPr id="11" name="Text 9"/>
          <p:cNvSpPr txBox="1"/>
          <p:nvPr/>
        </p:nvSpPr>
        <p:spPr>
          <a:xfrm>
            <a:off x="6318504" y="1627632"/>
            <a:ext cx="2377440" cy="914400"/>
          </a:xfrm>
          <a:prstGeom prst="rect">
            <a:avLst/>
          </a:prstGeom>
          <a:noFill/>
          <a:ln/>
        </p:spPr>
        <p:txBody>
          <a:bodyPr wrap="square" lIns="0" tIns="0" rIns="0" bIns="0" rtlCol="0" anchor="t"/>
          <a:lstStyle/>
          <a:p>
            <a:pPr indent="0" marL="0">
              <a:buNone/>
            </a:pPr>
            <a:r>
              <a:rPr lang="en-US" sz="1200" b="1" dirty="0">
                <a:solidFill>
                  <a:srgbClr val="F5A31A"/>
                </a:solidFill>
              </a:rPr>
              <a:t>M13–16  </a:t>
            </a:r>
            <a:pPr indent="0" marL="0">
              <a:buNone/>
            </a:pPr>
            <a:r>
              <a:rPr lang="en-US" sz="1300" b="1" dirty="0">
                <a:solidFill>
                  <a:srgbClr val="FFFFFF"/>
                </a:solidFill>
              </a:rPr>
              <a:t>National launch</a:t>
            </a:r>
            <a:endParaRPr lang="en-US" sz="1200" dirty="0"/>
          </a:p>
          <a:p>
            <a:pPr indent="0" marL="0">
              <a:buNone/>
            </a:pPr>
            <a:r>
              <a:rPr lang="en-US" sz="1100" dirty="0">
                <a:solidFill>
                  <a:srgbClr val="C9D3F5"/>
                </a:solidFill>
              </a:rPr>
              <a:t>Pipeline fill; first sales in month 16</a:t>
            </a:r>
            <a:endParaRPr lang="en-US" sz="1200" dirty="0"/>
          </a:p>
        </p:txBody>
      </p:sp>
      <p:sp>
        <p:nvSpPr>
          <p:cNvPr id="12" name="Shape 10"/>
          <p:cNvSpPr/>
          <p:nvPr/>
        </p:nvSpPr>
        <p:spPr>
          <a:xfrm>
            <a:off x="8851392" y="1965960"/>
            <a:ext cx="128016" cy="219456"/>
          </a:xfrm>
          <a:prstGeom prst="rightArrow">
            <a:avLst/>
          </a:prstGeom>
          <a:solidFill>
            <a:srgbClr val="F5A31A"/>
          </a:solidFill>
          <a:ln/>
        </p:spPr>
      </p:sp>
      <p:sp>
        <p:nvSpPr>
          <p:cNvPr id="13" name="Shape 11"/>
          <p:cNvSpPr/>
          <p:nvPr/>
        </p:nvSpPr>
        <p:spPr>
          <a:xfrm>
            <a:off x="8997696" y="1554480"/>
            <a:ext cx="2651760" cy="1051560"/>
          </a:xfrm>
          <a:prstGeom prst="roundRect">
            <a:avLst>
              <a:gd name="adj" fmla="val 6957"/>
            </a:avLst>
          </a:prstGeom>
          <a:solidFill>
            <a:srgbClr val="222D72"/>
          </a:solidFill>
          <a:ln/>
        </p:spPr>
      </p:sp>
      <p:sp>
        <p:nvSpPr>
          <p:cNvPr id="14" name="Text 12"/>
          <p:cNvSpPr txBox="1"/>
          <p:nvPr/>
        </p:nvSpPr>
        <p:spPr>
          <a:xfrm>
            <a:off x="9134856" y="1627632"/>
            <a:ext cx="2377440" cy="914400"/>
          </a:xfrm>
          <a:prstGeom prst="rect">
            <a:avLst/>
          </a:prstGeom>
          <a:noFill/>
          <a:ln/>
        </p:spPr>
        <p:txBody>
          <a:bodyPr wrap="square" lIns="0" tIns="0" rIns="0" bIns="0" rtlCol="0" anchor="t"/>
          <a:lstStyle/>
          <a:p>
            <a:pPr indent="0" marL="0">
              <a:buNone/>
            </a:pPr>
            <a:r>
              <a:rPr lang="en-US" sz="1200" b="1" dirty="0">
                <a:solidFill>
                  <a:srgbClr val="F5A31A"/>
                </a:solidFill>
              </a:rPr>
              <a:t>Year 2  </a:t>
            </a:r>
            <a:pPr indent="0" marL="0">
              <a:buNone/>
            </a:pPr>
            <a:r>
              <a:rPr lang="en-US" sz="1300" b="1" dirty="0">
                <a:solidFill>
                  <a:srgbClr val="FFFFFF"/>
                </a:solidFill>
              </a:rPr>
              <a:t>LonaJol gate</a:t>
            </a:r>
            <a:endParaRPr lang="en-US" sz="1200" dirty="0"/>
          </a:p>
          <a:p>
            <a:pPr indent="0" marL="0">
              <a:buNone/>
            </a:pPr>
            <a:r>
              <a:rPr lang="en-US" sz="1100" dirty="0">
                <a:solidFill>
                  <a:srgbClr val="C9D3F5"/>
                </a:solidFill>
              </a:rPr>
              <a:t>Coastal saline variant only after its own tests</a:t>
            </a:r>
            <a:endParaRPr lang="en-US" sz="1200" dirty="0"/>
          </a:p>
        </p:txBody>
      </p:sp>
      <p:sp>
        <p:nvSpPr>
          <p:cNvPr id="15" name="Text 13"/>
          <p:cNvSpPr txBox="1"/>
          <p:nvPr/>
        </p:nvSpPr>
        <p:spPr>
          <a:xfrm>
            <a:off x="548640" y="2743200"/>
            <a:ext cx="5486400" cy="256032"/>
          </a:xfrm>
          <a:prstGeom prst="rect">
            <a:avLst/>
          </a:prstGeom>
          <a:noFill/>
          <a:ln/>
        </p:spPr>
        <p:txBody>
          <a:bodyPr wrap="square" lIns="0" tIns="0" rIns="0" bIns="0" rtlCol="0" anchor="t"/>
          <a:lstStyle/>
          <a:p>
            <a:pPr indent="0" marL="0">
              <a:buNone/>
            </a:pPr>
            <a:r>
              <a:rPr lang="en-US" sz="1100" b="1" spc="200" kern="0" dirty="0">
                <a:solidFill>
                  <a:srgbClr val="F5A31A"/>
                </a:solidFill>
              </a:rPr>
              <a:t>GO / NO-GO GATES AT MONTH 12</a:t>
            </a:r>
            <a:endParaRPr lang="en-US" sz="1100" dirty="0"/>
          </a:p>
        </p:txBody>
      </p:sp>
      <p:sp>
        <p:nvSpPr>
          <p:cNvPr id="16" name="Shape 14"/>
          <p:cNvSpPr/>
          <p:nvPr/>
        </p:nvSpPr>
        <p:spPr>
          <a:xfrm>
            <a:off x="548640" y="3035808"/>
            <a:ext cx="2651760" cy="713232"/>
          </a:xfrm>
          <a:prstGeom prst="roundRect">
            <a:avLst>
              <a:gd name="adj" fmla="val 10256"/>
            </a:avLst>
          </a:prstGeom>
          <a:solidFill>
            <a:srgbClr val="F5A31A"/>
          </a:solidFill>
          <a:ln/>
        </p:spPr>
      </p:sp>
      <p:sp>
        <p:nvSpPr>
          <p:cNvPr id="17" name="Text 15"/>
          <p:cNvSpPr txBox="1"/>
          <p:nvPr/>
        </p:nvSpPr>
        <p:spPr>
          <a:xfrm>
            <a:off x="685800" y="3035808"/>
            <a:ext cx="2377440" cy="713232"/>
          </a:xfrm>
          <a:prstGeom prst="rect">
            <a:avLst/>
          </a:prstGeom>
          <a:noFill/>
          <a:ln/>
        </p:spPr>
        <p:txBody>
          <a:bodyPr wrap="square" lIns="0" tIns="0" rIns="0" bIns="0" rtlCol="0" anchor="ctr"/>
          <a:lstStyle/>
          <a:p>
            <a:pPr indent="0" marL="0">
              <a:buNone/>
            </a:pPr>
            <a:r>
              <a:rPr lang="en-US" sz="1200" b="1" dirty="0">
                <a:solidFill>
                  <a:srgbClr val="141C52"/>
                </a:solidFill>
              </a:rPr>
              <a:t>Rate of sale at least 70% of plan; reappraise finances before scale</a:t>
            </a:r>
            <a:endParaRPr lang="en-US" sz="1200" dirty="0"/>
          </a:p>
        </p:txBody>
      </p:sp>
      <p:sp>
        <p:nvSpPr>
          <p:cNvPr id="18" name="Shape 16"/>
          <p:cNvSpPr/>
          <p:nvPr/>
        </p:nvSpPr>
        <p:spPr>
          <a:xfrm>
            <a:off x="3364992" y="3035808"/>
            <a:ext cx="2651760" cy="713232"/>
          </a:xfrm>
          <a:prstGeom prst="roundRect">
            <a:avLst>
              <a:gd name="adj" fmla="val 10256"/>
            </a:avLst>
          </a:prstGeom>
          <a:solidFill>
            <a:srgbClr val="F5A31A"/>
          </a:solidFill>
          <a:ln/>
        </p:spPr>
      </p:sp>
      <p:sp>
        <p:nvSpPr>
          <p:cNvPr id="19" name="Text 17"/>
          <p:cNvSpPr txBox="1"/>
          <p:nvPr/>
        </p:nvSpPr>
        <p:spPr>
          <a:xfrm>
            <a:off x="3502152" y="3035808"/>
            <a:ext cx="2377440" cy="713232"/>
          </a:xfrm>
          <a:prstGeom prst="rect">
            <a:avLst/>
          </a:prstGeom>
          <a:noFill/>
          <a:ln/>
        </p:spPr>
        <p:txBody>
          <a:bodyPr wrap="square" lIns="0" tIns="0" rIns="0" bIns="0" rtlCol="0" anchor="ctr"/>
          <a:lstStyle/>
          <a:p>
            <a:pPr indent="0" marL="0">
              <a:buNone/>
            </a:pPr>
            <a:r>
              <a:rPr lang="en-US" sz="1200" b="1" dirty="0">
                <a:solidFill>
                  <a:srgbClr val="141C52"/>
                </a:solidFill>
              </a:rPr>
              <a:t>Paid repeat at least 25% in mature cohorts</a:t>
            </a:r>
            <a:endParaRPr lang="en-US" sz="1200" dirty="0"/>
          </a:p>
        </p:txBody>
      </p:sp>
      <p:sp>
        <p:nvSpPr>
          <p:cNvPr id="20" name="Shape 18"/>
          <p:cNvSpPr/>
          <p:nvPr/>
        </p:nvSpPr>
        <p:spPr>
          <a:xfrm>
            <a:off x="6181344" y="3035808"/>
            <a:ext cx="2651760" cy="713232"/>
          </a:xfrm>
          <a:prstGeom prst="roundRect">
            <a:avLst>
              <a:gd name="adj" fmla="val 10256"/>
            </a:avLst>
          </a:prstGeom>
          <a:solidFill>
            <a:srgbClr val="F5A31A"/>
          </a:solidFill>
          <a:ln/>
        </p:spPr>
      </p:sp>
      <p:sp>
        <p:nvSpPr>
          <p:cNvPr id="21" name="Text 19"/>
          <p:cNvSpPr txBox="1"/>
          <p:nvPr/>
        </p:nvSpPr>
        <p:spPr>
          <a:xfrm>
            <a:off x="6318504" y="3035808"/>
            <a:ext cx="2377440" cy="713232"/>
          </a:xfrm>
          <a:prstGeom prst="rect">
            <a:avLst/>
          </a:prstGeom>
          <a:noFill/>
          <a:ln/>
        </p:spPr>
        <p:txBody>
          <a:bodyPr wrap="square" lIns="0" tIns="0" rIns="0" bIns="0" rtlCol="0" anchor="ctr"/>
          <a:lstStyle/>
          <a:p>
            <a:pPr indent="0" marL="0">
              <a:buNone/>
            </a:pPr>
            <a:r>
              <a:rPr lang="en-US" sz="1200" b="1" dirty="0">
                <a:solidFill>
                  <a:srgbClr val="141C52"/>
                </a:solidFill>
              </a:rPr>
              <a:t>Blended gross margin at least 45%</a:t>
            </a:r>
            <a:endParaRPr lang="en-US" sz="1200" dirty="0"/>
          </a:p>
        </p:txBody>
      </p:sp>
      <p:sp>
        <p:nvSpPr>
          <p:cNvPr id="22" name="Shape 20"/>
          <p:cNvSpPr/>
          <p:nvPr/>
        </p:nvSpPr>
        <p:spPr>
          <a:xfrm>
            <a:off x="8997696" y="3035808"/>
            <a:ext cx="2651760" cy="713232"/>
          </a:xfrm>
          <a:prstGeom prst="roundRect">
            <a:avLst>
              <a:gd name="adj" fmla="val 10256"/>
            </a:avLst>
          </a:prstGeom>
          <a:solidFill>
            <a:srgbClr val="F5A31A"/>
          </a:solidFill>
          <a:ln/>
        </p:spPr>
      </p:sp>
      <p:sp>
        <p:nvSpPr>
          <p:cNvPr id="23" name="Text 21"/>
          <p:cNvSpPr txBox="1"/>
          <p:nvPr/>
        </p:nvSpPr>
        <p:spPr>
          <a:xfrm>
            <a:off x="9134856" y="3035808"/>
            <a:ext cx="2377440" cy="713232"/>
          </a:xfrm>
          <a:prstGeom prst="rect">
            <a:avLst/>
          </a:prstGeom>
          <a:noFill/>
          <a:ln/>
        </p:spPr>
        <p:txBody>
          <a:bodyPr wrap="square" lIns="0" tIns="0" rIns="0" bIns="0" rtlCol="0" anchor="ctr"/>
          <a:lstStyle/>
          <a:p>
            <a:pPr indent="0" marL="0">
              <a:buNone/>
            </a:pPr>
            <a:r>
              <a:rPr lang="en-US" sz="1200" b="1" dirty="0">
                <a:solidFill>
                  <a:srgbClr val="141C52"/>
                </a:solidFill>
              </a:rPr>
              <a:t>Strip complaints under 2%; all safety and regulatory gates passed</a:t>
            </a:r>
            <a:endParaRPr lang="en-US" sz="1200" dirty="0"/>
          </a:p>
        </p:txBody>
      </p:sp>
      <p:graphicFrame>
        <p:nvGraphicFramePr>
          <p:cNvPr id="28" name="Table 0"/>
          <p:cNvGraphicFramePr>
            <a:graphicFrameLocks noGrp="1"/>
          </p:cNvGraphicFramePr>
          <p:nvPr>
            <p:extLst>
              <p:ext uri="{D42A27DB-BD31-4B8C-83A1-F6EECF244321}">
                <p14:modId xmlns:p14="http://schemas.microsoft.com/office/powerpoint/2010/main" val="1579011935"/>
              </p:ext>
            </p:extLst>
          </p:nvPr>
        </p:nvGraphicFramePr>
        <p:xfrm>
          <a:off x="548640" y="3913632"/>
          <a:ext cx="7498080" cy="914400"/>
        </p:xfrm>
        <a:graphic>
          <a:graphicData uri="http://schemas.openxmlformats.org/drawingml/2006/table">
            <a:tbl>
              <a:tblPr/>
              <a:tblGrid>
                <a:gridCol w="3017520"/>
                <a:gridCol w="4480560"/>
              </a:tblGrid>
              <a:tr h="301752">
                <a:tc>
                  <a:txBody>
                    <a:bodyPr/>
                    <a:lstStyle/>
                    <a:p>
                      <a:pPr indent="0" marL="0">
                        <a:buNone/>
                      </a:pPr>
                      <a:r>
                        <a:rPr lang="en-US" sz="1100" b="1" dirty="0">
                          <a:solidFill>
                            <a:srgbClr val="F5A31A"/>
                          </a:solidFill>
                        </a:rPr>
                        <a:t>Top risks</a:t>
                      </a:r>
                      <a:endParaRPr lang="en-US" sz="1100" dirty="0"/>
                    </a:p>
                  </a:txBody>
                  <a:tcPr marL="73152" marR="73152" marT="18288" marB="18288" anchor="ctr">
                    <a:lnL w="9525" cap="flat" cmpd="sng" algn="ctr">
                      <a:solidFill>
                        <a:srgbClr val="141C52"/>
                      </a:solidFill>
                      <a:prstDash val="solid"/>
                      <a:round/>
                      <a:headEnd type="none" w="med" len="med"/>
                      <a:tailEnd type="none" w="med" len="med"/>
                    </a:lnL>
                    <a:lnR w="9525" cap="flat" cmpd="sng" algn="ctr">
                      <a:solidFill>
                        <a:srgbClr val="141C52"/>
                      </a:solidFill>
                      <a:prstDash val="solid"/>
                      <a:round/>
                      <a:headEnd type="none" w="med" len="med"/>
                      <a:tailEnd type="none" w="med" len="med"/>
                    </a:lnR>
                    <a:lnT w="9525" cap="flat" cmpd="sng" algn="ctr">
                      <a:solidFill>
                        <a:srgbClr val="141C52"/>
                      </a:solidFill>
                      <a:prstDash val="solid"/>
                      <a:round/>
                      <a:headEnd type="none" w="med" len="med"/>
                      <a:tailEnd type="none" w="med" len="med"/>
                    </a:lnT>
                    <a:lnB w="9525" cap="flat" cmpd="sng" algn="ctr">
                      <a:solidFill>
                        <a:srgbClr val="141C52"/>
                      </a:solidFill>
                      <a:prstDash val="solid"/>
                      <a:round/>
                      <a:headEnd type="none" w="med" len="med"/>
                      <a:tailEnd type="none" w="med" len="med"/>
                    </a:lnB>
                    <a:solidFill>
                      <a:srgbClr val="222D72"/>
                    </a:solidFill>
                  </a:tcPr>
                </a:tc>
                <a:tc>
                  <a:txBody>
                    <a:bodyPr/>
                    <a:lstStyle/>
                    <a:p>
                      <a:pPr indent="0" marL="0">
                        <a:buNone/>
                      </a:pPr>
                      <a:r>
                        <a:rPr lang="en-US" sz="1100" b="1" dirty="0">
                          <a:solidFill>
                            <a:srgbClr val="F5A31A"/>
                          </a:solidFill>
                        </a:rPr>
                        <a:t>Mitigation</a:t>
                      </a:r>
                      <a:endParaRPr lang="en-US" sz="1100" dirty="0"/>
                    </a:p>
                  </a:txBody>
                  <a:tcPr marL="73152" marR="73152" marT="18288" marB="18288" anchor="ctr">
                    <a:lnL w="9525" cap="flat" cmpd="sng" algn="ctr">
                      <a:solidFill>
                        <a:srgbClr val="141C52"/>
                      </a:solidFill>
                      <a:prstDash val="solid"/>
                      <a:round/>
                      <a:headEnd type="none" w="med" len="med"/>
                      <a:tailEnd type="none" w="med" len="med"/>
                    </a:lnL>
                    <a:lnR w="9525" cap="flat" cmpd="sng" algn="ctr">
                      <a:solidFill>
                        <a:srgbClr val="141C52"/>
                      </a:solidFill>
                      <a:prstDash val="solid"/>
                      <a:round/>
                      <a:headEnd type="none" w="med" len="med"/>
                      <a:tailEnd type="none" w="med" len="med"/>
                    </a:lnR>
                    <a:lnT w="9525" cap="flat" cmpd="sng" algn="ctr">
                      <a:solidFill>
                        <a:srgbClr val="141C52"/>
                      </a:solidFill>
                      <a:prstDash val="solid"/>
                      <a:round/>
                      <a:headEnd type="none" w="med" len="med"/>
                      <a:tailEnd type="none" w="med" len="med"/>
                    </a:lnT>
                    <a:lnB w="9525" cap="flat" cmpd="sng" algn="ctr">
                      <a:solidFill>
                        <a:srgbClr val="141C52"/>
                      </a:solidFill>
                      <a:prstDash val="solid"/>
                      <a:round/>
                      <a:headEnd type="none" w="med" len="med"/>
                      <a:tailEnd type="none" w="med" len="med"/>
                    </a:lnB>
                    <a:solidFill>
                      <a:srgbClr val="222D72"/>
                    </a:solidFill>
                  </a:tcPr>
                </a:tc>
              </a:tr>
              <a:tr h="301752">
                <a:tc>
                  <a:txBody>
                    <a:bodyPr/>
                    <a:lstStyle/>
                    <a:p>
                      <a:pPr indent="0" marL="0">
                        <a:buNone/>
                      </a:pPr>
                      <a:r>
                        <a:rPr lang="en-US" sz="1100" b="1" dirty="0">
                          <a:solidFill>
                            <a:srgbClr val="FFFFFF"/>
                          </a:solidFill>
                        </a:rPr>
                        <a:t>Claims not proven</a:t>
                      </a:r>
                      <a:endParaRPr lang="en-US" sz="1100" dirty="0"/>
                    </a:p>
                  </a:txBody>
                  <a:tcPr marL="73152" marR="73152" marT="18288" marB="18288" anchor="ctr">
                    <a:lnL w="9525" cap="flat" cmpd="sng" algn="ctr">
                      <a:solidFill>
                        <a:srgbClr val="141C52"/>
                      </a:solidFill>
                      <a:prstDash val="solid"/>
                      <a:round/>
                      <a:headEnd type="none" w="med" len="med"/>
                      <a:tailEnd type="none" w="med" len="med"/>
                    </a:lnL>
                    <a:lnR w="9525" cap="flat" cmpd="sng" algn="ctr">
                      <a:solidFill>
                        <a:srgbClr val="141C52"/>
                      </a:solidFill>
                      <a:prstDash val="solid"/>
                      <a:round/>
                      <a:headEnd type="none" w="med" len="med"/>
                      <a:tailEnd type="none" w="med" len="med"/>
                    </a:lnR>
                    <a:lnT w="9525" cap="flat" cmpd="sng" algn="ctr">
                      <a:solidFill>
                        <a:srgbClr val="141C52"/>
                      </a:solidFill>
                      <a:prstDash val="solid"/>
                      <a:round/>
                      <a:headEnd type="none" w="med" len="med"/>
                      <a:tailEnd type="none" w="med" len="med"/>
                    </a:lnT>
                    <a:lnB w="9525" cap="flat" cmpd="sng" algn="ctr">
                      <a:solidFill>
                        <a:srgbClr val="141C52"/>
                      </a:solidFill>
                      <a:prstDash val="solid"/>
                      <a:round/>
                      <a:headEnd type="none" w="med" len="med"/>
                      <a:tailEnd type="none" w="med" len="med"/>
                    </a:lnB>
                    <a:solidFill>
                      <a:srgbClr val="222D72"/>
                    </a:solidFill>
                  </a:tcPr>
                </a:tc>
                <a:tc>
                  <a:txBody>
                    <a:bodyPr/>
                    <a:lstStyle/>
                    <a:p>
                      <a:pPr indent="0" marL="0">
                        <a:buNone/>
                      </a:pPr>
                      <a:r>
                        <a:rPr lang="en-US" sz="1100" dirty="0">
                          <a:solidFill>
                            <a:srgbClr val="C9D3F5"/>
                          </a:solidFill>
                        </a:rPr>
                        <a:t>R&amp;D tress and lather tests before any claim; never “stops hair fall”</a:t>
                      </a:r>
                      <a:endParaRPr lang="en-US" sz="1100" dirty="0"/>
                    </a:p>
                  </a:txBody>
                  <a:tcPr marL="73152" marR="73152" marT="18288" marB="18288" anchor="ctr">
                    <a:lnL w="9525" cap="flat" cmpd="sng" algn="ctr">
                      <a:solidFill>
                        <a:srgbClr val="141C52"/>
                      </a:solidFill>
                      <a:prstDash val="solid"/>
                      <a:round/>
                      <a:headEnd type="none" w="med" len="med"/>
                      <a:tailEnd type="none" w="med" len="med"/>
                    </a:lnL>
                    <a:lnR w="9525" cap="flat" cmpd="sng" algn="ctr">
                      <a:solidFill>
                        <a:srgbClr val="141C52"/>
                      </a:solidFill>
                      <a:prstDash val="solid"/>
                      <a:round/>
                      <a:headEnd type="none" w="med" len="med"/>
                      <a:tailEnd type="none" w="med" len="med"/>
                    </a:lnR>
                    <a:lnT w="9525" cap="flat" cmpd="sng" algn="ctr">
                      <a:solidFill>
                        <a:srgbClr val="141C52"/>
                      </a:solidFill>
                      <a:prstDash val="solid"/>
                      <a:round/>
                      <a:headEnd type="none" w="med" len="med"/>
                      <a:tailEnd type="none" w="med" len="med"/>
                    </a:lnT>
                    <a:lnB w="9525" cap="flat" cmpd="sng" algn="ctr">
                      <a:solidFill>
                        <a:srgbClr val="141C52"/>
                      </a:solidFill>
                      <a:prstDash val="solid"/>
                      <a:round/>
                      <a:headEnd type="none" w="med" len="med"/>
                      <a:tailEnd type="none" w="med" len="med"/>
                    </a:lnB>
                    <a:solidFill>
                      <a:srgbClr val="222D72"/>
                    </a:solidFill>
                  </a:tcPr>
                </a:tc>
              </a:tr>
              <a:tr h="301752">
                <a:tc>
                  <a:txBody>
                    <a:bodyPr/>
                    <a:lstStyle/>
                    <a:p>
                      <a:pPr indent="0" marL="0">
                        <a:buNone/>
                      </a:pPr>
                      <a:r>
                        <a:rPr lang="en-US" sz="1100" b="1" dirty="0">
                          <a:solidFill>
                            <a:srgbClr val="FFFFFF"/>
                          </a:solidFill>
                        </a:rPr>
                        <a:t>Strip life in humid storage</a:t>
                      </a:r>
                      <a:endParaRPr lang="en-US" sz="1100" dirty="0"/>
                    </a:p>
                  </a:txBody>
                  <a:tcPr marL="73152" marR="73152" marT="18288" marB="18288" anchor="ctr">
                    <a:lnL w="9525" cap="flat" cmpd="sng" algn="ctr">
                      <a:solidFill>
                        <a:srgbClr val="141C52"/>
                      </a:solidFill>
                      <a:prstDash val="solid"/>
                      <a:round/>
                      <a:headEnd type="none" w="med" len="med"/>
                      <a:tailEnd type="none" w="med" len="med"/>
                    </a:lnL>
                    <a:lnR w="9525" cap="flat" cmpd="sng" algn="ctr">
                      <a:solidFill>
                        <a:srgbClr val="141C52"/>
                      </a:solidFill>
                      <a:prstDash val="solid"/>
                      <a:round/>
                      <a:headEnd type="none" w="med" len="med"/>
                      <a:tailEnd type="none" w="med" len="med"/>
                    </a:lnR>
                    <a:lnT w="9525" cap="flat" cmpd="sng" algn="ctr">
                      <a:solidFill>
                        <a:srgbClr val="141C52"/>
                      </a:solidFill>
                      <a:prstDash val="solid"/>
                      <a:round/>
                      <a:headEnd type="none" w="med" len="med"/>
                      <a:tailEnd type="none" w="med" len="med"/>
                    </a:lnT>
                    <a:lnB w="9525" cap="flat" cmpd="sng" algn="ctr">
                      <a:solidFill>
                        <a:srgbClr val="141C52"/>
                      </a:solidFill>
                      <a:prstDash val="solid"/>
                      <a:round/>
                      <a:headEnd type="none" w="med" len="med"/>
                      <a:tailEnd type="none" w="med" len="med"/>
                    </a:lnB>
                    <a:solidFill>
                      <a:srgbClr val="222D72"/>
                    </a:solidFill>
                  </a:tcPr>
                </a:tc>
                <a:tc>
                  <a:txBody>
                    <a:bodyPr/>
                    <a:lstStyle/>
                    <a:p>
                      <a:pPr indent="0" marL="0">
                        <a:buNone/>
                      </a:pPr>
                      <a:r>
                        <a:rPr lang="en-US" sz="1100" dirty="0">
                          <a:solidFill>
                            <a:srgbClr val="C9D3F5"/>
                          </a:solidFill>
                        </a:rPr>
                        <a:t>Foil-sealed strips, supplier stability data, two suppliers</a:t>
                      </a:r>
                      <a:endParaRPr lang="en-US" sz="1100" dirty="0"/>
                    </a:p>
                  </a:txBody>
                  <a:tcPr marL="73152" marR="73152" marT="18288" marB="18288" anchor="ctr">
                    <a:lnL w="9525" cap="flat" cmpd="sng" algn="ctr">
                      <a:solidFill>
                        <a:srgbClr val="141C52"/>
                      </a:solidFill>
                      <a:prstDash val="solid"/>
                      <a:round/>
                      <a:headEnd type="none" w="med" len="med"/>
                      <a:tailEnd type="none" w="med" len="med"/>
                    </a:lnL>
                    <a:lnR w="9525" cap="flat" cmpd="sng" algn="ctr">
                      <a:solidFill>
                        <a:srgbClr val="141C52"/>
                      </a:solidFill>
                      <a:prstDash val="solid"/>
                      <a:round/>
                      <a:headEnd type="none" w="med" len="med"/>
                      <a:tailEnd type="none" w="med" len="med"/>
                    </a:lnR>
                    <a:lnT w="9525" cap="flat" cmpd="sng" algn="ctr">
                      <a:solidFill>
                        <a:srgbClr val="141C52"/>
                      </a:solidFill>
                      <a:prstDash val="solid"/>
                      <a:round/>
                      <a:headEnd type="none" w="med" len="med"/>
                      <a:tailEnd type="none" w="med" len="med"/>
                    </a:lnT>
                    <a:lnB w="9525" cap="flat" cmpd="sng" algn="ctr">
                      <a:solidFill>
                        <a:srgbClr val="141C52"/>
                      </a:solidFill>
                      <a:prstDash val="solid"/>
                      <a:round/>
                      <a:headEnd type="none" w="med" len="med"/>
                      <a:tailEnd type="none" w="med" len="med"/>
                    </a:lnB>
                    <a:solidFill>
                      <a:srgbClr val="222D72"/>
                    </a:solidFill>
                  </a:tcPr>
                </a:tc>
              </a:tr>
              <a:tr h="301752">
                <a:tc>
                  <a:txBody>
                    <a:bodyPr/>
                    <a:lstStyle/>
                    <a:p>
                      <a:pPr indent="0" marL="0">
                        <a:buNone/>
                      </a:pPr>
                      <a:r>
                        <a:rPr lang="en-US" sz="1100" b="1" dirty="0">
                          <a:solidFill>
                            <a:srgbClr val="FFFFFF"/>
                          </a:solidFill>
                        </a:rPr>
                        <a:t>Cannibalising Naturale</a:t>
                      </a:r>
                      <a:endParaRPr lang="en-US" sz="1100" dirty="0"/>
                    </a:p>
                  </a:txBody>
                  <a:tcPr marL="73152" marR="73152" marT="18288" marB="18288" anchor="ctr">
                    <a:lnL w="9525" cap="flat" cmpd="sng" algn="ctr">
                      <a:solidFill>
                        <a:srgbClr val="141C52"/>
                      </a:solidFill>
                      <a:prstDash val="solid"/>
                      <a:round/>
                      <a:headEnd type="none" w="med" len="med"/>
                      <a:tailEnd type="none" w="med" len="med"/>
                    </a:lnL>
                    <a:lnR w="9525" cap="flat" cmpd="sng" algn="ctr">
                      <a:solidFill>
                        <a:srgbClr val="141C52"/>
                      </a:solidFill>
                      <a:prstDash val="solid"/>
                      <a:round/>
                      <a:headEnd type="none" w="med" len="med"/>
                      <a:tailEnd type="none" w="med" len="med"/>
                    </a:lnR>
                    <a:lnT w="9525" cap="flat" cmpd="sng" algn="ctr">
                      <a:solidFill>
                        <a:srgbClr val="141C52"/>
                      </a:solidFill>
                      <a:prstDash val="solid"/>
                      <a:round/>
                      <a:headEnd type="none" w="med" len="med"/>
                      <a:tailEnd type="none" w="med" len="med"/>
                    </a:lnT>
                    <a:lnB w="9525" cap="flat" cmpd="sng" algn="ctr">
                      <a:solidFill>
                        <a:srgbClr val="141C52"/>
                      </a:solidFill>
                      <a:prstDash val="solid"/>
                      <a:round/>
                      <a:headEnd type="none" w="med" len="med"/>
                      <a:tailEnd type="none" w="med" len="med"/>
                    </a:lnB>
                    <a:solidFill>
                      <a:srgbClr val="222D72"/>
                    </a:solidFill>
                  </a:tcPr>
                </a:tc>
                <a:tc>
                  <a:txBody>
                    <a:bodyPr/>
                    <a:lstStyle/>
                    <a:p>
                      <a:pPr indent="0" marL="0">
                        <a:buNone/>
                      </a:pPr>
                      <a:r>
                        <a:rPr lang="en-US" sz="1100" dirty="0">
                          <a:solidFill>
                            <a:srgbClr val="C9D3F5"/>
                          </a:solidFill>
                        </a:rPr>
                        <a:t>Priced above core Naturale; target users of other brands; measured in the pilot</a:t>
                      </a:r>
                      <a:endParaRPr lang="en-US" sz="1100" dirty="0"/>
                    </a:p>
                  </a:txBody>
                  <a:tcPr marL="73152" marR="73152" marT="18288" marB="18288" anchor="ctr">
                    <a:lnL w="9525" cap="flat" cmpd="sng" algn="ctr">
                      <a:solidFill>
                        <a:srgbClr val="141C52"/>
                      </a:solidFill>
                      <a:prstDash val="solid"/>
                      <a:round/>
                      <a:headEnd type="none" w="med" len="med"/>
                      <a:tailEnd type="none" w="med" len="med"/>
                    </a:lnL>
                    <a:lnR w="9525" cap="flat" cmpd="sng" algn="ctr">
                      <a:solidFill>
                        <a:srgbClr val="141C52"/>
                      </a:solidFill>
                      <a:prstDash val="solid"/>
                      <a:round/>
                      <a:headEnd type="none" w="med" len="med"/>
                      <a:tailEnd type="none" w="med" len="med"/>
                    </a:lnR>
                    <a:lnT w="9525" cap="flat" cmpd="sng" algn="ctr">
                      <a:solidFill>
                        <a:srgbClr val="141C52"/>
                      </a:solidFill>
                      <a:prstDash val="solid"/>
                      <a:round/>
                      <a:headEnd type="none" w="med" len="med"/>
                      <a:tailEnd type="none" w="med" len="med"/>
                    </a:lnT>
                    <a:lnB w="9525" cap="flat" cmpd="sng" algn="ctr">
                      <a:solidFill>
                        <a:srgbClr val="141C52"/>
                      </a:solidFill>
                      <a:prstDash val="solid"/>
                      <a:round/>
                      <a:headEnd type="none" w="med" len="med"/>
                      <a:tailEnd type="none" w="med" len="med"/>
                    </a:lnB>
                    <a:solidFill>
                      <a:srgbClr val="222D72"/>
                    </a:solidFill>
                  </a:tcPr>
                </a:tc>
              </a:tr>
              <a:tr h="301752">
                <a:tc>
                  <a:txBody>
                    <a:bodyPr/>
                    <a:lstStyle/>
                    <a:p>
                      <a:pPr indent="0" marL="0">
                        <a:buNone/>
                      </a:pPr>
                      <a:r>
                        <a:rPr lang="en-US" sz="1100" b="1" dirty="0">
                          <a:solidFill>
                            <a:srgbClr val="FFFFFF"/>
                          </a:solidFill>
                        </a:rPr>
                        <a:t>Cost inflation (COGS +8% cuts NPV by Tk 3.3 Cr)</a:t>
                      </a:r>
                      <a:endParaRPr lang="en-US" sz="1100" dirty="0"/>
                    </a:p>
                  </a:txBody>
                  <a:tcPr marL="73152" marR="73152" marT="18288" marB="18288" anchor="ctr">
                    <a:lnL w="9525" cap="flat" cmpd="sng" algn="ctr">
                      <a:solidFill>
                        <a:srgbClr val="141C52"/>
                      </a:solidFill>
                      <a:prstDash val="solid"/>
                      <a:round/>
                      <a:headEnd type="none" w="med" len="med"/>
                      <a:tailEnd type="none" w="med" len="med"/>
                    </a:lnL>
                    <a:lnR w="9525" cap="flat" cmpd="sng" algn="ctr">
                      <a:solidFill>
                        <a:srgbClr val="141C52"/>
                      </a:solidFill>
                      <a:prstDash val="solid"/>
                      <a:round/>
                      <a:headEnd type="none" w="med" len="med"/>
                      <a:tailEnd type="none" w="med" len="med"/>
                    </a:lnR>
                    <a:lnT w="9525" cap="flat" cmpd="sng" algn="ctr">
                      <a:solidFill>
                        <a:srgbClr val="141C52"/>
                      </a:solidFill>
                      <a:prstDash val="solid"/>
                      <a:round/>
                      <a:headEnd type="none" w="med" len="med"/>
                      <a:tailEnd type="none" w="med" len="med"/>
                    </a:lnT>
                    <a:lnB w="9525" cap="flat" cmpd="sng" algn="ctr">
                      <a:solidFill>
                        <a:srgbClr val="141C52"/>
                      </a:solidFill>
                      <a:prstDash val="solid"/>
                      <a:round/>
                      <a:headEnd type="none" w="med" len="med"/>
                      <a:tailEnd type="none" w="med" len="med"/>
                    </a:lnB>
                    <a:solidFill>
                      <a:srgbClr val="222D72"/>
                    </a:solidFill>
                  </a:tcPr>
                </a:tc>
                <a:tc>
                  <a:txBody>
                    <a:bodyPr/>
                    <a:lstStyle/>
                    <a:p>
                      <a:pPr indent="0" marL="0">
                        <a:buNone/>
                      </a:pPr>
                      <a:r>
                        <a:rPr lang="en-US" sz="1100" dirty="0">
                          <a:solidFill>
                            <a:srgbClr val="C9D3F5"/>
                          </a:solidFill>
                        </a:rPr>
                        <a:t>Dual sourcing; pack and sachet-film optimisation</a:t>
                      </a:r>
                      <a:endParaRPr lang="en-US" sz="1100" dirty="0"/>
                    </a:p>
                  </a:txBody>
                  <a:tcPr marL="73152" marR="73152" marT="18288" marB="18288" anchor="ctr">
                    <a:lnL w="9525" cap="flat" cmpd="sng" algn="ctr">
                      <a:solidFill>
                        <a:srgbClr val="141C52"/>
                      </a:solidFill>
                      <a:prstDash val="solid"/>
                      <a:round/>
                      <a:headEnd type="none" w="med" len="med"/>
                      <a:tailEnd type="none" w="med" len="med"/>
                    </a:lnL>
                    <a:lnR w="9525" cap="flat" cmpd="sng" algn="ctr">
                      <a:solidFill>
                        <a:srgbClr val="141C52"/>
                      </a:solidFill>
                      <a:prstDash val="solid"/>
                      <a:round/>
                      <a:headEnd type="none" w="med" len="med"/>
                      <a:tailEnd type="none" w="med" len="med"/>
                    </a:lnR>
                    <a:lnT w="9525" cap="flat" cmpd="sng" algn="ctr">
                      <a:solidFill>
                        <a:srgbClr val="141C52"/>
                      </a:solidFill>
                      <a:prstDash val="solid"/>
                      <a:round/>
                      <a:headEnd type="none" w="med" len="med"/>
                      <a:tailEnd type="none" w="med" len="med"/>
                    </a:lnT>
                    <a:lnB w="9525" cap="flat" cmpd="sng" algn="ctr">
                      <a:solidFill>
                        <a:srgbClr val="141C52"/>
                      </a:solidFill>
                      <a:prstDash val="solid"/>
                      <a:round/>
                      <a:headEnd type="none" w="med" len="med"/>
                      <a:tailEnd type="none" w="med" len="med"/>
                    </a:lnB>
                    <a:solidFill>
                      <a:srgbClr val="222D72"/>
                    </a:solidFill>
                  </a:tcPr>
                </a:tc>
              </a:tr>
              <a:tr h="301752">
                <a:tc>
                  <a:txBody>
                    <a:bodyPr/>
                    <a:lstStyle/>
                    <a:p>
                      <a:pPr indent="0" marL="0">
                        <a:buNone/>
                      </a:pPr>
                      <a:r>
                        <a:rPr lang="en-US" sz="1100" b="1" dirty="0">
                          <a:solidFill>
                            <a:srgbClr val="FFFFFF"/>
                          </a:solidFill>
                        </a:rPr>
                        <a:t>Regulation: draft cosmetics rules, EPR, sachets</a:t>
                      </a:r>
                      <a:endParaRPr lang="en-US" sz="1100" dirty="0"/>
                    </a:p>
                  </a:txBody>
                  <a:tcPr marL="73152" marR="73152" marT="18288" marB="18288" anchor="ctr">
                    <a:lnL w="9525" cap="flat" cmpd="sng" algn="ctr">
                      <a:solidFill>
                        <a:srgbClr val="141C52"/>
                      </a:solidFill>
                      <a:prstDash val="solid"/>
                      <a:round/>
                      <a:headEnd type="none" w="med" len="med"/>
                      <a:tailEnd type="none" w="med" len="med"/>
                    </a:lnL>
                    <a:lnR w="9525" cap="flat" cmpd="sng" algn="ctr">
                      <a:solidFill>
                        <a:srgbClr val="141C52"/>
                      </a:solidFill>
                      <a:prstDash val="solid"/>
                      <a:round/>
                      <a:headEnd type="none" w="med" len="med"/>
                      <a:tailEnd type="none" w="med" len="med"/>
                    </a:lnR>
                    <a:lnT w="9525" cap="flat" cmpd="sng" algn="ctr">
                      <a:solidFill>
                        <a:srgbClr val="141C52"/>
                      </a:solidFill>
                      <a:prstDash val="solid"/>
                      <a:round/>
                      <a:headEnd type="none" w="med" len="med"/>
                      <a:tailEnd type="none" w="med" len="med"/>
                    </a:lnT>
                    <a:lnB w="9525" cap="flat" cmpd="sng" algn="ctr">
                      <a:solidFill>
                        <a:srgbClr val="141C52"/>
                      </a:solidFill>
                      <a:prstDash val="solid"/>
                      <a:round/>
                      <a:headEnd type="none" w="med" len="med"/>
                      <a:tailEnd type="none" w="med" len="med"/>
                    </a:lnB>
                    <a:solidFill>
                      <a:srgbClr val="222D72"/>
                    </a:solidFill>
                  </a:tcPr>
                </a:tc>
                <a:tc>
                  <a:txBody>
                    <a:bodyPr/>
                    <a:lstStyle/>
                    <a:p>
                      <a:pPr indent="0" marL="0">
                        <a:buNone/>
                      </a:pPr>
                      <a:r>
                        <a:rPr lang="en-US" sz="1100" dirty="0">
                          <a:solidFill>
                            <a:srgbClr val="C9D3F5"/>
                          </a:solidFill>
                        </a:rPr>
                        <a:t>Marico Regulatory sign-off; recyclable mono-material sachet plan</a:t>
                      </a:r>
                      <a:endParaRPr lang="en-US" sz="1100" dirty="0"/>
                    </a:p>
                  </a:txBody>
                  <a:tcPr marL="73152" marR="73152" marT="18288" marB="18288" anchor="ctr">
                    <a:lnL w="9525" cap="flat" cmpd="sng" algn="ctr">
                      <a:solidFill>
                        <a:srgbClr val="141C52"/>
                      </a:solidFill>
                      <a:prstDash val="solid"/>
                      <a:round/>
                      <a:headEnd type="none" w="med" len="med"/>
                      <a:tailEnd type="none" w="med" len="med"/>
                    </a:lnL>
                    <a:lnR w="9525" cap="flat" cmpd="sng" algn="ctr">
                      <a:solidFill>
                        <a:srgbClr val="141C52"/>
                      </a:solidFill>
                      <a:prstDash val="solid"/>
                      <a:round/>
                      <a:headEnd type="none" w="med" len="med"/>
                      <a:tailEnd type="none" w="med" len="med"/>
                    </a:lnR>
                    <a:lnT w="9525" cap="flat" cmpd="sng" algn="ctr">
                      <a:solidFill>
                        <a:srgbClr val="141C52"/>
                      </a:solidFill>
                      <a:prstDash val="solid"/>
                      <a:round/>
                      <a:headEnd type="none" w="med" len="med"/>
                      <a:tailEnd type="none" w="med" len="med"/>
                    </a:lnT>
                    <a:lnB w="9525" cap="flat" cmpd="sng" algn="ctr">
                      <a:solidFill>
                        <a:srgbClr val="141C52"/>
                      </a:solidFill>
                      <a:prstDash val="solid"/>
                      <a:round/>
                      <a:headEnd type="none" w="med" len="med"/>
                      <a:tailEnd type="none" w="med" len="med"/>
                    </a:lnB>
                    <a:solidFill>
                      <a:srgbClr val="222D72"/>
                    </a:solidFill>
                  </a:tcPr>
                </a:tc>
              </a:tr>
            </a:tbl>
          </a:graphicData>
        </a:graphic>
      </p:graphicFrame>
      <p:sp>
        <p:nvSpPr>
          <p:cNvPr id="25" name="Shape 22"/>
          <p:cNvSpPr/>
          <p:nvPr/>
        </p:nvSpPr>
        <p:spPr>
          <a:xfrm>
            <a:off x="8275320" y="3913632"/>
            <a:ext cx="3364992" cy="1828800"/>
          </a:xfrm>
          <a:prstGeom prst="roundRect">
            <a:avLst>
              <a:gd name="adj" fmla="val 4000"/>
            </a:avLst>
          </a:prstGeom>
          <a:solidFill>
            <a:srgbClr val="FFFFFF"/>
          </a:solidFill>
          <a:ln/>
        </p:spPr>
      </p:sp>
      <p:sp>
        <p:nvSpPr>
          <p:cNvPr id="26" name="Text 23"/>
          <p:cNvSpPr txBox="1"/>
          <p:nvPr/>
        </p:nvSpPr>
        <p:spPr>
          <a:xfrm>
            <a:off x="8458200" y="4005072"/>
            <a:ext cx="3017520" cy="1645920"/>
          </a:xfrm>
          <a:prstGeom prst="rect">
            <a:avLst/>
          </a:prstGeom>
          <a:noFill/>
          <a:ln/>
        </p:spPr>
        <p:txBody>
          <a:bodyPr wrap="square" lIns="0" tIns="0" rIns="0" bIns="0" rtlCol="0" anchor="t"/>
          <a:lstStyle/>
          <a:p>
            <a:pPr indent="0" marL="0">
              <a:buNone/>
            </a:pPr>
            <a:r>
              <a:rPr lang="en-US" sz="1100" b="1" spc="200" kern="0" dirty="0">
                <a:solidFill>
                  <a:srgbClr val="0E7FA0"/>
                </a:solidFill>
              </a:rPr>
              <a:t>THE ASK</a:t>
            </a:r>
            <a:endParaRPr lang="en-US" sz="1200" dirty="0"/>
          </a:p>
          <a:p>
            <a:pPr indent="0" marL="0">
              <a:buNone/>
            </a:pPr>
            <a:r>
              <a:rPr lang="en-US" sz="3600" b="1" dirty="0">
                <a:solidFill>
                  <a:srgbClr val="141C52"/>
                </a:solidFill>
              </a:rPr>
              <a:t>Tk 3.5 Cr</a:t>
            </a:r>
            <a:endParaRPr lang="en-US" sz="1200" dirty="0"/>
          </a:p>
          <a:p>
            <a:pPr indent="0" marL="0">
              <a:buNone/>
            </a:pPr>
            <a:r>
              <a:rPr lang="en-US" sz="1200" dirty="0">
                <a:solidFill>
                  <a:srgbClr val="1F2937"/>
                </a:solidFill>
              </a:rPr>
              <a:t>before go/no-go. Planning assumptions: CAPEX Tk 3.0 Cr + pre-launch R&amp;D/pilot Tk 0.5 Cr</a:t>
            </a:r>
            <a:endParaRPr lang="en-US" sz="1200" dirty="0"/>
          </a:p>
        </p:txBody>
      </p:sp>
      <p:sp>
        <p:nvSpPr>
          <p:cNvPr id="27" name="Text 24"/>
          <p:cNvSpPr txBox="1"/>
          <p:nvPr/>
        </p:nvSpPr>
        <p:spPr>
          <a:xfrm>
            <a:off x="548640" y="5833872"/>
            <a:ext cx="11064240" cy="457200"/>
          </a:xfrm>
          <a:prstGeom prst="rect">
            <a:avLst/>
          </a:prstGeom>
          <a:noFill/>
          <a:ln/>
        </p:spPr>
        <p:txBody>
          <a:bodyPr wrap="square" lIns="0" tIns="0" rIns="0" bIns="0" rtlCol="0" anchor="ctr"/>
          <a:lstStyle/>
          <a:p>
            <a:pPr algn="ctr" indent="0" marL="0">
              <a:buNone/>
            </a:pPr>
            <a:r>
              <a:rPr lang="en-US" sz="2000" dirty="0">
                <a:solidFill>
                  <a:srgbClr val="FFFFFF"/>
                </a:solidFill>
                <a:latin typeface="Nirmala UI" pitchFamily="34" charset="0"/>
                <a:ea typeface="Nirmala UI" pitchFamily="34" charset="-122"/>
                <a:cs typeface="Nirmala UI" pitchFamily="34" charset="-120"/>
              </a:rPr>
              <a:t>দোষ কি চুলের, নাকি পানির?  আগে পানি চেক করুন।</a:t>
            </a:r>
            <a:endParaRPr lang="en-US" sz="2000" dirty="0"/>
          </a:p>
        </p:txBody>
      </p:sp>
      <p:sp>
        <p:nvSpPr>
          <p:cNvPr id="29"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EB6D9"/>
                </a:solidFill>
              </a:defRPr>
            </a:lvl1pPr>
          </a:lstStyle>
          <a:p>
            <a:pPr algn="r"/>
            <a:r>
              <a:t>15</a:t>
            </a:r>
            <a:endParaRPr lang="en-US"/>
          </a:p>
        </p:txBody>
      </p:sp>
    </p:spTree>
  </p:cSld>
  <p:clrMapOvr>
    <a:masterClrMapping/>
  </p:clrMapOvr>
</p:sld>
</file>

<file path=ppt/theme/theme1.xml><?xml version="1.0" encoding="utf-8"?>
<a:theme xmlns:a="http://schemas.openxmlformats.org/drawingml/2006/main" name="WaterSmart">
  <a:themeElements>
    <a:clrScheme name="WaterSmart">
      <a:dk1>
        <a:srgbClr val="1F2937"/>
      </a:dk1>
      <a:lt1>
        <a:srgbClr val="FFFFFF"/>
      </a:lt1>
      <a:dk2>
        <a:srgbClr val="141C52"/>
      </a:dk2>
      <a:lt2>
        <a:srgbClr val="F3F6FA"/>
      </a:lt2>
      <a:accent1>
        <a:srgbClr val="12A5C4"/>
      </a:accent1>
      <a:accent2>
        <a:srgbClr val="141C52"/>
      </a:accent2>
      <a:accent3>
        <a:srgbClr val="F5A31A"/>
      </a:accent3>
      <a:accent4>
        <a:srgbClr val="B4511F"/>
      </a:accent4>
      <a:accent5>
        <a:srgbClr val="3E9B3A"/>
      </a:accent5>
      <a:accent6>
        <a:srgbClr val="0B6FB8"/>
      </a:accent6>
      <a:hlink>
        <a:srgbClr val="0B6FB8"/>
      </a:hlink>
      <a:folHlink>
        <a:srgbClr val="6B4FA0"/>
      </a:folHlink>
    </a:clrScheme>
    <a:fontScheme name="WaterSmart">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ns0:Properties xmlns:ns0="http://schemas.openxmlformats.org/officeDocument/2006/extended-properties" xmlns:ns1="http://schemas.openxmlformats.org/officeDocument/2006/docPropsVTypes">
  <ns0:TotalTime>0</ns0:TotalTime>
  <ns0:Words>0</ns0:Words>
  <ns0:Application>Microsoft Office PowerPoint</ns0:Application>
  <ns0:PresentationFormat>On-screen Show (16:9)</ns0:PresentationFormat>
  <ns0:Paragraphs>0</ns0:Paragraphs>
  <ns0:Slides>15</ns0:Slides>
  <ns0:Notes>15</ns0:Notes>
  <ns0:HiddenSlides>0</ns0:HiddenSlides>
  <ns0:MMClips>0</ns0:MMClips>
  <ns0:ScaleCrop>false</ns0:ScaleCrop>
  <ns0:HeadingPairs>
    <ns1:vector size="6" baseType="variant">
      <ns1:variant>
        <ns1:lpstr>Fonts Used</ns1:lpstr>
      </ns1:variant>
      <ns1:variant>
        <ns1:i4>2</ns1:i4>
      </ns1:variant>
      <ns1:variant>
        <ns1:lpstr>Theme</ns1:lpstr>
      </ns1:variant>
      <ns1:variant>
        <ns1:i4>1</ns1:i4>
      </ns1:variant>
      <ns1:variant>
        <ns1:lpstr>Slide Titles</ns1:lpstr>
      </ns1:variant>
      <ns1:variant>
        <ns1:i4>18</ns1:i4>
      </ns1:variant>
    </ns1:vector>
  </ns0:HeadingPairs>
  <ns0:TitlesOfParts>
    <ns1:vector size="21" baseType="lpstr">
      <ns1:lpstr>Arial</ns1:lpstr>
      <ns1:lpstr>Calibri</ns1:lpstr>
      <ns1:lpstr>Office Theme</ns1:lpstr>
      <ns1:lpstr>Slide 1</ns1:lpstr>
      <ns1:lpstr>Slide 2</ns1:lpstr>
      <ns1:lpstr>Slide 3</ns1:lpstr>
      <ns1:lpstr>Slide 4</ns1:lpstr>
      <ns1:lpstr>Slide 5</ns1:lpstr>
      <ns1:lpstr>Slide 6</ns1:lpstr>
      <ns1:lpstr>Slide 7</ns1:lpstr>
      <ns1:lpstr>Slide 8</ns1:lpstr>
      <ns1:lpstr>Slide 9</ns1:lpstr>
      <ns1:lpstr>Slide 10</ns1:lpstr>
      <ns1:lpstr>Slide 11</ns1:lpstr>
      <ns1:lpstr>Slide 12</ns1:lpstr>
      <ns1:lpstr>Slide 13</ns1:lpstr>
      <ns1:lpstr>Slide 14</ns1:lpstr>
      <ns1:lpstr>Slide 15</ns1:lpstr>
      <ns1:lpstr>Slide 16</ns1:lpstr>
      <ns1:lpstr>Slide 17</ns1:lpstr>
      <ns1:lpstr>Slide 18</ns1:lpstr>
    </ns1:vector>
  </ns0:TitlesOfParts>
  <ns0:Company>PptxGenJS</ns0:Company>
  <ns0:LinksUpToDate>false</ns0:LinksUpToDate>
  <ns0:SharedDoc>false</ns0:SharedDoc>
  <ns0:HyperlinksChanged>false</ns0:HyperlinksChanged>
  <ns0:AppVersion>16.0000</ns0:AppVersion>
</ns0: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Parachute Naturale WaterSmart: OTW Season 5 Round 2 proposal</dc:title>
  <dc:subject>PptxGenJS Presentation</dc:subject>
  <dc:creator>Team The Last BrainCell</dc:creator>
  <cp:lastModifiedBy>Team The Last BrainCell</cp:lastModifiedBy>
  <cp:revision>1</cp:revision>
  <dcterms:created xsi:type="dcterms:W3CDTF">2026-10-09T17:18:28Z</dcterms:created>
  <dcterms:modified xsi:type="dcterms:W3CDTF">2026-10-09T17:18:28Z</dcterms:modified>
</cp:coreProperties>
</file>
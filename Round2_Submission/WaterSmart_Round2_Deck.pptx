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59443fc-f90d-2076-19d5-f1890dc8bcec}">
          <p14:sldIdLst>
            <p14:sldId id="256"/>
          </p14:sldIdLst>
        </p14:section>
        <p14:section name="Summary" id="{4fa1060e-aaad-e9ab-f4e0-34d077e3fbc6}">
          <p14:sldIdLst>
            <p14:sldId id="257"/>
          </p14:sldIdLst>
        </p14:section>
        <p14:section name="Business plan" id="{5530077c-323c-1729-f1a2-025988cb80f6}">
          <p14:sldIdLst>
            <p14:sldId id="258"/>
            <p14:sldId id="259"/>
            <p14:sldId id="260"/>
            <p14:sldId id="261"/>
            <p14:sldId id="262"/>
            <p14:sldId id="263"/>
            <p14:sldId id="264"/>
            <p14:sldId id="265"/>
          </p14:sldIdLst>
        </p14:section>
        <p14:section name="Execution plan" id="{bc134604-e5ea-35f5-4f42-334e2dde529a}">
          <p14:sldIdLst>
            <p14:sldId id="266"/>
            <p14:sldId id="267"/>
            <p14:sldId id="268"/>
          </p14:sldIdLst>
        </p14:section>
        <p14:section name="Financial plan" id="{98de21fe-638c-5596-d47c-6cb79bfec919}">
          <p14:sldIdLst>
            <p14:sldId id="269"/>
            <p14:sldId id="270"/>
          </p14:sldIdLst>
        </p14:section>
        <p14:section name="Decision" id="{47fad3dc-b99a-0437-e4ec-2e2d9c04f505}">
          <p14:sldIdLst>
            <p14:sldId id="271"/>
          </p14:sldIdLst>
        </p14:section>
        <p14:section name="Appendix" id="{9f30bffe-8c9e-f7d3-4333-41ad8a5a4421}">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NPV without working-capital recovery (base +Tk 0.5 Cr), one change at a time</a:t>
            </a:r>
          </a:p>
        </c:rich>
      </c:tx>
      <c:layout/>
      <c:overlay val="0"/>
    </c:title>
    <c:autoTitleDeleted val="0"/>
    <c:plotArea>
      <c:layout/>
      <c:barChart>
        <c:barDir val="bar"/>
        <c:grouping val="clustered"/>
        <c:varyColors val="0"/>
        <c:ser>
          <c:idx val="0"/>
          <c:order val="0"/>
          <c:tx>
            <c:strRef>
              <c:f>Sheet1!$B$1</c:f>
              <c:strCache>
                <c:ptCount val="1"/>
                <c:pt idx="0">
                  <c:v>NPV, Tk Cr</c:v>
                </c:pt>
              </c:strCache>
            </c:strRef>
          </c:tx>
          <c:spPr>
            <a:solidFill>
              <a:srgbClr val="B4511F"/>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11F"/>
              </a:solidFill>
              <a:effectLst/>
            </c:spPr>
          </c:dPt>
          <c:dPt>
            <c:idx val="1"/>
            <c:invertIfNegative val="0"/>
            <c:bubble3D val="0"/>
            <c:spPr>
              <a:solidFill>
                <a:srgbClr val="B4511F"/>
              </a:solidFill>
              <a:effectLst/>
            </c:spPr>
          </c:dPt>
          <c:dPt>
            <c:idx val="2"/>
            <c:invertIfNegative val="0"/>
            <c:bubble3D val="0"/>
            <c:spPr>
              <a:solidFill>
                <a:srgbClr val="B4511F"/>
              </a:solidFill>
              <a:effectLst/>
            </c:spPr>
          </c:dPt>
          <c:dPt>
            <c:idx val="3"/>
            <c:invertIfNegative val="0"/>
            <c:bubble3D val="0"/>
            <c:spPr>
              <a:solidFill>
                <a:srgbClr val="B4511F"/>
              </a:solidFill>
              <a:effectLst/>
            </c:spPr>
          </c:dPt>
          <c:dPt>
            <c:idx val="4"/>
            <c:invertIfNegative val="0"/>
            <c:bubble3D val="0"/>
            <c:spPr>
              <a:solidFill>
                <a:srgbClr val="B4511F"/>
              </a:solidFill>
              <a:effectLst/>
            </c:spPr>
          </c:dPt>
          <c:dPt>
            <c:idx val="5"/>
            <c:invertIfNegative val="0"/>
            <c:bubble3D val="0"/>
            <c:spPr>
              <a:solidFill>
                <a:srgbClr val="B4511F"/>
              </a:solidFill>
              <a:effectLst/>
            </c:spPr>
          </c:dPt>
          <c:dPt>
            <c:idx val="6"/>
            <c:invertIfNegative val="0"/>
            <c:bubble3D val="0"/>
            <c:spPr>
              <a:solidFill>
                <a:srgbClr val="3E9B3A"/>
              </a:solidFill>
              <a:effectLst/>
            </c:spPr>
          </c:dPt>
          <c:cat>
            <c:multiLvlStrRef>
              <c:f>Sheet1!$A$2:$A$8</c:f>
              <c:multiLvlStrCache>
                <c:ptCount val="7"/>
                <c:lvl>
                  <c:pt idx="0">
                    <c:v>Cannibalisation 30%</c:v>
                  </c:pt>
                  <c:pt idx="1">
                    <c:v>COGS +8%</c:v>
                  </c:pt>
                  <c:pt idx="2">
                    <c:v>Price −5%</c:v>
                  </c:pt>
                  <c:pt idx="3">
                    <c:v>Volume −20%</c:v>
                  </c:pt>
                  <c:pt idx="4">
                    <c:v>Launch delay 3 months</c:v>
                  </c:pt>
                  <c:pt idx="5">
                    <c:v>Strip Tk 6 (vs Tk 3)</c:v>
                  </c:pt>
                  <c:pt idx="6">
                    <c:v>Volume +15%</c:v>
                  </c:pt>
                </c:lvl>
              </c:multiLvlStrCache>
            </c:multiLvlStrRef>
          </c:cat>
          <c:val>
            <c:numRef>
              <c:f>Sheet1!$B$2:$B$8</c:f>
              <c:numCache>
                <c:formatCode>General</c:formatCode>
                <c:ptCount val="7"/>
                <c:pt idx="0">
                  <c:v>-2.95</c:v>
                </c:pt>
                <c:pt idx="1">
                  <c:v>-2.76</c:v>
                </c:pt>
                <c:pt idx="2">
                  <c:v>-2.02</c:v>
                </c:pt>
                <c:pt idx="3">
                  <c:v>-1.46</c:v>
                </c:pt>
                <c:pt idx="4">
                  <c:v>-0.02</c:v>
                </c:pt>
                <c:pt idx="5">
                  <c:v>0.05</c:v>
                </c:pt>
                <c:pt idx="6">
                  <c:v>1.97</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on one page: a real water problem, a three-part product system, a strong Marico fit, and a business case that starts with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national data: 2,926 of 3,530 sampled wells were flagged for iron or hardness. These are historical wells, which is exactly why the product puts a test in the user’s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surveys are credited to their authors. The dashed panel holds our own survey and foam-test results, reported with their real sample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EBITDA is after cannibalisation, so the P&amp;L shows what Marico actually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tagline. The pilot caps the downside at the pre-launch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3" name="Text 9"/>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EXECUTIVE SUMMARY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WaterSmart turns Bangladesh’s hard, iron-rich water into Naturale’s next growth platform</a:t>
            </a:r>
            <a:endParaRPr lang="en-US" sz="2600" dirty="0"/>
          </a:p>
        </p:txBody>
      </p:sp>
      <p:sp>
        <p:nvSpPr>
          <p:cNvPr id="4" name="Shape 2"/>
          <p:cNvSpPr/>
          <p:nvPr/>
        </p:nvSpPr>
        <p:spPr>
          <a:xfrm>
            <a:off x="548640" y="1600200"/>
            <a:ext cx="2615184" cy="3611880"/>
          </a:xfrm>
          <a:prstGeom prst="roundRect">
            <a:avLst>
              <a:gd name="adj" fmla="val 2797"/>
            </a:avLst>
          </a:prstGeom>
          <a:solidFill>
            <a:srgbClr val="F3F6FA"/>
          </a:solidFill>
          <a:ln/>
        </p:spPr>
      </p:sp>
      <p:sp>
        <p:nvSpPr>
          <p:cNvPr id="5" name="Shape 3"/>
          <p:cNvSpPr/>
          <p:nvPr/>
        </p:nvSpPr>
        <p:spPr>
          <a:xfrm>
            <a:off x="777240" y="1828800"/>
            <a:ext cx="566928" cy="566928"/>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984248"/>
            <a:ext cx="1563624" cy="274320"/>
          </a:xfrm>
          <a:prstGeom prst="rect">
            <a:avLst/>
          </a:prstGeom>
          <a:noFill/>
          <a:ln/>
        </p:spPr>
        <p:txBody>
          <a:bodyPr wrap="square" lIns="0" tIns="0" rIns="0" bIns="0" rtlCol="0" anchor="t"/>
          <a:lstStyle/>
          <a:p>
            <a:pPr indent="0" marL="0">
              <a:buNone/>
            </a:pPr>
            <a:r>
              <a:rPr lang="en-US" sz="1200" b="1" spc="100" kern="0" dirty="0">
                <a:solidFill>
                  <a:srgbClr val="B4511F"/>
                </a:solidFill>
              </a:rPr>
              <a:t>THE PROBLEM</a:t>
            </a:r>
            <a:endParaRPr lang="en-US" sz="1200" dirty="0"/>
          </a:p>
        </p:txBody>
      </p:sp>
      <p:sp>
        <p:nvSpPr>
          <p:cNvPr id="8" name="Text 5"/>
          <p:cNvSpPr txBox="1"/>
          <p:nvPr/>
        </p:nvSpPr>
        <p:spPr>
          <a:xfrm>
            <a:off x="777240"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83%</a:t>
            </a:r>
            <a:endParaRPr lang="en-US" sz="3800" dirty="0"/>
          </a:p>
        </p:txBody>
      </p:sp>
      <p:sp>
        <p:nvSpPr>
          <p:cNvPr id="9" name="Text 6"/>
          <p:cNvSpPr txBox="1"/>
          <p:nvPr/>
        </p:nvSpPr>
        <p:spPr>
          <a:xfrm>
            <a:off x="777240"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of 3,530 sampled wells exceeded iron or hardness screening levels (BGS/DPHE)</a:t>
            </a:r>
            <a:endParaRPr lang="en-US" sz="1200" dirty="0"/>
          </a:p>
        </p:txBody>
      </p:sp>
      <p:sp>
        <p:nvSpPr>
          <p:cNvPr id="10" name="Text 7"/>
          <p:cNvSpPr txBox="1"/>
          <p:nvPr/>
        </p:nvSpPr>
        <p:spPr>
          <a:xfrm>
            <a:off x="777240"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Minerals block lather and leave hair rough and dull. People who move city or water source notice it first.</a:t>
            </a:r>
            <a:endParaRPr lang="en-US" sz="1200" dirty="0"/>
          </a:p>
        </p:txBody>
      </p:sp>
      <p:sp>
        <p:nvSpPr>
          <p:cNvPr id="11" name="Shape 8"/>
          <p:cNvSpPr/>
          <p:nvPr/>
        </p:nvSpPr>
        <p:spPr>
          <a:xfrm>
            <a:off x="3374136" y="1600200"/>
            <a:ext cx="2615184" cy="3611880"/>
          </a:xfrm>
          <a:prstGeom prst="roundRect">
            <a:avLst>
              <a:gd name="adj" fmla="val 2797"/>
            </a:avLst>
          </a:prstGeom>
          <a:solidFill>
            <a:srgbClr val="F3F6FA"/>
          </a:solidFill>
          <a:ln/>
        </p:spPr>
      </p:sp>
      <p:sp>
        <p:nvSpPr>
          <p:cNvPr id="12" name="Shape 9"/>
          <p:cNvSpPr/>
          <p:nvPr/>
        </p:nvSpPr>
        <p:spPr>
          <a:xfrm>
            <a:off x="3602736" y="1828800"/>
            <a:ext cx="566928" cy="566928"/>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738799" y="1964863"/>
            <a:ext cx="294803" cy="294803"/>
          </a:xfrm>
          <a:prstGeom prst="rect">
            <a:avLst/>
          </a:prstGeom>
        </p:spPr>
      </p:pic>
      <p:sp>
        <p:nvSpPr>
          <p:cNvPr id="14" name="Text 10"/>
          <p:cNvSpPr txBox="1"/>
          <p:nvPr/>
        </p:nvSpPr>
        <p:spPr>
          <a:xfrm>
            <a:off x="4288536" y="1984248"/>
            <a:ext cx="1563624" cy="274320"/>
          </a:xfrm>
          <a:prstGeom prst="rect">
            <a:avLst/>
          </a:prstGeom>
          <a:noFill/>
          <a:ln/>
        </p:spPr>
        <p:txBody>
          <a:bodyPr wrap="square" lIns="0" tIns="0" rIns="0" bIns="0" rtlCol="0" anchor="t"/>
          <a:lstStyle/>
          <a:p>
            <a:pPr indent="0" marL="0">
              <a:buNone/>
            </a:pPr>
            <a:r>
              <a:rPr lang="en-US" sz="1200" b="1" spc="100" kern="0" dirty="0">
                <a:solidFill>
                  <a:srgbClr val="12A5C4"/>
                </a:solidFill>
              </a:rPr>
              <a:t>THE IDEA</a:t>
            </a:r>
            <a:endParaRPr lang="en-US" sz="1200" dirty="0"/>
          </a:p>
        </p:txBody>
      </p:sp>
      <p:sp>
        <p:nvSpPr>
          <p:cNvPr id="15" name="Text 11"/>
          <p:cNvSpPr txBox="1"/>
          <p:nvPr/>
        </p:nvSpPr>
        <p:spPr>
          <a:xfrm>
            <a:off x="3602736"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3-in-1</a:t>
            </a:r>
            <a:endParaRPr lang="en-US" sz="3800" dirty="0"/>
          </a:p>
        </p:txBody>
      </p:sp>
      <p:sp>
        <p:nvSpPr>
          <p:cNvPr id="16" name="Text 12"/>
          <p:cNvSpPr txBox="1"/>
          <p:nvPr/>
        </p:nvSpPr>
        <p:spPr>
          <a:xfrm>
            <a:off x="3602736"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chelating formula + PaniCheck cap + Pani Map</a:t>
            </a:r>
            <a:endParaRPr lang="en-US" sz="1200" dirty="0"/>
          </a:p>
        </p:txBody>
      </p:sp>
      <p:sp>
        <p:nvSpPr>
          <p:cNvPr id="17" name="Text 13"/>
          <p:cNvSpPr txBox="1"/>
          <p:nvPr/>
        </p:nvSpPr>
        <p:spPr>
          <a:xfrm>
            <a:off x="3602736"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A Naturale shampoo with a hardness test strip in every 340 ml cap and a QR code to your area’s water profile.</a:t>
            </a:r>
            <a:endParaRPr lang="en-US" sz="1200" dirty="0"/>
          </a:p>
        </p:txBody>
      </p:sp>
      <p:sp>
        <p:nvSpPr>
          <p:cNvPr id="18" name="Shape 14"/>
          <p:cNvSpPr/>
          <p:nvPr/>
        </p:nvSpPr>
        <p:spPr>
          <a:xfrm>
            <a:off x="6199632" y="1600200"/>
            <a:ext cx="2615184" cy="3611880"/>
          </a:xfrm>
          <a:prstGeom prst="roundRect">
            <a:avLst>
              <a:gd name="adj" fmla="val 2797"/>
            </a:avLst>
          </a:prstGeom>
          <a:solidFill>
            <a:srgbClr val="F3F6FA"/>
          </a:solidFill>
          <a:ln/>
        </p:spPr>
      </p:sp>
      <p:sp>
        <p:nvSpPr>
          <p:cNvPr id="19" name="Shape 15"/>
          <p:cNvSpPr/>
          <p:nvPr/>
        </p:nvSpPr>
        <p:spPr>
          <a:xfrm>
            <a:off x="6428232" y="1828800"/>
            <a:ext cx="566928" cy="566928"/>
          </a:xfrm>
          <a:prstGeom prst="ellipse">
            <a:avLst/>
          </a:prstGeom>
          <a:solidFill>
            <a:srgbClr val="0B6FB8"/>
          </a:solidFill>
          <a:ln/>
        </p:spPr>
      </p:sp>
      <p:pic>
        <p:nvPicPr>
          <p:cNvPr id="20" name="Image 2" descr="preencoded.png">    </p:cNvPr>
          <p:cNvPicPr>
            <a:picLocks noChangeAspect="1"/>
          </p:cNvPicPr>
          <p:nvPr/>
        </p:nvPicPr>
        <p:blipFill>
          <a:blip r:embed="rId3"/>
          <a:stretch>
            <a:fillRect/>
          </a:stretch>
        </p:blipFill>
        <p:spPr>
          <a:xfrm>
            <a:off x="6564295" y="1964863"/>
            <a:ext cx="294803" cy="294803"/>
          </a:xfrm>
          <a:prstGeom prst="rect">
            <a:avLst/>
          </a:prstGeom>
        </p:spPr>
      </p:pic>
      <p:sp>
        <p:nvSpPr>
          <p:cNvPr id="21" name="Text 16"/>
          <p:cNvSpPr txBox="1"/>
          <p:nvPr/>
        </p:nvSpPr>
        <p:spPr>
          <a:xfrm>
            <a:off x="7114032" y="1984248"/>
            <a:ext cx="1563624" cy="274320"/>
          </a:xfrm>
          <a:prstGeom prst="rect">
            <a:avLst/>
          </a:prstGeom>
          <a:noFill/>
          <a:ln/>
        </p:spPr>
        <p:txBody>
          <a:bodyPr wrap="square" lIns="0" tIns="0" rIns="0" bIns="0" rtlCol="0" anchor="t"/>
          <a:lstStyle/>
          <a:p>
            <a:pPr indent="0" marL="0">
              <a:buNone/>
            </a:pPr>
            <a:r>
              <a:rPr lang="en-US" sz="1200" b="1" spc="100" kern="0" dirty="0">
                <a:solidFill>
                  <a:srgbClr val="0B6FB8"/>
                </a:solidFill>
              </a:rPr>
              <a:t>WHY MARICO</a:t>
            </a:r>
            <a:endParaRPr lang="en-US" sz="1200" dirty="0"/>
          </a:p>
        </p:txBody>
      </p:sp>
      <p:sp>
        <p:nvSpPr>
          <p:cNvPr id="22" name="Text 17"/>
          <p:cNvSpPr txBox="1"/>
          <p:nvPr/>
        </p:nvSpPr>
        <p:spPr>
          <a:xfrm>
            <a:off x="6428232"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#2</a:t>
            </a:r>
            <a:endParaRPr lang="en-US" sz="3800" dirty="0"/>
          </a:p>
        </p:txBody>
      </p:sp>
      <p:sp>
        <p:nvSpPr>
          <p:cNvPr id="23" name="Text 18"/>
          <p:cNvSpPr txBox="1"/>
          <p:nvPr/>
        </p:nvSpPr>
        <p:spPr>
          <a:xfrm>
            <a:off x="6428232"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Naturale is the 2nd most penetrated shampoo brand in Bangladesh</a:t>
            </a:r>
            <a:endParaRPr lang="en-US" sz="1200" dirty="0"/>
          </a:p>
        </p:txBody>
      </p:sp>
      <p:sp>
        <p:nvSpPr>
          <p:cNvPr id="24" name="Text 19"/>
          <p:cNvSpPr txBox="1"/>
          <p:nvPr/>
        </p:nvSpPr>
        <p:spPr>
          <a:xfrm>
            <a:off x="6428232"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Made on existing Mouchak lines (+45% shampoo batch capacity in FY26) and sold through Naturale’s distribution.</a:t>
            </a:r>
            <a:endParaRPr lang="en-US" sz="1200" dirty="0"/>
          </a:p>
        </p:txBody>
      </p:sp>
      <p:sp>
        <p:nvSpPr>
          <p:cNvPr id="25" name="Shape 20"/>
          <p:cNvSpPr/>
          <p:nvPr/>
        </p:nvSpPr>
        <p:spPr>
          <a:xfrm>
            <a:off x="9025128" y="1600200"/>
            <a:ext cx="2615184" cy="3611880"/>
          </a:xfrm>
          <a:prstGeom prst="roundRect">
            <a:avLst>
              <a:gd name="adj" fmla="val 2797"/>
            </a:avLst>
          </a:prstGeom>
          <a:solidFill>
            <a:srgbClr val="F3F6FA"/>
          </a:solidFill>
          <a:ln/>
        </p:spPr>
      </p:sp>
      <p:sp>
        <p:nvSpPr>
          <p:cNvPr id="26" name="Shape 21"/>
          <p:cNvSpPr/>
          <p:nvPr/>
        </p:nvSpPr>
        <p:spPr>
          <a:xfrm>
            <a:off x="9253728" y="1828800"/>
            <a:ext cx="566928" cy="566928"/>
          </a:xfrm>
          <a:prstGeom prst="ellipse">
            <a:avLst/>
          </a:prstGeom>
          <a:solidFill>
            <a:srgbClr val="3E9B3A"/>
          </a:solidFill>
          <a:ln/>
        </p:spPr>
      </p:sp>
      <p:pic>
        <p:nvPicPr>
          <p:cNvPr id="27" name="Image 3" descr="preencoded.png">    </p:cNvPr>
          <p:cNvPicPr>
            <a:picLocks noChangeAspect="1"/>
          </p:cNvPicPr>
          <p:nvPr/>
        </p:nvPicPr>
        <p:blipFill>
          <a:blip r:embed="rId4"/>
          <a:stretch>
            <a:fillRect/>
          </a:stretch>
        </p:blipFill>
        <p:spPr>
          <a:xfrm>
            <a:off x="9389791" y="1964863"/>
            <a:ext cx="294803" cy="294803"/>
          </a:xfrm>
          <a:prstGeom prst="rect">
            <a:avLst/>
          </a:prstGeom>
        </p:spPr>
      </p:pic>
      <p:sp>
        <p:nvSpPr>
          <p:cNvPr id="28" name="Text 22"/>
          <p:cNvSpPr txBox="1"/>
          <p:nvPr/>
        </p:nvSpPr>
        <p:spPr>
          <a:xfrm>
            <a:off x="9939528" y="1984248"/>
            <a:ext cx="1563624" cy="274320"/>
          </a:xfrm>
          <a:prstGeom prst="rect">
            <a:avLst/>
          </a:prstGeom>
          <a:noFill/>
          <a:ln/>
        </p:spPr>
        <p:txBody>
          <a:bodyPr wrap="square" lIns="0" tIns="0" rIns="0" bIns="0" rtlCol="0" anchor="t"/>
          <a:lstStyle/>
          <a:p>
            <a:pPr indent="0" marL="0">
              <a:buNone/>
            </a:pPr>
            <a:r>
              <a:rPr lang="en-US" sz="1200" b="1" spc="100" kern="0" dirty="0">
                <a:solidFill>
                  <a:srgbClr val="3E9B3A"/>
                </a:solidFill>
              </a:rPr>
              <a:t>THE BUSINESS</a:t>
            </a:r>
            <a:endParaRPr lang="en-US" sz="1200" dirty="0"/>
          </a:p>
        </p:txBody>
      </p:sp>
      <p:sp>
        <p:nvSpPr>
          <p:cNvPr id="29" name="Text 23"/>
          <p:cNvSpPr txBox="1"/>
          <p:nvPr/>
        </p:nvSpPr>
        <p:spPr>
          <a:xfrm>
            <a:off x="9253728"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Tk 41 Cr</a:t>
            </a:r>
            <a:endParaRPr lang="en-US" sz="3800" dirty="0"/>
          </a:p>
        </p:txBody>
      </p:sp>
      <p:sp>
        <p:nvSpPr>
          <p:cNvPr id="30" name="Text 24"/>
          <p:cNvSpPr txBox="1"/>
          <p:nvPr/>
        </p:nvSpPr>
        <p:spPr>
          <a:xfrm>
            <a:off x="9253728"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Year-3 net revenue; EBITDA-positive from Year 2</a:t>
            </a:r>
            <a:endParaRPr lang="en-US" sz="1200" dirty="0"/>
          </a:p>
        </p:txBody>
      </p:sp>
      <p:sp>
        <p:nvSpPr>
          <p:cNvPr id="31" name="Text 25"/>
          <p:cNvSpPr txBox="1"/>
          <p:nvPr/>
        </p:nvSpPr>
        <p:spPr>
          <a:xfrm>
            <a:off x="9253728"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NPV +Tk 3.1 Cr and IRR 25% against a 15% hurdle. Peak funding Tk 9.8 Cr.</a:t>
            </a:r>
            <a:endParaRPr lang="en-US" sz="1200" dirty="0"/>
          </a:p>
        </p:txBody>
      </p:sp>
      <p:sp>
        <p:nvSpPr>
          <p:cNvPr id="32" name="Shape 26"/>
          <p:cNvSpPr/>
          <p:nvPr/>
        </p:nvSpPr>
        <p:spPr>
          <a:xfrm>
            <a:off x="548640" y="5376672"/>
            <a:ext cx="11091672" cy="566928"/>
          </a:xfrm>
          <a:prstGeom prst="roundRect">
            <a:avLst>
              <a:gd name="adj" fmla="val 12903"/>
            </a:avLst>
          </a:prstGeom>
          <a:solidFill>
            <a:srgbClr val="141C52"/>
          </a:solidFill>
          <a:ln/>
        </p:spPr>
      </p:sp>
      <p:sp>
        <p:nvSpPr>
          <p:cNvPr id="33" name="Text 27"/>
          <p:cNvSpPr txBox="1"/>
          <p:nvPr/>
        </p:nvSpPr>
        <p:spPr>
          <a:xfrm>
            <a:off x="777240" y="5376672"/>
            <a:ext cx="10698480" cy="566928"/>
          </a:xfrm>
          <a:prstGeom prst="rect">
            <a:avLst/>
          </a:prstGeom>
          <a:noFill/>
          <a:ln/>
        </p:spPr>
        <p:txBody>
          <a:bodyPr wrap="square" lIns="0" tIns="0" rIns="0" bIns="0" rtlCol="0" anchor="ctr"/>
          <a:lstStyle/>
          <a:p>
            <a:pPr indent="0" marL="0">
              <a:buNone/>
            </a:pPr>
            <a:r>
              <a:rPr lang="en-US" sz="1500" b="1" spc="100" kern="0" dirty="0">
                <a:solidFill>
                  <a:srgbClr val="F5A31A"/>
                </a:solidFill>
              </a:rPr>
              <a:t>OUR ASK   </a:t>
            </a:r>
            <a:pPr indent="0" marL="0">
              <a:buNone/>
            </a:pPr>
            <a:r>
              <a:rPr lang="en-US" sz="1500" dirty="0">
                <a:solidFill>
                  <a:srgbClr val="FFFFFF"/>
                </a:solidFill>
              </a:rPr>
              <a:t>Fund R&amp;D and a 6-month, 1,500-outlet pilot: Tk 3.5 Cr committed before the national go/no-go.</a:t>
            </a:r>
            <a:endParaRPr lang="en-US" sz="1500" dirty="0"/>
          </a:p>
        </p:txBody>
      </p:sp>
      <p:sp>
        <p:nvSpPr>
          <p:cNvPr id="34"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BGS &amp; DPHE (2001) national hydrochemical survey, team analysis; Marico Bangladesh Annual Report FY2025-26; team financial model v4 (planning assumptions, see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Every option fights for hair; none is built for the water</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 more; treat symptoms only</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sp>
        <p:nvSpPr>
          <p:cNvPr id="35" name="Shape 28"/>
          <p:cNvSpPr/>
          <p:nvPr/>
        </p:nvSpPr>
        <p:spPr>
          <a:xfrm>
            <a:off x="6583680" y="1554480"/>
            <a:ext cx="5056632" cy="868680"/>
          </a:xfrm>
          <a:prstGeom prst="roundRect">
            <a:avLst>
              <a:gd name="adj" fmla="val 8421"/>
            </a:avLst>
          </a:prstGeom>
          <a:solidFill>
            <a:srgbClr val="141C52"/>
          </a:solidFill>
          <a:ln/>
        </p:spPr>
      </p:sp>
      <p:sp>
        <p:nvSpPr>
          <p:cNvPr id="36" name="Text 29"/>
          <p:cNvSpPr txBox="1"/>
          <p:nvPr/>
        </p:nvSpPr>
        <p:spPr>
          <a:xfrm>
            <a:off x="6784848" y="1609344"/>
            <a:ext cx="4663440" cy="777240"/>
          </a:xfrm>
          <a:prstGeom prst="rect">
            <a:avLst/>
          </a:prstGeom>
          <a:noFill/>
          <a:ln/>
        </p:spPr>
        <p:txBody>
          <a:bodyPr wrap="square" lIns="0" tIns="0" rIns="0" bIns="0" rtlCol="0" anchor="ctr"/>
          <a:lstStyle/>
          <a:p>
            <a:pPr indent="0" marL="0">
              <a:buNone/>
            </a:pPr>
            <a:r>
              <a:rPr lang="en-US" sz="2600" b="1" dirty="0">
                <a:solidFill>
                  <a:srgbClr val="FFFFFF"/>
                </a:solidFill>
              </a:rPr>
              <a:t>Tk ~2,150 Cr</a:t>
            </a:r>
            <a:endParaRPr lang="en-US" sz="1200" dirty="0"/>
          </a:p>
          <a:p>
            <a:pPr indent="0" marL="0">
              <a:buNone/>
            </a:pPr>
            <a:r>
              <a:rPr lang="en-US" sz="1100" dirty="0">
                <a:solidFill>
                  <a:srgbClr val="C9D3F5"/>
                </a:solidFill>
              </a:rPr>
              <a:t>Bangladesh shampoo market, 2026 estimate (USD 176M, Mordor Intelligence; Tk 122/USD)</a:t>
            </a:r>
            <a:endParaRPr lang="en-US" sz="1200" dirty="0"/>
          </a:p>
        </p:txBody>
      </p:sp>
      <p:graphicFrame>
        <p:nvGraphicFramePr>
          <p:cNvPr id="37" name="Chart 0" descr=""/>
          <p:cNvGraphicFramePr/>
          <p:nvPr/>
        </p:nvGraphicFramePr>
        <p:xfrm>
          <a:off x="6492240" y="2542032"/>
          <a:ext cx="5166360" cy="2788920"/>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largest division districts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sp>
      <p:sp>
        <p:nvSpPr>
          <p:cNvPr id="31" name="Shape 28"/>
          <p:cNvSpPr/>
          <p:nvPr/>
        </p:nvSpPr>
        <p:spPr>
          <a:xfrm>
            <a:off x="6583680" y="4526280"/>
            <a:ext cx="2331720" cy="868680"/>
          </a:xfrm>
          <a:prstGeom prst="roundRect">
            <a:avLst>
              <a:gd name="adj" fmla="val 8421"/>
            </a:avLst>
          </a:prstGeom>
          <a:solidFill>
            <a:srgbClr val="FBEDE3"/>
          </a:solidFill>
          <a:ln/>
        </p:spPr>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sp>
      <p:sp>
        <p:nvSpPr>
          <p:cNvPr id="34" name="Shape 31"/>
          <p:cNvSpPr/>
          <p:nvPr/>
        </p:nvSpPr>
        <p:spPr>
          <a:xfrm>
            <a:off x="9235440" y="4526280"/>
            <a:ext cx="2331720" cy="868680"/>
          </a:xfrm>
          <a:prstGeom prst="roundRect">
            <a:avLst>
              <a:gd name="adj" fmla="val 8421"/>
            </a:avLst>
          </a:prstGeom>
          <a:solidFill>
            <a:srgbClr val="E3F5FA"/>
          </a:solidFill>
          <a:ln/>
        </p:spPr>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Shape 33"/>
          <p:cNvSpPr/>
          <p:nvPr/>
        </p:nvSpPr>
        <p:spPr>
          <a:xfrm>
            <a:off x="3931920" y="5504688"/>
            <a:ext cx="7708392" cy="438912"/>
          </a:xfrm>
          <a:prstGeom prst="roundRect">
            <a:avLst>
              <a:gd name="adj" fmla="val 16667"/>
            </a:avLst>
          </a:prstGeom>
          <a:solidFill>
            <a:srgbClr val="FFF4E0"/>
          </a:solidFill>
          <a:ln w="19050">
            <a:solidFill>
              <a:srgbClr val="F5A31A"/>
            </a:solidFill>
            <a:prstDash val="dash"/>
          </a:ln>
        </p:spPr>
      </p:sp>
      <p:sp>
        <p:nvSpPr>
          <p:cNvPr id="37" name="Text 34"/>
          <p:cNvSpPr txBox="1"/>
          <p:nvPr/>
        </p:nvSpPr>
        <p:spPr>
          <a:xfrm>
            <a:off x="4096512" y="5632704"/>
            <a:ext cx="7379208" cy="182880"/>
          </a:xfrm>
          <a:prstGeom prst="rect">
            <a:avLst/>
          </a:prstGeom>
          <a:noFill/>
          <a:ln/>
        </p:spPr>
        <p:txBody>
          <a:bodyPr wrap="square" lIns="0" tIns="0" rIns="0" bIns="0" rtlCol="0" anchor="t"/>
          <a:lstStyle/>
          <a:p>
            <a:pPr indent="0" marL="0">
              <a:buNone/>
            </a:pPr>
            <a:r>
              <a:rPr lang="en-US" sz="1100" b="1" spc="100" kern="0" dirty="0">
                <a:solidFill>
                  <a:srgbClr val="B26B00"/>
                </a:solidFill>
              </a:rPr>
              <a:t>OUR TEST [date]:  hall tap water  [ ] mg/L hardness  ·  [ ] mg/L iron  ·  TDS [ ] ppm</a:t>
            </a:r>
            <a:endParaRPr lang="en-US" sz="1200" dirty="0"/>
          </a:p>
        </p:txBody>
      </p:sp>
      <p:sp>
        <p:nvSpPr>
          <p:cNvPr id="38" name="Text 3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team analysis (historical wells, not today’s taps). ICCEI 2025 Dhaka tap study; USGS hardness classes; US EPA iron guideline 0.3 mg/L.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comes last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FFF4E0"/>
          </a:solidFill>
          <a:ln w="19050">
            <a:solidFill>
              <a:srgbClr val="F5A31A"/>
            </a:solidFill>
            <a:prstDash val="dash"/>
          </a:ln>
        </p:spPr>
      </p:sp>
      <p:sp>
        <p:nvSpPr>
          <p:cNvPr id="22" name="Text 19"/>
          <p:cNvSpPr txBox="1"/>
          <p:nvPr/>
        </p:nvSpPr>
        <p:spPr>
          <a:xfrm>
            <a:off x="8439912" y="1682496"/>
            <a:ext cx="3035808" cy="3493008"/>
          </a:xfrm>
          <a:prstGeom prst="rect">
            <a:avLst/>
          </a:prstGeom>
          <a:noFill/>
          <a:ln/>
        </p:spPr>
        <p:txBody>
          <a:bodyPr wrap="square" lIns="0" tIns="0" rIns="0" bIns="0" rtlCol="0" anchor="t"/>
          <a:lstStyle/>
          <a:p>
            <a:pPr indent="0" marL="0">
              <a:buNone/>
            </a:pPr>
            <a:r>
              <a:rPr lang="en-US" sz="1100" b="1" spc="100" kern="0" dirty="0">
                <a:solidFill>
                  <a:srgbClr val="B26B00"/>
                </a:solidFill>
              </a:rPr>
              <a:t>OUR FIELD RESEARCH · 9–10 OCT 2026</a:t>
            </a:r>
            <a:endParaRPr lang="en-US" sz="1200" dirty="0"/>
          </a:p>
          <a:p>
            <a:pPr marL="152400" indent="-152400">
              <a:spcBef>
                <a:spcPts val="500"/>
              </a:spcBef>
              <a:buSzPct val="100000"/>
              <a:buChar char="•"/>
            </a:pPr>
            <a:r>
              <a:rPr lang="en-US" sz="1200" dirty="0">
                <a:solidFill>
                  <a:srgbClr val="1F2937"/>
                </a:solidFill>
              </a:rPr>
              <a:t>Google Form survey: n = [ ] consenting adults</a:t>
            </a:r>
            <a:endParaRPr lang="en-US" sz="1200" dirty="0"/>
          </a:p>
          <a:p>
            <a:pPr marL="152400" indent="-152400">
              <a:spcBef>
                <a:spcPts val="500"/>
              </a:spcBef>
              <a:buSzPct val="100000"/>
              <a:buChar char="•"/>
            </a:pPr>
            <a:r>
              <a:rPr lang="en-US" sz="1200" dirty="0">
                <a:solidFill>
                  <a:srgbClr val="1F2937"/>
                </a:solidFill>
              </a:rPr>
              <a:t>Changed water source in the last 12 months: [ ]; of them, [ ]% felt their hair got worse</a:t>
            </a:r>
            <a:endParaRPr lang="en-US" sz="1200" dirty="0"/>
          </a:p>
          <a:p>
            <a:pPr marL="152400" indent="-152400">
              <a:spcBef>
                <a:spcPts val="500"/>
              </a:spcBef>
              <a:buSzPct val="100000"/>
              <a:buChar char="•"/>
            </a:pPr>
            <a:r>
              <a:rPr lang="en-US" sz="1200" dirty="0">
                <a:solidFill>
                  <a:srgbClr val="1F2937"/>
                </a:solidFill>
              </a:rPr>
              <a:t>[ ]% of those with a hair problem named water as a cause, unprompted</a:t>
            </a:r>
            <a:endParaRPr lang="en-US" sz="1200" dirty="0"/>
          </a:p>
          <a:p>
            <a:pPr marL="152400" indent="-152400">
              <a:spcBef>
                <a:spcPts val="500"/>
              </a:spcBef>
              <a:buSzPct val="100000"/>
              <a:buChar char="•"/>
            </a:pPr>
            <a:r>
              <a:rPr lang="en-US" sz="1200" dirty="0">
                <a:solidFill>
                  <a:srgbClr val="1F2937"/>
                </a:solidFill>
              </a:rPr>
              <a:t>[ ]% would definitely or probably buy at Tk 360</a:t>
            </a:r>
            <a:endParaRPr lang="en-US" sz="1200" dirty="0"/>
          </a:p>
          <a:p>
            <a:pPr marL="152400" indent="-152400">
              <a:spcBef>
                <a:spcPts val="500"/>
              </a:spcBef>
              <a:buSzPct val="100000"/>
              <a:buChar char="•"/>
            </a:pPr>
            <a:r>
              <a:rPr lang="en-US" sz="1200" dirty="0">
                <a:solidFill>
                  <a:srgbClr val="1F2937"/>
                </a:solidFill>
              </a:rPr>
              <a:t>Median maximum price for 340 ml: Tk [ ]</a:t>
            </a:r>
            <a:endParaRPr lang="en-US" sz="1200" dirty="0"/>
          </a:p>
          <a:p>
            <a:pPr marL="152400" indent="-152400">
              <a:spcBef>
                <a:spcPts val="500"/>
              </a:spcBef>
              <a:buSzPct val="100000"/>
              <a:buChar char="•"/>
            </a:pPr>
            <a:r>
              <a:rPr lang="en-US" sz="1200" dirty="0">
                <a:solidFill>
                  <a:srgbClr val="1F2937"/>
                </a:solidFill>
              </a:rPr>
              <a:t>Foam test: same shampoo, [ ]% less foam in hall water than in bottled water</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INSIGHT   </a:t>
            </a:r>
            <a:pPr indent="0" marL="0">
              <a:buNone/>
            </a:pPr>
            <a:r>
              <a:rPr lang="en-US" sz="1400" dirty="0">
                <a:solidFill>
                  <a:srgbClr val="141C52"/>
                </a:solidFill>
              </a:rPr>
              <a:t>People blame their hair, or their shampoo. The real culprit may be the water, and nobody gives them a way to check.</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Journal of Social Sciences 10(12); Zakaria et al. (2025), Frontiers in Public Health; UGC Annual Report 2023 via Prothom Alo (4 Oct 2025); BBS Population &amp; Housing Census 2022.</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in any water</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sp>
      <p:sp>
        <p:nvSpPr>
          <p:cNvPr id="7" name="Shape 5"/>
          <p:cNvSpPr/>
          <p:nvPr/>
        </p:nvSpPr>
        <p:spPr>
          <a:xfrm>
            <a:off x="1170432" y="2560320"/>
            <a:ext cx="548640" cy="548640"/>
          </a:xfrm>
          <a:prstGeom prst="ellipse">
            <a:avLst/>
          </a:prstGeom>
          <a:solidFill>
            <a:srgbClr val="12A5C4"/>
          </a:solidFill>
          <a:ln/>
        </p:spPr>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sp>
      <p:sp>
        <p:nvSpPr>
          <p:cNvPr id="12" name="Shape 9"/>
          <p:cNvSpPr/>
          <p:nvPr/>
        </p:nvSpPr>
        <p:spPr>
          <a:xfrm>
            <a:off x="3154680" y="2560320"/>
            <a:ext cx="548640" cy="548640"/>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sp>
      <p:sp>
        <p:nvSpPr>
          <p:cNvPr id="17" name="Shape 13"/>
          <p:cNvSpPr/>
          <p:nvPr/>
        </p:nvSpPr>
        <p:spPr>
          <a:xfrm>
            <a:off x="5138928" y="2560320"/>
            <a:ext cx="548640" cy="548640"/>
          </a:xfrm>
          <a:prstGeom prst="ellipse">
            <a:avLst/>
          </a:prstGeom>
          <a:solidFill>
            <a:srgbClr val="12A5C4"/>
          </a:solidFill>
          <a:ln/>
        </p:spPr>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the 2nd most penetrated shampoo brand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7 ml per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sp>
      <p:sp>
        <p:nvSpPr>
          <p:cNvPr id="7" name="Shape 5"/>
          <p:cNvSpPr/>
          <p:nvPr/>
        </p:nvSpPr>
        <p:spPr>
          <a:xfrm>
            <a:off x="731520" y="2331720"/>
            <a:ext cx="502920" cy="502920"/>
          </a:xfrm>
          <a:prstGeom prst="ellipse">
            <a:avLst/>
          </a:prstGeom>
          <a:solidFill>
            <a:srgbClr val="141C52"/>
          </a:solidFill>
          <a:ln/>
        </p:spPr>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sp>
      <p:sp>
        <p:nvSpPr>
          <p:cNvPr id="15" name="Shape 12"/>
          <p:cNvSpPr/>
          <p:nvPr/>
        </p:nvSpPr>
        <p:spPr>
          <a:xfrm>
            <a:off x="3547872" y="2331720"/>
            <a:ext cx="502920" cy="502920"/>
          </a:xfrm>
          <a:prstGeom prst="ellipse">
            <a:avLst/>
          </a:prstGeom>
          <a:solidFill>
            <a:srgbClr val="0B6FB8"/>
          </a:solidFill>
          <a:ln/>
        </p:spPr>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sp>
      <p:sp>
        <p:nvSpPr>
          <p:cNvPr id="23" name="Shape 19"/>
          <p:cNvSpPr/>
          <p:nvPr/>
        </p:nvSpPr>
        <p:spPr>
          <a:xfrm>
            <a:off x="6364224" y="2331720"/>
            <a:ext cx="502920" cy="502920"/>
          </a:xfrm>
          <a:prstGeom prst="ellipse">
            <a:avLst/>
          </a:prstGeom>
          <a:solidFill>
            <a:srgbClr val="12A5C4"/>
          </a:solidFill>
          <a:ln/>
        </p:spPr>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sp>
      <p:sp>
        <p:nvSpPr>
          <p:cNvPr id="31" name="Shape 26"/>
          <p:cNvSpPr/>
          <p:nvPr/>
        </p:nvSpPr>
        <p:spPr>
          <a:xfrm>
            <a:off x="9180576" y="2331720"/>
            <a:ext cx="502920" cy="502920"/>
          </a:xfrm>
          <a:prstGeom prst="ellipse">
            <a:avLst/>
          </a:prstGeom>
          <a:solidFill>
            <a:srgbClr val="3E9B3A"/>
          </a:solidFill>
          <a:ln/>
        </p:spPr>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water tests done (one per 340 ml bottle: 1.5M in three years) · trial · rate of sale. Framework: Marketing masterclass (unique and surround touchpoints). Budget split is a planning assumption.</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13"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36" name="Shape 34"/>
          <p:cNvSpPr/>
          <p:nvPr/>
        </p:nvSpPr>
        <p:spPr>
          <a:xfrm>
            <a:off x="4389120" y="3630168"/>
            <a:ext cx="201168" cy="201168"/>
          </a:xfrm>
          <a:prstGeom prst="ellipse">
            <a:avLst/>
          </a:prstGeom>
          <a:solidFill>
            <a:srgbClr val="3E9B3A"/>
          </a:solidFill>
          <a:ln/>
        </p:spPr>
      </p:sp>
      <p:sp>
        <p:nvSpPr>
          <p:cNvPr id="37" name="Text 35"/>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Shampoo variant on an existing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42" name="Shape 40"/>
          <p:cNvSpPr/>
          <p:nvPr/>
        </p:nvSpPr>
        <p:spPr>
          <a:xfrm>
            <a:off x="4389120" y="4270248"/>
            <a:ext cx="201168" cy="201168"/>
          </a:xfrm>
          <a:prstGeom prst="ellipse">
            <a:avLst/>
          </a:prstGeom>
          <a:solidFill>
            <a:srgbClr val="3E9B3A"/>
          </a:solidFill>
          <a:ln/>
        </p:spPr>
      </p:sp>
      <p:sp>
        <p:nvSpPr>
          <p:cNvPr id="43" name="Text 41"/>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Make + Modify in-house</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48" name="Shape 46"/>
          <p:cNvSpPr/>
          <p:nvPr/>
        </p:nvSpPr>
        <p:spPr>
          <a:xfrm>
            <a:off x="4389120" y="4910328"/>
            <a:ext cx="201168" cy="201168"/>
          </a:xfrm>
          <a:prstGeom prst="ellipse">
            <a:avLst/>
          </a:prstGeom>
          <a:solidFill>
            <a:srgbClr val="3E9B3A"/>
          </a:solidFill>
          <a:ln/>
        </p:spPr>
      </p:sp>
      <p:sp>
        <p:nvSpPr>
          <p:cNvPr id="49" name="Text 47"/>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16"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end of the launch year</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a:p>
            <a:pPr indent="0" marL="0">
              <a:buNone/>
            </a:pPr>
            <a:r>
              <a:rPr lang="en-US" sz="1200" b="1" dirty="0">
                <a:solidFill>
                  <a:srgbClr val="141C52"/>
                </a:solidFill>
              </a:rPr>
              <a:t>The downside is why we pilot first: only Tk 3.5 Cr is at risk before the go/no-go.</a:t>
            </a:r>
            <a:endParaRPr lang="en-US" sz="1200" dirty="0"/>
          </a:p>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taken from Naturale at 45% contribution. Tax 20%, WPPF 5%. Inputs are planning assumptions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Formula, stability, strip shelf-life, BSTI and DGDA</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committed before the go/no-go: CAPEX Tk 3.0 Cr + R&amp;D and 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Assumption register: every driver, its basis and who confirms it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2377440"/>
                <a:gridCol w="5010912"/>
                <a:gridCol w="1463040"/>
              </a:tblGrid>
              <a:tr h="265176">
                <a:tc>
                  <a:txBody>
                    <a:bodyPr/>
                    <a:lstStyle/>
                    <a:p>
                      <a:pPr indent="0" marL="0">
                        <a:buNone/>
                      </a:pPr>
                      <a:r>
                        <a:rPr lang="en-US" sz="1000" b="1" dirty="0">
                          <a:solidFill>
                            <a:srgbClr val="FFFFFF"/>
                          </a:solidFill>
                        </a:rPr>
                        <a:t>Driver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Basis / source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Confirms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65176">
                <a:tc>
                  <a:txBody>
                    <a:bodyPr/>
                    <a:lstStyle/>
                    <a:p>
                      <a:pPr indent="0" marL="0">
                        <a:buNone/>
                      </a:pPr>
                      <a:r>
                        <a:rPr lang="en-US" sz="1000" b="1" dirty="0">
                          <a:solidFill>
                            <a:srgbClr val="1F2937"/>
                          </a:solidFill>
                        </a:rPr>
                        <a:t>MRP 340 ml + PaniCheck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360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Naturale Hijab Fresh 340 ml Tk 390; Sunsilk 340 ml Tk 350 (Chaldal, 9 Oct 2026)</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MRP 180 ml / 6 ml sachet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Tk 180 / Tk 3</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Naturale 160–175 ml Tk 140–150; Naturale sachet Tk 2 per 5.25 ml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Trade margin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22% bottles, 25% sachets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Retailer + distributor; planning assumption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VAT / SD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VAT &amp; SD Act 2012, shampoo; invoice treatment to confirm</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Tax</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COGS per unit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95 / 55 / 1.20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Bulk Tk 135/kg plus pack and conversion; strip Tk 3 target (unquoted)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Procurement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Active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37k / 72k / 104k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Channel plan; Sales masterclass universe of 294k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Units per outlet per month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See Sales slide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Planning assumption; validated by pilot rate of sale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A&amp;P</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Y1 Tk 4.5 Cr; then 15%, 12%, 10%, 10%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marketing, selling and distribution = 5.2%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Marketing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Selling and distribution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8% of NR + Tk 1 Cr a year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Incremental SKU on existing Naturale routes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 / 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Cannibalisation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45% contribution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Planning assumption; measured in the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 / Insights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EPR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EPR Guidelines 2026 (SRO 293); reserve, not a compliance quote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ESG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Working capital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12% of annualised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core working capital = 11.5%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CAPEX / pre-launch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3.0 Cr / Tk 0.5 Cr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Cap mould, strip insertion, line changeover; R&amp;D and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Manufacturing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Tax / WPPF / hurdle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disclosures; hurdle assumed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Horizon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12 + 60 months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Pre-launch plus five commercial years; no terminal 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bl>
          </a:graphicData>
        </a:graphic>
      </p:graphicFrame>
      <p:sp>
        <p:nvSpPr>
          <p:cNvPr id="5" name="Text 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Model: Round2_Submission/finance/finance_v4.cjs. It reuses the team’s v3 monthly model unchanged, adds the SD/tax/WPPF correction (reproducing the corrected −3.82/−6.32 Cr), then applies the v4 proposal decisions above.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B</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Evidence base, method and sensitivity</a:t>
            </a:r>
            <a:endParaRPr lang="en-US" sz="2600" dirty="0"/>
          </a:p>
        </p:txBody>
      </p:sp>
      <p:sp>
        <p:nvSpPr>
          <p:cNvPr id="4" name="Text 2"/>
          <p:cNvSpPr txBox="1"/>
          <p:nvPr/>
        </p:nvSpPr>
        <p:spPr>
          <a:xfrm>
            <a:off x="548640" y="1508760"/>
            <a:ext cx="5760720" cy="3291840"/>
          </a:xfrm>
          <a:prstGeom prst="rect">
            <a:avLst/>
          </a:prstGeom>
          <a:noFill/>
          <a:ln/>
        </p:spPr>
        <p:txBody>
          <a:bodyPr wrap="square" lIns="0" tIns="0" rIns="0" bIns="0" rtlCol="0" anchor="t"/>
          <a:lstStyle/>
          <a:p>
            <a:pPr indent="0" marL="0">
              <a:buNone/>
            </a:pPr>
            <a:r>
              <a:rPr lang="en-US" sz="1100" b="1" dirty="0">
                <a:solidFill>
                  <a:srgbClr val="141C52"/>
                </a:solidFill>
              </a:rPr>
              <a:t>Water: </a:t>
            </a:r>
            <a:pPr indent="0" marL="0">
              <a:spcAft>
                <a:spcPts val="700"/>
              </a:spcAft>
              <a:buNone/>
            </a:pPr>
            <a:r>
              <a:rPr lang="en-US" sz="1100" dirty="0">
                <a:solidFill>
                  <a:srgbClr val="1F2937"/>
                </a:solidFill>
              </a:rPr>
              <a:t>BGS &amp; DPHE (2001) National Hydrochemical Survey: 3,534 wells, 61 districts, sampled Mar 1998–Dec 1999. Team analysis: hardness = 2.497 Ca + 4.118 Mg (USGS); flags Fe &gt;0.3 and hardness &gt;120 mg/L. Historical wells, not today’s taps, which is why the pack carries a test.</a:t>
            </a:r>
            <a:endParaRPr lang="en-US" sz="1100" dirty="0"/>
          </a:p>
          <a:p>
            <a:pPr indent="0" marL="0">
              <a:buNone/>
            </a:pPr>
            <a:r>
              <a:rPr lang="en-US" sz="1100" b="1" dirty="0">
                <a:solidFill>
                  <a:srgbClr val="141C52"/>
                </a:solidFill>
              </a:rPr>
              <a:t>Recent water: </a:t>
            </a:r>
            <a:pPr indent="0" marL="0">
              <a:spcAft>
                <a:spcPts val="700"/>
              </a:spcAft>
              <a:buNone/>
            </a:pPr>
            <a:r>
              <a:rPr lang="en-US" sz="1100" dirty="0">
                <a:solidFill>
                  <a:srgbClr val="1F2937"/>
                </a:solidFill>
              </a:rPr>
              <a:t>ICCEI 2025 Dhaka tap study (12 locations with values); BWDB 2022 groundwater-quality report (901 monitoring wells, 2019–21).</a:t>
            </a:r>
            <a:endParaRPr lang="en-US" sz="1100" dirty="0"/>
          </a:p>
          <a:p>
            <a:pPr indent="0" marL="0">
              <a:buNone/>
            </a:pPr>
            <a:r>
              <a:rPr lang="en-US" sz="1100" b="1" dirty="0">
                <a:solidFill>
                  <a:srgbClr val="141C52"/>
                </a:solidFill>
              </a:rPr>
              <a:t>Consumers: </a:t>
            </a:r>
            <a:pPr indent="0" marL="0">
              <a:spcAft>
                <a:spcPts val="700"/>
              </a:spcAft>
              <a:buNone/>
            </a:pPr>
            <a:r>
              <a:rPr lang="en-US" sz="1100" dirty="0">
                <a:solidFill>
                  <a:srgbClr val="1F2937"/>
                </a:solidFill>
              </a:rPr>
              <a:t>Khanam &amp; Rahman 2022 (n=390); Zakaria et al. 2025 (n=391); our Google Form survey (n=[ ]) and foam test.</a:t>
            </a:r>
            <a:endParaRPr lang="en-US" sz="1100" dirty="0"/>
          </a:p>
          <a:p>
            <a:pPr indent="0" marL="0">
              <a:buNone/>
            </a:pPr>
            <a:r>
              <a:rPr lang="en-US" sz="1100" b="1" dirty="0">
                <a:solidFill>
                  <a:srgbClr val="141C52"/>
                </a:solidFill>
              </a:rPr>
              <a:t>Hair science: </a:t>
            </a:r>
            <a:pPr indent="0" marL="0">
              <a:spcAft>
                <a:spcPts val="700"/>
              </a:spcAft>
              <a:buNone/>
            </a:pPr>
            <a:r>
              <a:rPr lang="en-US" sz="1100" dirty="0">
                <a:solidFill>
                  <a:srgbClr val="1F2937"/>
                </a:solidFill>
              </a:rPr>
              <a:t>Luqman 2018 (n=70: tensile strength 255 vs 234 with hard water); Srinivasan 2013 (n=15: no significant difference). Evidence is mixed, so claims wait for our own R&amp;D tests.</a:t>
            </a:r>
            <a:endParaRPr lang="en-US" sz="1100" dirty="0"/>
          </a:p>
          <a:p>
            <a:pPr indent="0" marL="0">
              <a:buNone/>
            </a:pPr>
            <a:r>
              <a:rPr lang="en-US" sz="1100" b="1" dirty="0">
                <a:solidFill>
                  <a:srgbClr val="141C52"/>
                </a:solidFill>
              </a:rPr>
              <a:t>Market and prices: </a:t>
            </a:r>
            <a:pPr indent="0" marL="0">
              <a:spcAft>
                <a:spcPts val="700"/>
              </a:spcAft>
              <a:buNone/>
            </a:pPr>
            <a:r>
              <a:rPr lang="en-US" sz="1100" dirty="0">
                <a:solidFill>
                  <a:srgbClr val="1F2937"/>
                </a:solidFill>
              </a:rPr>
              <a:t>Mordor Intelligence (2026e); 24 online price observations, Chaldal and Arogga, 9 Oct 2026; Marico Bangladesh Annual Report FY2025-26.</a:t>
            </a:r>
            <a:endParaRPr lang="en-US" sz="1100" dirty="0"/>
          </a:p>
        </p:txBody>
      </p:sp>
      <p:sp>
        <p:nvSpPr>
          <p:cNvPr id="5" name="Shape 3"/>
          <p:cNvSpPr/>
          <p:nvPr/>
        </p:nvSpPr>
        <p:spPr>
          <a:xfrm>
            <a:off x="548640" y="4343400"/>
            <a:ext cx="5760720" cy="1005840"/>
          </a:xfrm>
          <a:prstGeom prst="roundRect">
            <a:avLst>
              <a:gd name="adj" fmla="val 7273"/>
            </a:avLst>
          </a:prstGeom>
          <a:solidFill>
            <a:srgbClr val="E3F5FA"/>
          </a:solidFill>
          <a:ln/>
        </p:spPr>
      </p:sp>
      <p:sp>
        <p:nvSpPr>
          <p:cNvPr id="6" name="Text 4"/>
          <p:cNvSpPr txBox="1"/>
          <p:nvPr/>
        </p:nvSpPr>
        <p:spPr>
          <a:xfrm>
            <a:off x="731520" y="4343400"/>
            <a:ext cx="5440680" cy="1005840"/>
          </a:xfrm>
          <a:prstGeom prst="rect">
            <a:avLst/>
          </a:prstGeom>
          <a:noFill/>
          <a:ln/>
        </p:spPr>
        <p:txBody>
          <a:bodyPr wrap="square" lIns="0" tIns="0" rIns="0" bIns="0" rtlCol="0" anchor="ctr"/>
          <a:lstStyle/>
          <a:p>
            <a:pPr indent="0" marL="0">
              <a:buNone/>
            </a:pPr>
            <a:r>
              <a:rPr lang="en-US" sz="1100" b="1" spc="100" kern="0" dirty="0">
                <a:solidFill>
                  <a:srgbClr val="0E7FA0"/>
                </a:solidFill>
              </a:rPr>
              <a:t>R&amp;D TEST PLAN   </a:t>
            </a:r>
            <a:pPr indent="0" marL="0">
              <a:buNone/>
            </a:pPr>
            <a:r>
              <a:rPr lang="en-US" sz="1100" dirty="0">
                <a:solidFill>
                  <a:srgbClr val="1F2937"/>
                </a:solidFill>
              </a:rPr>
              <a:t>Hair-tress deposit test: at least 30% less Ca/Fe than Naturale core. Lather at least 80% of a soft-water reference at 150 and 300 mg/L. Home-use test n≈100. Stability at 40°C / 75% RH.</a:t>
            </a:r>
            <a:endParaRPr lang="en-US" sz="1100" dirty="0"/>
          </a:p>
        </p:txBody>
      </p:sp>
      <p:graphicFrame>
        <p:nvGraphicFramePr>
          <p:cNvPr id="7" name="Chart 0" descr=""/>
          <p:cNvGraphicFramePr/>
          <p:nvPr/>
        </p:nvGraphicFramePr>
        <p:xfrm>
          <a:off x="6492240" y="1463040"/>
          <a:ext cx="5166360" cy="3840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5394960"/>
            <a:ext cx="5029200" cy="457200"/>
          </a:xfrm>
          <a:prstGeom prst="rect">
            <a:avLst/>
          </a:prstGeom>
          <a:noFill/>
          <a:ln/>
        </p:spPr>
        <p:txBody>
          <a:bodyPr wrap="square" lIns="0" tIns="0" rIns="0" bIns="0" rtlCol="0" anchor="t"/>
          <a:lstStyle/>
          <a:p>
            <a:pPr indent="0" marL="0">
              <a:buNone/>
            </a:pPr>
            <a:r>
              <a:rPr lang="en-US" sz="1200" b="1" dirty="0">
                <a:solidFill>
                  <a:srgbClr val="141C52"/>
                </a:solidFill>
              </a:rPr>
              <a:t>Biggest levers: cannibalisation and COGS. Both are measured in the pilot before any national spend.</a:t>
            </a:r>
            <a:endParaRPr lang="en-US" sz="1200" dirty="0"/>
          </a:p>
        </p:txBody>
      </p:sp>
      <p:sp>
        <p:nvSpPr>
          <p:cNvPr id="9" name="Text 6"/>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Hair-science references: Luqman et al. 2018 (PMID 30034190); Srinivasan et al. 2013 (PMID 24574692). Sensitivities from finance_v4.cjs.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2026-10-09T17:18:27Z</dcterms:created>
  <dcterms:modified xsi:type="dcterms:W3CDTF">2026-10-09T17:18:27Z</dcterms:modified>
</cp:coreProperties>
</file>
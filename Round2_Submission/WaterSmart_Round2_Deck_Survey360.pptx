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59443fc-f90d-2076-19d5-f1890dc8bcec}">
          <p14:sldIdLst>
            <p14:sldId id="256"/>
          </p14:sldIdLst>
        </p14:section>
        <p14:section name="Summary" id="{4fa1060e-aaad-e9ab-f4e0-34d077e3fbc6}">
          <p14:sldIdLst>
            <p14:sldId id="257"/>
          </p14:sldIdLst>
        </p14:section>
        <p14:section name="Business plan" id="{5530077c-323c-1729-f1a2-025988cb80f6}">
          <p14:sldIdLst>
            <p14:sldId id="258"/>
            <p14:sldId id="259"/>
            <p14:sldId id="260"/>
            <p14:sldId id="261"/>
            <p14:sldId id="262"/>
            <p14:sldId id="263"/>
            <p14:sldId id="264"/>
            <p14:sldId id="265"/>
          </p14:sldIdLst>
        </p14:section>
        <p14:section name="Execution plan" id="{bc134604-e5ea-35f5-4f42-334e2dde529a}">
          <p14:sldIdLst>
            <p14:sldId id="266"/>
            <p14:sldId id="267"/>
            <p14:sldId id="268"/>
          </p14:sldIdLst>
        </p14:section>
        <p14:section name="Financial plan" id="{98de21fe-638c-5596-d47c-6cb79bfec919}">
          <p14:sldIdLst>
            <p14:sldId id="269"/>
            <p14:sldId id="270"/>
          </p14:sldIdLst>
        </p14:section>
        <p14:section name="Decision" id="{47fad3dc-b99a-0437-e4ec-2e2d9c04f505}">
          <p14:sldIdLst>
            <p14:sldId id="271"/>
          </p14:sldIdLst>
        </p14:section>
        <p14:section name="Appendix" id="{9f30bffe-8c9e-f7d3-4333-41ad8a5a4421}">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Shelf price per 100 ml (Tk), 9 Oct 2026</a:t>
            </a:r>
          </a:p>
        </c:rich>
      </c:tx>
      <c:layout/>
      <c:overlay val="0"/>
    </c:title>
    <c:autoTitleDeleted val="0"/>
    <c:plotArea>
      <c:layout/>
      <c:barChart>
        <c:barDir val="bar"/>
        <c:grouping val="clustered"/>
        <c:varyColors val="0"/>
        <c:ser>
          <c:idx val="0"/>
          <c:order val="0"/>
          <c:tx>
            <c:strRef>
              <c:f>Sheet1!$B$1</c:f>
              <c:strCache>
                <c:ptCount val="1"/>
                <c:pt idx="0">
                  <c:v>Tk per 100 ml</c:v>
                </c:pt>
              </c:strCache>
            </c:strRef>
          </c:tx>
          <c:spPr>
            <a:solidFill>
              <a:srgbClr val="A7B0BE"/>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0BE"/>
              </a:solidFill>
              <a:effectLst/>
            </c:spPr>
          </c:dPt>
          <c:dPt>
            <c:idx val="1"/>
            <c:invertIfNegative val="0"/>
            <c:bubble3D val="0"/>
            <c:spPr>
              <a:solidFill>
                <a:srgbClr val="A7B0BE"/>
              </a:solidFill>
              <a:effectLst/>
            </c:spPr>
          </c:dPt>
          <c:dPt>
            <c:idx val="2"/>
            <c:invertIfNegative val="0"/>
            <c:bubble3D val="0"/>
            <c:spPr>
              <a:solidFill>
                <a:srgbClr val="12A5C4"/>
              </a:solidFill>
              <a:effectLst/>
            </c:spPr>
          </c:dPt>
          <c:dPt>
            <c:idx val="3"/>
            <c:invertIfNegative val="0"/>
            <c:bubble3D val="0"/>
            <c:spPr>
              <a:solidFill>
                <a:srgbClr val="A7B0BE"/>
              </a:solidFill>
              <a:effectLst/>
            </c:spPr>
          </c:dPt>
          <c:dPt>
            <c:idx val="4"/>
            <c:invertIfNegative val="0"/>
            <c:bubble3D val="0"/>
            <c:spPr>
              <a:solidFill>
                <a:srgbClr val="A7B0BE"/>
              </a:solidFill>
              <a:effectLst/>
            </c:spPr>
          </c:dPt>
          <c:dPt>
            <c:idx val="5"/>
            <c:invertIfNegative val="0"/>
            <c:bubble3D val="0"/>
            <c:spPr>
              <a:solidFill>
                <a:srgbClr val="A7B0BE"/>
              </a:solidFill>
              <a:effectLst/>
            </c:spPr>
          </c:dPt>
          <c:dPt>
            <c:idx val="6"/>
            <c:invertIfNegative val="0"/>
            <c:bubble3D val="0"/>
            <c:spPr>
              <a:solidFill>
                <a:srgbClr val="A7B0BE"/>
              </a:solidFill>
              <a:effectLst/>
            </c:spPr>
          </c:dPt>
          <c:cat>
            <c:multiLvlStrRef>
              <c:f>Sheet1!$A$2:$A$8</c:f>
              <c:multiLvlStrCache>
                <c:ptCount val="7"/>
                <c:lvl>
                  <c:pt idx="0">
                    <c:v>Naturale core 320 ml</c:v>
                  </c:pt>
                  <c:pt idx="1">
                    <c:v>Sunsilk 340 ml</c:v>
                  </c:pt>
                  <c:pt idx="2">
                    <c:v>WaterSmart 340 ml (proposed)</c:v>
                  </c:pt>
                  <c:pt idx="3">
                    <c:v>Naturale Hijab Fresh 340 ml</c:v>
                  </c:pt>
                  <c:pt idx="4">
                    <c:v>Dove 330 ml</c:v>
                  </c:pt>
                  <c:pt idx="5">
                    <c:v>Clear Men 330 ml</c:v>
                  </c:pt>
                  <c:pt idx="6">
                    <c:v>Head &amp; Shoulders 1 L</c:v>
                  </c:pt>
                </c:lvl>
              </c:multiLvlStrCache>
            </c:multiLvlStrRef>
          </c:cat>
          <c:val>
            <c:numRef>
              <c:f>Sheet1!$B$2:$B$8</c:f>
              <c:numCache>
                <c:formatCode>General</c:formatCode>
                <c:ptCount val="7"/>
                <c:pt idx="0">
                  <c:v>83</c:v>
                </c:pt>
                <c:pt idx="1">
                  <c:v>103</c:v>
                </c:pt>
                <c:pt idx="2">
                  <c:v>106</c:v>
                </c:pt>
                <c:pt idx="3">
                  <c:v>115</c:v>
                </c:pt>
                <c:pt idx="4">
                  <c:v>142</c:v>
                </c:pt>
                <c:pt idx="5">
                  <c:v>152</c:v>
                </c:pt>
                <c:pt idx="6">
                  <c:v>180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Net revenue by pack (Tk Cr)</a:t>
            </a:r>
          </a:p>
        </c:rich>
      </c:tx>
      <c:layout/>
      <c:overlay val="0"/>
    </c:title>
    <c:autoTitleDeleted val="0"/>
    <c:plotArea>
      <c:layout/>
      <c:barChart>
        <c:barDir val="col"/>
        <c:grouping val="stacked"/>
        <c:varyColors val="0"/>
        <c:ser>
          <c:idx val="0"/>
          <c:order val="0"/>
          <c:tx>
            <c:strRef>
              <c:f>Sheet1!$B$1</c:f>
              <c:strCache>
                <c:ptCount val="1"/>
                <c:pt idx="0">
                  <c:v>Sachet 6 ml</c:v>
                </c:pt>
              </c:strCache>
            </c:strRef>
          </c:tx>
          <c:spPr>
            <a:solidFill>
              <a:srgbClr val="12A5C4"/>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Sheet1!$B$2:$B$4</c:f>
              <c:numCache>
                <c:formatCode>General</c:formatCode>
                <c:ptCount val="3"/>
                <c:pt idx="0">
                  <c:v>1.53</c:v>
                </c:pt>
                <c:pt idx="1">
                  <c:v>6.2</c:v>
                </c:pt>
                <c:pt idx="2">
                  <c:v>9.54</c:v>
                </c:pt>
              </c:numCache>
            </c:numRef>
          </c:val>
        </c:ser>
        <c:ser>
          <c:idx val="1"/>
          <c:order val="1"/>
          <c:tx>
            <c:strRef>
              <c:f>Sheet1!$C$1</c:f>
              <c:strCache>
                <c:ptCount val="1"/>
                <c:pt idx="0">
                  <c:v>180 ml</c:v>
                </c:pt>
              </c:strCache>
            </c:strRef>
          </c:tx>
          <c:spPr>
            <a:solidFill>
              <a:srgbClr val="0B6FB8"/>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Sheet1!$C$2:$C$4</c:f>
              <c:numCache>
                <c:formatCode>General</c:formatCode>
                <c:ptCount val="3"/>
                <c:pt idx="0">
                  <c:v>2.87</c:v>
                </c:pt>
                <c:pt idx="1">
                  <c:v>10.21</c:v>
                </c:pt>
                <c:pt idx="2">
                  <c:v>14.87</c:v>
                </c:pt>
              </c:numCache>
            </c:numRef>
          </c:val>
        </c:ser>
        <c:ser>
          <c:idx val="2"/>
          <c:order val="2"/>
          <c:tx>
            <c:strRef>
              <c:f>Sheet1!$D$1</c:f>
              <c:strCache>
                <c:ptCount val="1"/>
                <c:pt idx="0">
                  <c:v>340 ml + PaniCheck</c:v>
                </c:pt>
              </c:strCache>
            </c:strRef>
          </c:tx>
          <c:spPr>
            <a:solidFill>
              <a:srgbClr val="141C52"/>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Sheet1!$D$2:$D$4</c:f>
              <c:numCache>
                <c:formatCode>General</c:formatCode>
                <c:ptCount val="3"/>
                <c:pt idx="0">
                  <c:v>3.71</c:v>
                </c:pt>
                <c:pt idx="1">
                  <c:v>12.09</c:v>
                </c:pt>
                <c:pt idx="2">
                  <c:v>16.96</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NPV without working-capital recovery (base +Tk 0.5 Cr), one change at a time</a:t>
            </a:r>
          </a:p>
        </c:rich>
      </c:tx>
      <c:layout/>
      <c:overlay val="0"/>
    </c:title>
    <c:autoTitleDeleted val="0"/>
    <c:plotArea>
      <c:layout/>
      <c:barChart>
        <c:barDir val="bar"/>
        <c:grouping val="clustered"/>
        <c:varyColors val="0"/>
        <c:ser>
          <c:idx val="0"/>
          <c:order val="0"/>
          <c:tx>
            <c:strRef>
              <c:f>Sheet1!$B$1</c:f>
              <c:strCache>
                <c:ptCount val="1"/>
                <c:pt idx="0">
                  <c:v>NPV, Tk Cr</c:v>
                </c:pt>
              </c:strCache>
            </c:strRef>
          </c:tx>
          <c:spPr>
            <a:solidFill>
              <a:srgbClr val="B4511F"/>
            </a:solidFill>
            <a:effectLst/>
          </c:spPr>
          <c:invertIfNegative val="0"/>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11F"/>
              </a:solidFill>
              <a:effectLst/>
            </c:spPr>
          </c:dPt>
          <c:dPt>
            <c:idx val="1"/>
            <c:invertIfNegative val="0"/>
            <c:bubble3D val="0"/>
            <c:spPr>
              <a:solidFill>
                <a:srgbClr val="B4511F"/>
              </a:solidFill>
              <a:effectLst/>
            </c:spPr>
          </c:dPt>
          <c:dPt>
            <c:idx val="2"/>
            <c:invertIfNegative val="0"/>
            <c:bubble3D val="0"/>
            <c:spPr>
              <a:solidFill>
                <a:srgbClr val="B4511F"/>
              </a:solidFill>
              <a:effectLst/>
            </c:spPr>
          </c:dPt>
          <c:dPt>
            <c:idx val="3"/>
            <c:invertIfNegative val="0"/>
            <c:bubble3D val="0"/>
            <c:spPr>
              <a:solidFill>
                <a:srgbClr val="B4511F"/>
              </a:solidFill>
              <a:effectLst/>
            </c:spPr>
          </c:dPt>
          <c:dPt>
            <c:idx val="4"/>
            <c:invertIfNegative val="0"/>
            <c:bubble3D val="0"/>
            <c:spPr>
              <a:solidFill>
                <a:srgbClr val="B4511F"/>
              </a:solidFill>
              <a:effectLst/>
            </c:spPr>
          </c:dPt>
          <c:dPt>
            <c:idx val="5"/>
            <c:invertIfNegative val="0"/>
            <c:bubble3D val="0"/>
            <c:spPr>
              <a:solidFill>
                <a:srgbClr val="B4511F"/>
              </a:solidFill>
              <a:effectLst/>
            </c:spPr>
          </c:dPt>
          <c:dPt>
            <c:idx val="6"/>
            <c:invertIfNegative val="0"/>
            <c:bubble3D val="0"/>
            <c:spPr>
              <a:solidFill>
                <a:srgbClr val="3E9B3A"/>
              </a:solidFill>
              <a:effectLst/>
            </c:spPr>
          </c:dPt>
          <c:cat>
            <c:multiLvlStrRef>
              <c:f>Sheet1!$A$2:$A$8</c:f>
              <c:multiLvlStrCache>
                <c:ptCount val="7"/>
                <c:lvl>
                  <c:pt idx="0">
                    <c:v>Cannibalisation 30%</c:v>
                  </c:pt>
                  <c:pt idx="1">
                    <c:v>COGS +8%</c:v>
                  </c:pt>
                  <c:pt idx="2">
                    <c:v>Price −5%</c:v>
                  </c:pt>
                  <c:pt idx="3">
                    <c:v>Volume −20%</c:v>
                  </c:pt>
                  <c:pt idx="4">
                    <c:v>Launch delay 3 months</c:v>
                  </c:pt>
                  <c:pt idx="5">
                    <c:v>Strip Tk 6 (vs Tk 3)</c:v>
                  </c:pt>
                  <c:pt idx="6">
                    <c:v>Volume +15%</c:v>
                  </c:pt>
                </c:lvl>
              </c:multiLvlStrCache>
            </c:multiLvlStrRef>
          </c:cat>
          <c:val>
            <c:numRef>
              <c:f>Sheet1!$B$2:$B$8</c:f>
              <c:numCache>
                <c:formatCode>General</c:formatCode>
                <c:ptCount val="7"/>
                <c:pt idx="0">
                  <c:v>-2.95</c:v>
                </c:pt>
                <c:pt idx="1">
                  <c:v>-2.76</c:v>
                </c:pt>
                <c:pt idx="2">
                  <c:v>-2.02</c:v>
                </c:pt>
                <c:pt idx="3">
                  <c:v>-1.46</c:v>
                </c:pt>
                <c:pt idx="4">
                  <c:v>-0.02</c:v>
                </c:pt>
                <c:pt idx="5">
                  <c:v>0.05</c:v>
                </c:pt>
                <c:pt idx="6">
                  <c:v>1.97</c:v>
                </c:pt>
              </c:numCache>
            </c:numRef>
          </c:val>
        </c:ser>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Is it your hair, or your water? WaterSmart is a Naturale shampoo that lets people test their water and then cleans away iron and hard-water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proposal on one page: a real water problem, a three-part product system, a strong Marico fit, and a business case that starts with a low-risk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wider than shampoo brands: workarounds and doing nothing are the real competition. Price per 100 ml is from real retailer listings on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national data: 2,926 of 3,530 sampled wells were flagged for iron or hardness. These are historical wells, which is exactly why the product puts a test in the user’s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survey results are self-reported from a convenience sample. Percentages show their actual bases. The Tk 360 figure is the proposed price and a threshold applied to Q20 recorded maximum acceptable prices; it is not observed purchase conversion. Collection channel was not recorded per respondent, so no invented online/offline distribution is shown. Product, water and foam testing remain pending. Published studies remain attributed to their authors.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working together: a formula that fixes the problem, a cap that reveals it, and a map that explains it. The 340 ml carries the strip; sachets carry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Launching under Naturale borrows its trust and distribution, which is why the launch budget is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bottom-up from outlets and units, then cross-checked against the category and against Marico’s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what the brand promises. The USP on the next slide is what makes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is the packaging innovation: like Extra Care’s root applicator, it turns the pack into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touchpoints carry the idea (testing water); surround touchpoints scale it. Campus activation reaches Movers where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 active outlets × units per outlet per month × months, as the Finance masterclass asks. Sachets give reach in rural grocers; the 340 ml with the strip drives value in cosmetics stores and modern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strip and the chelator are bought in. Everything else runs on capacity Marico expanded in FY26.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taka of revenue is net realisation, not MRP: the denominator judges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EBITDA is after cannibalisation, so the P&amp;L shows what Marico actually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and the tagline. The pilot caps the downside at the pre-launch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dministrator\Desktop\otw\Round2_Submission\deck\assets\otw_logo.png">    </p:cNvPr>
          <p:cNvPicPr>
            <a:picLocks noChangeAspect="1"/>
          </p:cNvPicPr>
          <p:nvPr/>
        </p:nvPicPr>
        <p:blipFill>
          <a:blip r:embed="rId1"/>
          <a:stretch>
            <a:fillRect/>
          </a:stretch>
        </p:blipFill>
        <p:spPr>
          <a:xfrm>
            <a:off x="10625328" y="201168"/>
            <a:ext cx="1243584" cy="587959"/>
          </a:xfrm>
          <a:prstGeom prst="rect">
            <a:avLst/>
          </a:prstGeom>
        </p:spPr>
      </p:pic>
      <p:sp>
        <p:nvSpPr>
          <p:cNvPr id="3"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5B6472"/>
                </a:solidFill>
              </a:rPr>
              <a:t>Parachute Naturale WaterSmart  ·  Team The Last BrainCell  ·  Over The Wall Season 5, Round 2</a:t>
            </a:r>
            <a:endParaRPr lang="en-US" sz="1000" dirty="0"/>
          </a:p>
        </p:txBody>
      </p:sp>
      <p:sp>
        <p:nvSpPr>
          <p:cNvPr id="4" name="Text 1"/>
          <p:cNvSpPr/>
          <p:nvPr>
            <p:ph idx="102" type="title" hasCustomPrompt="1"/>
          </p:nvPr>
        </p:nvSpPr>
        <p:spPr>
          <a:xfrm>
            <a:off x="548640" y="566928"/>
            <a:ext cx="9875520" cy="868680"/>
          </a:xfrm>
          <a:prstGeom prst="rect">
            <a:avLst/>
          </a:prstGeom>
          <a:noFill/>
          <a:ln/>
        </p:spPr>
        <p:txBody>
          <a:bodyPr wrap="square" rtlCol="0"/>
          <a:lstStyle>
            <a:lvl1pPr algn="l" indent="0" marL="0">
              <a:buNone/>
              <a:defRPr lang="en-US" sz="2600" b="1" dirty="0">
                <a:solidFill>
                  <a:srgbClr val="141C5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C52"/>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AEB6D9"/>
                </a:solidFill>
              </a:rPr>
              <a:t>Parachute Naturale WaterSmart  ·  Team The Last BrainCell  ·  Over The Wall Season 5, Round 2</a:t>
            </a:r>
            <a:endParaRPr lang="en-US" sz="1000" dirty="0"/>
          </a:p>
        </p:txBody>
      </p:sp>
      <p:sp>
        <p:nvSpPr>
          <p:cNvPr id="3" name="Text 1"/>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1C5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411480"/>
            <a:ext cx="5852160" cy="5852160"/>
          </a:xfrm>
          <a:prstGeom prst="ellipse">
            <a:avLst/>
          </a:prstGeom>
          <a:solidFill>
            <a:srgbClr val="12A5C4">
              <a:alpha val="16000"/>
            </a:srgbClr>
          </a:solidFill>
          <a:ln/>
        </p:spPr>
      </p:sp>
      <p:sp>
        <p:nvSpPr>
          <p:cNvPr id="3" name="Shape 1"/>
          <p:cNvSpPr/>
          <p:nvPr/>
        </p:nvSpPr>
        <p:spPr>
          <a:xfrm>
            <a:off x="8001000" y="1325880"/>
            <a:ext cx="4023360" cy="4023360"/>
          </a:xfrm>
          <a:prstGeom prst="ellipse">
            <a:avLst/>
          </a:prstGeom>
          <a:solidFill>
            <a:srgbClr val="12A5C4">
              <a:alpha val="28000"/>
            </a:srgbClr>
          </a:solidFill>
          <a:ln/>
        </p:spPr>
      </p:sp>
      <p:pic>
        <p:nvPicPr>
          <p:cNvPr id="4" name="Image 0" descr="C:\Users\Administrator\Desktop\otw\Round2_Submission\deck\assets\bottle340.png">    </p:cNvPr>
          <p:cNvPicPr>
            <a:picLocks noChangeAspect="1"/>
          </p:cNvPicPr>
          <p:nvPr/>
        </p:nvPicPr>
        <p:blipFill>
          <a:blip r:embed="rId1"/>
          <a:stretch>
            <a:fillRect/>
          </a:stretch>
        </p:blipFill>
        <p:spPr>
          <a:xfrm>
            <a:off x="8686800" y="640080"/>
            <a:ext cx="2639873" cy="5486400"/>
          </a:xfrm>
          <a:prstGeom prst="rect">
            <a:avLst/>
          </a:prstGeom>
        </p:spPr>
      </p:pic>
      <p:sp>
        <p:nvSpPr>
          <p:cNvPr id="5" name="Shape 2"/>
          <p:cNvSpPr/>
          <p:nvPr/>
        </p:nvSpPr>
        <p:spPr>
          <a:xfrm>
            <a:off x="548640" y="457200"/>
            <a:ext cx="2057400" cy="914400"/>
          </a:xfrm>
          <a:prstGeom prst="roundRect">
            <a:avLst>
              <a:gd name="adj" fmla="val 12000"/>
            </a:avLst>
          </a:prstGeom>
          <a:solidFill>
            <a:srgbClr val="FFFFFF"/>
          </a:solidFill>
          <a:ln/>
        </p:spPr>
      </p:sp>
      <p:pic>
        <p:nvPicPr>
          <p:cNvPr id="6" name="Image 1" descr="C:\Users\Administrator\Desktop\otw\Round2_Submission\deck\assets\otw_logo.png">    </p:cNvPr>
          <p:cNvPicPr>
            <a:picLocks noChangeAspect="1"/>
          </p:cNvPicPr>
          <p:nvPr/>
        </p:nvPicPr>
        <p:blipFill>
          <a:blip r:embed="rId2"/>
          <a:stretch>
            <a:fillRect/>
          </a:stretch>
        </p:blipFill>
        <p:spPr>
          <a:xfrm>
            <a:off x="731520" y="514807"/>
            <a:ext cx="1691640" cy="799186"/>
          </a:xfrm>
          <a:prstGeom prst="rect">
            <a:avLst/>
          </a:prstGeom>
        </p:spPr>
      </p:pic>
      <p:sp>
        <p:nvSpPr>
          <p:cNvPr id="7" name="Text 3"/>
          <p:cNvSpPr txBox="1"/>
          <p:nvPr/>
        </p:nvSpPr>
        <p:spPr>
          <a:xfrm>
            <a:off x="548640" y="1783080"/>
            <a:ext cx="7772400" cy="320040"/>
          </a:xfrm>
          <a:prstGeom prst="rect">
            <a:avLst/>
          </a:prstGeom>
          <a:noFill/>
          <a:ln/>
        </p:spPr>
        <p:txBody>
          <a:bodyPr wrap="square" lIns="0" tIns="0" rIns="0" bIns="0" rtlCol="0" anchor="t"/>
          <a:lstStyle/>
          <a:p>
            <a:pPr indent="0" marL="0">
              <a:buNone/>
            </a:pPr>
            <a:r>
              <a:rPr lang="en-US" sz="1300" b="1" spc="200" kern="0" dirty="0">
                <a:solidFill>
                  <a:srgbClr val="F5A31A"/>
                </a:solidFill>
              </a:rPr>
              <a:t>ROUND 2  ·  HAIR CLEANSING  ·  BUSINESS PROPOSAL</a:t>
            </a:r>
            <a:endParaRPr lang="en-US" sz="1300" dirty="0"/>
          </a:p>
        </p:txBody>
      </p:sp>
      <p:sp>
        <p:nvSpPr>
          <p:cNvPr id="8" name="Text 4"/>
          <p:cNvSpPr txBox="1"/>
          <p:nvPr/>
        </p:nvSpPr>
        <p:spPr>
          <a:xfrm>
            <a:off x="548640" y="2148840"/>
            <a:ext cx="7863840" cy="1691640"/>
          </a:xfrm>
          <a:prstGeom prst="rect">
            <a:avLst/>
          </a:prstGeom>
          <a:noFill/>
          <a:ln/>
        </p:spPr>
        <p:txBody>
          <a:bodyPr wrap="square" lIns="0" tIns="0" rIns="0" bIns="0" rtlCol="0" anchor="t"/>
          <a:lstStyle/>
          <a:p>
            <a:pPr indent="0" marL="0">
              <a:buNone/>
            </a:pPr>
            <a:r>
              <a:rPr lang="en-US" sz="3000" dirty="0">
                <a:solidFill>
                  <a:srgbClr val="C9D3F5"/>
                </a:solidFill>
              </a:rPr>
              <a:t>Parachute Naturale</a:t>
            </a:r>
            <a:endParaRPr lang="en-US" sz="1200" dirty="0"/>
          </a:p>
          <a:p>
            <a:pPr indent="0" marL="0">
              <a:buNone/>
            </a:pPr>
            <a:r>
              <a:rPr lang="en-US" sz="6600" b="1" dirty="0">
                <a:solidFill>
                  <a:srgbClr val="FFFFFF"/>
                </a:solidFill>
              </a:rPr>
              <a:t>WaterSmart</a:t>
            </a:r>
            <a:endParaRPr lang="en-US" sz="1200" dirty="0"/>
          </a:p>
        </p:txBody>
      </p:sp>
      <p:sp>
        <p:nvSpPr>
          <p:cNvPr id="9" name="Text 5"/>
          <p:cNvSpPr txBox="1"/>
          <p:nvPr/>
        </p:nvSpPr>
        <p:spPr>
          <a:xfrm>
            <a:off x="548640" y="3840480"/>
            <a:ext cx="7772400" cy="457200"/>
          </a:xfrm>
          <a:prstGeom prst="rect">
            <a:avLst/>
          </a:prstGeom>
          <a:noFill/>
          <a:ln/>
        </p:spPr>
        <p:txBody>
          <a:bodyPr wrap="square" lIns="0" tIns="0" rIns="0" bIns="0" rtlCol="0" anchor="t"/>
          <a:lstStyle/>
          <a:p>
            <a:pPr indent="0" marL="0">
              <a:buNone/>
            </a:pPr>
            <a:r>
              <a:rPr lang="en-US" sz="2400" dirty="0">
                <a:solidFill>
                  <a:srgbClr val="9FE3F2"/>
                </a:solidFill>
              </a:rPr>
              <a:t>The shampoo that checks your water first</a:t>
            </a:r>
            <a:endParaRPr lang="en-US" sz="2400" dirty="0"/>
          </a:p>
        </p:txBody>
      </p:sp>
      <p:sp>
        <p:nvSpPr>
          <p:cNvPr id="10" name="Text 6"/>
          <p:cNvSpPr txBox="1"/>
          <p:nvPr/>
        </p:nvSpPr>
        <p:spPr>
          <a:xfrm>
            <a:off x="548640" y="4434840"/>
            <a:ext cx="7772400" cy="640080"/>
          </a:xfrm>
          <a:prstGeom prst="rect">
            <a:avLst/>
          </a:prstGeom>
          <a:noFill/>
          <a:ln/>
        </p:spPr>
        <p:txBody>
          <a:bodyPr wrap="square" lIns="0" tIns="0" rIns="0" bIns="0" rtlCol="0" anchor="t"/>
          <a:lstStyle/>
          <a:p>
            <a:pPr indent="0" marL="0">
              <a:buNone/>
            </a:pPr>
            <a:r>
              <a:rPr lang="en-US" sz="3000" dirty="0">
                <a:solidFill>
                  <a:srgbClr val="FFFFFF"/>
                </a:solidFill>
                <a:latin typeface="Nirmala UI" pitchFamily="34" charset="0"/>
                <a:ea typeface="Nirmala UI" pitchFamily="34" charset="-122"/>
                <a:cs typeface="Nirmala UI" pitchFamily="34" charset="-120"/>
              </a:rPr>
              <a:t>দোষ কি চুলের, নাকি পানির?</a:t>
            </a:r>
            <a:endParaRPr lang="en-US" sz="3000" dirty="0"/>
          </a:p>
        </p:txBody>
      </p:sp>
      <p:sp>
        <p:nvSpPr>
          <p:cNvPr id="11" name="Text 7"/>
          <p:cNvSpPr txBox="1"/>
          <p:nvPr/>
        </p:nvSpPr>
        <p:spPr>
          <a:xfrm>
            <a:off x="548640" y="5074920"/>
            <a:ext cx="7315200" cy="365760"/>
          </a:xfrm>
          <a:prstGeom prst="rect">
            <a:avLst/>
          </a:prstGeom>
          <a:noFill/>
          <a:ln/>
        </p:spPr>
        <p:txBody>
          <a:bodyPr wrap="square" lIns="0" tIns="0" rIns="0" bIns="0" rtlCol="0" anchor="t"/>
          <a:lstStyle/>
          <a:p>
            <a:pPr indent="0" marL="0">
              <a:buNone/>
            </a:pPr>
            <a:r>
              <a:rPr lang="en-US" sz="1600" i="1" dirty="0">
                <a:solidFill>
                  <a:srgbClr val="C9D3F5"/>
                </a:solidFill>
              </a:rPr>
              <a:t>Is it your hair, or your water?</a:t>
            </a:r>
            <a:endParaRPr lang="en-US" sz="1600" dirty="0"/>
          </a:p>
        </p:txBody>
      </p:sp>
      <p:sp>
        <p:nvSpPr>
          <p:cNvPr id="12" name="Text 8"/>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rgbClr val="FFFFFF"/>
                </a:solidFill>
              </a:rPr>
              <a:t>Team The Last BrainCell</a:t>
            </a:r>
            <a:endParaRPr lang="en-US" sz="1800" dirty="0"/>
          </a:p>
        </p:txBody>
      </p:sp>
      <p:sp>
        <p:nvSpPr>
          <p:cNvPr id="13" name="Text 9"/>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200" dirty="0">
                <a:solidFill>
                  <a:srgbClr val="AEB6D9"/>
                </a:solidFill>
              </a:rPr>
              <a:t>Over The Wall Season 5  ·  Marico Bangladesh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EXECUTIVE SUMMARY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WaterSmart turns Bangladesh’s hard, iron-rich water into Naturale’s next growth platform</a:t>
            </a:r>
            <a:endParaRPr lang="en-US" sz="2600" dirty="0"/>
          </a:p>
        </p:txBody>
      </p:sp>
      <p:sp>
        <p:nvSpPr>
          <p:cNvPr id="4" name="Shape 2"/>
          <p:cNvSpPr/>
          <p:nvPr/>
        </p:nvSpPr>
        <p:spPr>
          <a:xfrm>
            <a:off x="548640" y="1600200"/>
            <a:ext cx="2615184" cy="3611880"/>
          </a:xfrm>
          <a:prstGeom prst="roundRect">
            <a:avLst>
              <a:gd name="adj" fmla="val 2797"/>
            </a:avLst>
          </a:prstGeom>
          <a:solidFill>
            <a:srgbClr val="F3F6FA"/>
          </a:solidFill>
          <a:ln/>
        </p:spPr>
      </p:sp>
      <p:sp>
        <p:nvSpPr>
          <p:cNvPr id="5" name="Shape 3"/>
          <p:cNvSpPr/>
          <p:nvPr/>
        </p:nvSpPr>
        <p:spPr>
          <a:xfrm>
            <a:off x="777240" y="1828800"/>
            <a:ext cx="566928" cy="566928"/>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984248"/>
            <a:ext cx="1563624" cy="274320"/>
          </a:xfrm>
          <a:prstGeom prst="rect">
            <a:avLst/>
          </a:prstGeom>
          <a:noFill/>
          <a:ln/>
        </p:spPr>
        <p:txBody>
          <a:bodyPr wrap="square" lIns="0" tIns="0" rIns="0" bIns="0" rtlCol="0" anchor="t"/>
          <a:lstStyle/>
          <a:p>
            <a:pPr indent="0" marL="0">
              <a:buNone/>
            </a:pPr>
            <a:r>
              <a:rPr lang="en-US" sz="1200" b="1" spc="100" kern="0" dirty="0">
                <a:solidFill>
                  <a:srgbClr val="B4511F"/>
                </a:solidFill>
              </a:rPr>
              <a:t>THE PROBLEM</a:t>
            </a:r>
            <a:endParaRPr lang="en-US" sz="1200" dirty="0"/>
          </a:p>
        </p:txBody>
      </p:sp>
      <p:sp>
        <p:nvSpPr>
          <p:cNvPr id="8" name="Text 5"/>
          <p:cNvSpPr txBox="1"/>
          <p:nvPr/>
        </p:nvSpPr>
        <p:spPr>
          <a:xfrm>
            <a:off x="777240"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83%</a:t>
            </a:r>
            <a:endParaRPr lang="en-US" sz="3800" dirty="0"/>
          </a:p>
        </p:txBody>
      </p:sp>
      <p:sp>
        <p:nvSpPr>
          <p:cNvPr id="9" name="Text 6"/>
          <p:cNvSpPr txBox="1"/>
          <p:nvPr/>
        </p:nvSpPr>
        <p:spPr>
          <a:xfrm>
            <a:off x="777240"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of 3,530 sampled wells exceeded iron or hardness screening levels (BGS/DPHE)</a:t>
            </a:r>
            <a:endParaRPr lang="en-US" sz="1200" dirty="0"/>
          </a:p>
        </p:txBody>
      </p:sp>
      <p:sp>
        <p:nvSpPr>
          <p:cNvPr id="10" name="Text 7"/>
          <p:cNvSpPr txBox="1"/>
          <p:nvPr/>
        </p:nvSpPr>
        <p:spPr>
          <a:xfrm>
            <a:off x="777240"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Minerals block lather and leave hair rough and dull. People who move city or water source notice it first.</a:t>
            </a:r>
            <a:endParaRPr lang="en-US" sz="1200" dirty="0"/>
          </a:p>
        </p:txBody>
      </p:sp>
      <p:sp>
        <p:nvSpPr>
          <p:cNvPr id="11" name="Shape 8"/>
          <p:cNvSpPr/>
          <p:nvPr/>
        </p:nvSpPr>
        <p:spPr>
          <a:xfrm>
            <a:off x="3374136" y="1600200"/>
            <a:ext cx="2615184" cy="3611880"/>
          </a:xfrm>
          <a:prstGeom prst="roundRect">
            <a:avLst>
              <a:gd name="adj" fmla="val 2797"/>
            </a:avLst>
          </a:prstGeom>
          <a:solidFill>
            <a:srgbClr val="F3F6FA"/>
          </a:solidFill>
          <a:ln/>
        </p:spPr>
      </p:sp>
      <p:sp>
        <p:nvSpPr>
          <p:cNvPr id="12" name="Shape 9"/>
          <p:cNvSpPr/>
          <p:nvPr/>
        </p:nvSpPr>
        <p:spPr>
          <a:xfrm>
            <a:off x="3602736" y="1828800"/>
            <a:ext cx="566928" cy="566928"/>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738799" y="1964863"/>
            <a:ext cx="294803" cy="294803"/>
          </a:xfrm>
          <a:prstGeom prst="rect">
            <a:avLst/>
          </a:prstGeom>
        </p:spPr>
      </p:pic>
      <p:sp>
        <p:nvSpPr>
          <p:cNvPr id="14" name="Text 10"/>
          <p:cNvSpPr txBox="1"/>
          <p:nvPr/>
        </p:nvSpPr>
        <p:spPr>
          <a:xfrm>
            <a:off x="4288536" y="1984248"/>
            <a:ext cx="1563624" cy="274320"/>
          </a:xfrm>
          <a:prstGeom prst="rect">
            <a:avLst/>
          </a:prstGeom>
          <a:noFill/>
          <a:ln/>
        </p:spPr>
        <p:txBody>
          <a:bodyPr wrap="square" lIns="0" tIns="0" rIns="0" bIns="0" rtlCol="0" anchor="t"/>
          <a:lstStyle/>
          <a:p>
            <a:pPr indent="0" marL="0">
              <a:buNone/>
            </a:pPr>
            <a:r>
              <a:rPr lang="en-US" sz="1200" b="1" spc="100" kern="0" dirty="0">
                <a:solidFill>
                  <a:srgbClr val="12A5C4"/>
                </a:solidFill>
              </a:rPr>
              <a:t>THE IDEA</a:t>
            </a:r>
            <a:endParaRPr lang="en-US" sz="1200" dirty="0"/>
          </a:p>
        </p:txBody>
      </p:sp>
      <p:sp>
        <p:nvSpPr>
          <p:cNvPr id="15" name="Text 11"/>
          <p:cNvSpPr txBox="1"/>
          <p:nvPr/>
        </p:nvSpPr>
        <p:spPr>
          <a:xfrm>
            <a:off x="3602736"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3-in-1</a:t>
            </a:r>
            <a:endParaRPr lang="en-US" sz="3800" dirty="0"/>
          </a:p>
        </p:txBody>
      </p:sp>
      <p:sp>
        <p:nvSpPr>
          <p:cNvPr id="16" name="Text 12"/>
          <p:cNvSpPr txBox="1"/>
          <p:nvPr/>
        </p:nvSpPr>
        <p:spPr>
          <a:xfrm>
            <a:off x="3602736"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chelating formula + PaniCheck cap + Pani Map</a:t>
            </a:r>
            <a:endParaRPr lang="en-US" sz="1200" dirty="0"/>
          </a:p>
        </p:txBody>
      </p:sp>
      <p:sp>
        <p:nvSpPr>
          <p:cNvPr id="17" name="Text 13"/>
          <p:cNvSpPr txBox="1"/>
          <p:nvPr/>
        </p:nvSpPr>
        <p:spPr>
          <a:xfrm>
            <a:off x="3602736"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A Naturale shampoo with a hardness test strip in every 340 ml cap and a QR code to your area’s water profile.</a:t>
            </a:r>
            <a:endParaRPr lang="en-US" sz="1200" dirty="0"/>
          </a:p>
        </p:txBody>
      </p:sp>
      <p:sp>
        <p:nvSpPr>
          <p:cNvPr id="18" name="Shape 14"/>
          <p:cNvSpPr/>
          <p:nvPr/>
        </p:nvSpPr>
        <p:spPr>
          <a:xfrm>
            <a:off x="6199632" y="1600200"/>
            <a:ext cx="2615184" cy="3611880"/>
          </a:xfrm>
          <a:prstGeom prst="roundRect">
            <a:avLst>
              <a:gd name="adj" fmla="val 2797"/>
            </a:avLst>
          </a:prstGeom>
          <a:solidFill>
            <a:srgbClr val="F3F6FA"/>
          </a:solidFill>
          <a:ln/>
        </p:spPr>
      </p:sp>
      <p:sp>
        <p:nvSpPr>
          <p:cNvPr id="19" name="Shape 15"/>
          <p:cNvSpPr/>
          <p:nvPr/>
        </p:nvSpPr>
        <p:spPr>
          <a:xfrm>
            <a:off x="6428232" y="1828800"/>
            <a:ext cx="566928" cy="566928"/>
          </a:xfrm>
          <a:prstGeom prst="ellipse">
            <a:avLst/>
          </a:prstGeom>
          <a:solidFill>
            <a:srgbClr val="0B6FB8"/>
          </a:solidFill>
          <a:ln/>
        </p:spPr>
      </p:sp>
      <p:pic>
        <p:nvPicPr>
          <p:cNvPr id="20" name="Image 2" descr="preencoded.png">    </p:cNvPr>
          <p:cNvPicPr>
            <a:picLocks noChangeAspect="1"/>
          </p:cNvPicPr>
          <p:nvPr/>
        </p:nvPicPr>
        <p:blipFill>
          <a:blip r:embed="rId3"/>
          <a:stretch>
            <a:fillRect/>
          </a:stretch>
        </p:blipFill>
        <p:spPr>
          <a:xfrm>
            <a:off x="6564295" y="1964863"/>
            <a:ext cx="294803" cy="294803"/>
          </a:xfrm>
          <a:prstGeom prst="rect">
            <a:avLst/>
          </a:prstGeom>
        </p:spPr>
      </p:pic>
      <p:sp>
        <p:nvSpPr>
          <p:cNvPr id="21" name="Text 16"/>
          <p:cNvSpPr txBox="1"/>
          <p:nvPr/>
        </p:nvSpPr>
        <p:spPr>
          <a:xfrm>
            <a:off x="7114032" y="1984248"/>
            <a:ext cx="1563624" cy="274320"/>
          </a:xfrm>
          <a:prstGeom prst="rect">
            <a:avLst/>
          </a:prstGeom>
          <a:noFill/>
          <a:ln/>
        </p:spPr>
        <p:txBody>
          <a:bodyPr wrap="square" lIns="0" tIns="0" rIns="0" bIns="0" rtlCol="0" anchor="t"/>
          <a:lstStyle/>
          <a:p>
            <a:pPr indent="0" marL="0">
              <a:buNone/>
            </a:pPr>
            <a:r>
              <a:rPr lang="en-US" sz="1200" b="1" spc="100" kern="0" dirty="0">
                <a:solidFill>
                  <a:srgbClr val="0B6FB8"/>
                </a:solidFill>
              </a:rPr>
              <a:t>WHY MARICO</a:t>
            </a:r>
            <a:endParaRPr lang="en-US" sz="1200" dirty="0"/>
          </a:p>
        </p:txBody>
      </p:sp>
      <p:sp>
        <p:nvSpPr>
          <p:cNvPr id="22" name="Text 17"/>
          <p:cNvSpPr txBox="1"/>
          <p:nvPr/>
        </p:nvSpPr>
        <p:spPr>
          <a:xfrm>
            <a:off x="6428232"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#2</a:t>
            </a:r>
            <a:endParaRPr lang="en-US" sz="3800" dirty="0"/>
          </a:p>
        </p:txBody>
      </p:sp>
      <p:sp>
        <p:nvSpPr>
          <p:cNvPr id="23" name="Text 18"/>
          <p:cNvSpPr txBox="1"/>
          <p:nvPr/>
        </p:nvSpPr>
        <p:spPr>
          <a:xfrm>
            <a:off x="6428232"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Naturale is the 2nd most penetrated shampoo brand in Bangladesh</a:t>
            </a:r>
            <a:endParaRPr lang="en-US" sz="1200" dirty="0"/>
          </a:p>
        </p:txBody>
      </p:sp>
      <p:sp>
        <p:nvSpPr>
          <p:cNvPr id="24" name="Text 19"/>
          <p:cNvSpPr txBox="1"/>
          <p:nvPr/>
        </p:nvSpPr>
        <p:spPr>
          <a:xfrm>
            <a:off x="6428232"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Made on existing Mouchak lines (+45% shampoo batch capacity in FY26) and sold through Naturale’s distribution.</a:t>
            </a:r>
            <a:endParaRPr lang="en-US" sz="1200" dirty="0"/>
          </a:p>
        </p:txBody>
      </p:sp>
      <p:sp>
        <p:nvSpPr>
          <p:cNvPr id="25" name="Shape 20"/>
          <p:cNvSpPr/>
          <p:nvPr/>
        </p:nvSpPr>
        <p:spPr>
          <a:xfrm>
            <a:off x="9025128" y="1600200"/>
            <a:ext cx="2615184" cy="3611880"/>
          </a:xfrm>
          <a:prstGeom prst="roundRect">
            <a:avLst>
              <a:gd name="adj" fmla="val 2797"/>
            </a:avLst>
          </a:prstGeom>
          <a:solidFill>
            <a:srgbClr val="F3F6FA"/>
          </a:solidFill>
          <a:ln/>
        </p:spPr>
      </p:sp>
      <p:sp>
        <p:nvSpPr>
          <p:cNvPr id="26" name="Shape 21"/>
          <p:cNvSpPr/>
          <p:nvPr/>
        </p:nvSpPr>
        <p:spPr>
          <a:xfrm>
            <a:off x="9253728" y="1828800"/>
            <a:ext cx="566928" cy="566928"/>
          </a:xfrm>
          <a:prstGeom prst="ellipse">
            <a:avLst/>
          </a:prstGeom>
          <a:solidFill>
            <a:srgbClr val="3E9B3A"/>
          </a:solidFill>
          <a:ln/>
        </p:spPr>
      </p:sp>
      <p:pic>
        <p:nvPicPr>
          <p:cNvPr id="27" name="Image 3" descr="preencoded.png">    </p:cNvPr>
          <p:cNvPicPr>
            <a:picLocks noChangeAspect="1"/>
          </p:cNvPicPr>
          <p:nvPr/>
        </p:nvPicPr>
        <p:blipFill>
          <a:blip r:embed="rId4"/>
          <a:stretch>
            <a:fillRect/>
          </a:stretch>
        </p:blipFill>
        <p:spPr>
          <a:xfrm>
            <a:off x="9389791" y="1964863"/>
            <a:ext cx="294803" cy="294803"/>
          </a:xfrm>
          <a:prstGeom prst="rect">
            <a:avLst/>
          </a:prstGeom>
        </p:spPr>
      </p:pic>
      <p:sp>
        <p:nvSpPr>
          <p:cNvPr id="28" name="Text 22"/>
          <p:cNvSpPr txBox="1"/>
          <p:nvPr/>
        </p:nvSpPr>
        <p:spPr>
          <a:xfrm>
            <a:off x="9939528" y="1984248"/>
            <a:ext cx="1563624" cy="274320"/>
          </a:xfrm>
          <a:prstGeom prst="rect">
            <a:avLst/>
          </a:prstGeom>
          <a:noFill/>
          <a:ln/>
        </p:spPr>
        <p:txBody>
          <a:bodyPr wrap="square" lIns="0" tIns="0" rIns="0" bIns="0" rtlCol="0" anchor="t"/>
          <a:lstStyle/>
          <a:p>
            <a:pPr indent="0" marL="0">
              <a:buNone/>
            </a:pPr>
            <a:r>
              <a:rPr lang="en-US" sz="1200" b="1" spc="100" kern="0" dirty="0">
                <a:solidFill>
                  <a:srgbClr val="3E9B3A"/>
                </a:solidFill>
              </a:rPr>
              <a:t>THE BUSINESS</a:t>
            </a:r>
            <a:endParaRPr lang="en-US" sz="1200" dirty="0"/>
          </a:p>
        </p:txBody>
      </p:sp>
      <p:sp>
        <p:nvSpPr>
          <p:cNvPr id="29" name="Text 23"/>
          <p:cNvSpPr txBox="1"/>
          <p:nvPr/>
        </p:nvSpPr>
        <p:spPr>
          <a:xfrm>
            <a:off x="9253728"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Tk 41 Cr</a:t>
            </a:r>
            <a:endParaRPr lang="en-US" sz="3800" dirty="0"/>
          </a:p>
        </p:txBody>
      </p:sp>
      <p:sp>
        <p:nvSpPr>
          <p:cNvPr id="30" name="Text 24"/>
          <p:cNvSpPr txBox="1"/>
          <p:nvPr/>
        </p:nvSpPr>
        <p:spPr>
          <a:xfrm>
            <a:off x="9253728"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Year-3 net revenue; EBITDA-positive from Year 2</a:t>
            </a:r>
            <a:endParaRPr lang="en-US" sz="1200" dirty="0"/>
          </a:p>
        </p:txBody>
      </p:sp>
      <p:sp>
        <p:nvSpPr>
          <p:cNvPr id="31" name="Text 25"/>
          <p:cNvSpPr txBox="1"/>
          <p:nvPr/>
        </p:nvSpPr>
        <p:spPr>
          <a:xfrm>
            <a:off x="9253728"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NPV +Tk 3.1 Cr and IRR 25% against a 15% hurdle. Peak funding Tk 9.8 Cr.</a:t>
            </a:r>
            <a:endParaRPr lang="en-US" sz="1200" dirty="0"/>
          </a:p>
        </p:txBody>
      </p:sp>
      <p:sp>
        <p:nvSpPr>
          <p:cNvPr id="32" name="Shape 26"/>
          <p:cNvSpPr/>
          <p:nvPr/>
        </p:nvSpPr>
        <p:spPr>
          <a:xfrm>
            <a:off x="548640" y="5376672"/>
            <a:ext cx="11091672" cy="566928"/>
          </a:xfrm>
          <a:prstGeom prst="roundRect">
            <a:avLst>
              <a:gd name="adj" fmla="val 12903"/>
            </a:avLst>
          </a:prstGeom>
          <a:solidFill>
            <a:srgbClr val="141C52"/>
          </a:solidFill>
          <a:ln/>
        </p:spPr>
      </p:sp>
      <p:sp>
        <p:nvSpPr>
          <p:cNvPr id="33" name="Text 27"/>
          <p:cNvSpPr txBox="1"/>
          <p:nvPr/>
        </p:nvSpPr>
        <p:spPr>
          <a:xfrm>
            <a:off x="777240" y="5376672"/>
            <a:ext cx="10698480" cy="566928"/>
          </a:xfrm>
          <a:prstGeom prst="rect">
            <a:avLst/>
          </a:prstGeom>
          <a:noFill/>
          <a:ln/>
        </p:spPr>
        <p:txBody>
          <a:bodyPr wrap="square" lIns="0" tIns="0" rIns="0" bIns="0" rtlCol="0" anchor="ctr"/>
          <a:lstStyle/>
          <a:p>
            <a:pPr indent="0" marL="0">
              <a:buNone/>
            </a:pPr>
            <a:r>
              <a:rPr lang="en-US" sz="1500" b="1" spc="100" kern="0" dirty="0">
                <a:solidFill>
                  <a:srgbClr val="F5A31A"/>
                </a:solidFill>
              </a:rPr>
              <a:t>OUR ASK   </a:t>
            </a:r>
            <a:pPr indent="0" marL="0">
              <a:buNone/>
            </a:pPr>
            <a:r>
              <a:rPr lang="en-US" sz="1500" dirty="0">
                <a:solidFill>
                  <a:srgbClr val="FFFFFF"/>
                </a:solidFill>
              </a:rPr>
              <a:t>Fund R&amp;D and a 6-month, 1,500-outlet pilot: Tk 3.5 Cr committed before the national go/no-go.</a:t>
            </a:r>
            <a:endParaRPr lang="en-US" sz="1500" dirty="0"/>
          </a:p>
        </p:txBody>
      </p:sp>
      <p:sp>
        <p:nvSpPr>
          <p:cNvPr id="34"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BGS &amp; DPHE (2001) national hydrochemical survey, team analysis; Marico Bangladesh Annual Report FY2025-26; team financial model v4 (planning assumptions, see Appendix A).</a:t>
            </a:r>
            <a:endParaRPr lang="en-US" sz="1000" dirty="0"/>
          </a:p>
        </p:txBody>
      </p:sp>
      <p:sp>
        <p:nvSpPr>
          <p:cNvPr id="3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COMPETITIVE LANDSCAPE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Every option fights for hair; none is built for the water</a:t>
            </a:r>
            <a:endParaRPr lang="en-US" sz="2600" dirty="0"/>
          </a:p>
        </p:txBody>
      </p:sp>
      <p:sp>
        <p:nvSpPr>
          <p:cNvPr id="4" name="Text 2"/>
          <p:cNvSpPr txBox="1"/>
          <p:nvPr/>
        </p:nvSpPr>
        <p:spPr>
          <a:xfrm>
            <a:off x="548640" y="1536192"/>
            <a:ext cx="5760720" cy="320040"/>
          </a:xfrm>
          <a:prstGeom prst="rect">
            <a:avLst/>
          </a:prstGeom>
          <a:noFill/>
          <a:ln/>
        </p:spPr>
        <p:txBody>
          <a:bodyPr wrap="square" lIns="0" tIns="0" rIns="0" bIns="0" rtlCol="0" anchor="t"/>
          <a:lstStyle/>
          <a:p>
            <a:pPr indent="0" marL="0">
              <a:buNone/>
            </a:pPr>
            <a:r>
              <a:rPr lang="en-US" sz="1400" b="1" dirty="0">
                <a:solidFill>
                  <a:srgbClr val="141C52"/>
                </a:solidFill>
              </a:rPr>
              <a:t>What someone with “bad-water hair” can choose today</a:t>
            </a:r>
            <a:endParaRPr lang="en-US" sz="1400" dirty="0"/>
          </a:p>
        </p:txBody>
      </p:sp>
      <p:sp>
        <p:nvSpPr>
          <p:cNvPr id="5" name="Shape 3"/>
          <p:cNvSpPr/>
          <p:nvPr/>
        </p:nvSpPr>
        <p:spPr>
          <a:xfrm>
            <a:off x="548640" y="1938528"/>
            <a:ext cx="5760720" cy="713232"/>
          </a:xfrm>
          <a:prstGeom prst="roundRect">
            <a:avLst>
              <a:gd name="adj" fmla="val 10256"/>
            </a:avLst>
          </a:prstGeom>
          <a:solidFill>
            <a:srgbClr val="F3F6FA"/>
          </a:solidFill>
          <a:ln/>
        </p:spPr>
      </p:sp>
      <p:sp>
        <p:nvSpPr>
          <p:cNvPr id="6" name="Shape 4"/>
          <p:cNvSpPr/>
          <p:nvPr/>
        </p:nvSpPr>
        <p:spPr>
          <a:xfrm>
            <a:off x="685800" y="2066544"/>
            <a:ext cx="457200" cy="457200"/>
          </a:xfrm>
          <a:prstGeom prst="ellipse">
            <a:avLst/>
          </a:prstGeom>
          <a:solidFill>
            <a:srgbClr val="141C52"/>
          </a:solidFill>
          <a:ln/>
        </p:spPr>
      </p:sp>
      <p:pic>
        <p:nvPicPr>
          <p:cNvPr id="7" name="Image 0" descr="preencoded.png">    </p:cNvPr>
          <p:cNvPicPr>
            <a:picLocks noChangeAspect="1"/>
          </p:cNvPicPr>
          <p:nvPr/>
        </p:nvPicPr>
        <p:blipFill>
          <a:blip r:embed="rId1"/>
          <a:stretch>
            <a:fillRect/>
          </a:stretch>
        </p:blipFill>
        <p:spPr>
          <a:xfrm>
            <a:off x="795528" y="2176272"/>
            <a:ext cx="237744" cy="237744"/>
          </a:xfrm>
          <a:prstGeom prst="rect">
            <a:avLst/>
          </a:prstGeom>
        </p:spPr>
      </p:pic>
      <p:sp>
        <p:nvSpPr>
          <p:cNvPr id="8" name="Text 5"/>
          <p:cNvSpPr txBox="1"/>
          <p:nvPr/>
        </p:nvSpPr>
        <p:spPr>
          <a:xfrm>
            <a:off x="1280160" y="2011680"/>
            <a:ext cx="2926080" cy="274320"/>
          </a:xfrm>
          <a:prstGeom prst="rect">
            <a:avLst/>
          </a:prstGeom>
          <a:noFill/>
          <a:ln/>
        </p:spPr>
        <p:txBody>
          <a:bodyPr wrap="square" lIns="0" tIns="0" rIns="0" bIns="0" rtlCol="0" anchor="t"/>
          <a:lstStyle/>
          <a:p>
            <a:pPr indent="0" marL="0">
              <a:buNone/>
            </a:pPr>
            <a:r>
              <a:rPr lang="en-US" sz="1300" b="1" dirty="0">
                <a:solidFill>
                  <a:srgbClr val="141C52"/>
                </a:solidFill>
              </a:rPr>
              <a:t>Mass shampoos</a:t>
            </a:r>
            <a:endParaRPr lang="en-US" sz="1300" dirty="0"/>
          </a:p>
        </p:txBody>
      </p:sp>
      <p:sp>
        <p:nvSpPr>
          <p:cNvPr id="9" name="Text 6"/>
          <p:cNvSpPr txBox="1"/>
          <p:nvPr/>
        </p:nvSpPr>
        <p:spPr>
          <a:xfrm>
            <a:off x="1280160" y="2276856"/>
            <a:ext cx="2971800" cy="347472"/>
          </a:xfrm>
          <a:prstGeom prst="rect">
            <a:avLst/>
          </a:prstGeom>
          <a:noFill/>
          <a:ln/>
        </p:spPr>
        <p:txBody>
          <a:bodyPr wrap="square" lIns="0" tIns="0" rIns="0" bIns="0" rtlCol="0" anchor="t"/>
          <a:lstStyle/>
          <a:p>
            <a:pPr indent="0" marL="0">
              <a:buNone/>
            </a:pPr>
            <a:r>
              <a:rPr lang="en-US" sz="1100" dirty="0">
                <a:solidFill>
                  <a:srgbClr val="5B6472"/>
                </a:solidFill>
              </a:rPr>
              <a:t>Sunsilk, Clinic Plus, Naturale, Pantene · Tk 83–103 per 100 ml</a:t>
            </a:r>
            <a:endParaRPr lang="en-US" sz="1100" dirty="0"/>
          </a:p>
        </p:txBody>
      </p:sp>
      <p:sp>
        <p:nvSpPr>
          <p:cNvPr id="10" name="Text 7"/>
          <p:cNvSpPr txBox="1"/>
          <p:nvPr/>
        </p:nvSpPr>
        <p:spPr>
          <a:xfrm>
            <a:off x="4343400" y="2011680"/>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Benefit-led, not built for minerals</a:t>
            </a:r>
            <a:endParaRPr lang="en-US" sz="1100" dirty="0"/>
          </a:p>
        </p:txBody>
      </p:sp>
      <p:sp>
        <p:nvSpPr>
          <p:cNvPr id="11" name="Shape 8"/>
          <p:cNvSpPr/>
          <p:nvPr/>
        </p:nvSpPr>
        <p:spPr>
          <a:xfrm>
            <a:off x="548640" y="2724912"/>
            <a:ext cx="5760720" cy="713232"/>
          </a:xfrm>
          <a:prstGeom prst="roundRect">
            <a:avLst>
              <a:gd name="adj" fmla="val 10256"/>
            </a:avLst>
          </a:prstGeom>
          <a:solidFill>
            <a:srgbClr val="F3F6FA"/>
          </a:solidFill>
          <a:ln/>
        </p:spPr>
      </p:sp>
      <p:sp>
        <p:nvSpPr>
          <p:cNvPr id="12" name="Shape 9"/>
          <p:cNvSpPr/>
          <p:nvPr/>
        </p:nvSpPr>
        <p:spPr>
          <a:xfrm>
            <a:off x="685800" y="2852928"/>
            <a:ext cx="457200" cy="457200"/>
          </a:xfrm>
          <a:prstGeom prst="ellipse">
            <a:avLst/>
          </a:prstGeom>
          <a:solidFill>
            <a:srgbClr val="141C52"/>
          </a:solidFill>
          <a:ln/>
        </p:spPr>
      </p:sp>
      <p:pic>
        <p:nvPicPr>
          <p:cNvPr id="13" name="Image 1" descr="preencoded.png">    </p:cNvPr>
          <p:cNvPicPr>
            <a:picLocks noChangeAspect="1"/>
          </p:cNvPicPr>
          <p:nvPr/>
        </p:nvPicPr>
        <p:blipFill>
          <a:blip r:embed="rId2"/>
          <a:stretch>
            <a:fillRect/>
          </a:stretch>
        </p:blipFill>
        <p:spPr>
          <a:xfrm>
            <a:off x="795528" y="2962656"/>
            <a:ext cx="237744" cy="237744"/>
          </a:xfrm>
          <a:prstGeom prst="rect">
            <a:avLst/>
          </a:prstGeom>
        </p:spPr>
      </p:pic>
      <p:sp>
        <p:nvSpPr>
          <p:cNvPr id="14" name="Text 10"/>
          <p:cNvSpPr txBox="1"/>
          <p:nvPr/>
        </p:nvSpPr>
        <p:spPr>
          <a:xfrm>
            <a:off x="1280160" y="2798064"/>
            <a:ext cx="2926080" cy="274320"/>
          </a:xfrm>
          <a:prstGeom prst="rect">
            <a:avLst/>
          </a:prstGeom>
          <a:noFill/>
          <a:ln/>
        </p:spPr>
        <p:txBody>
          <a:bodyPr wrap="square" lIns="0" tIns="0" rIns="0" bIns="0" rtlCol="0" anchor="t"/>
          <a:lstStyle/>
          <a:p>
            <a:pPr indent="0" marL="0">
              <a:buNone/>
            </a:pPr>
            <a:r>
              <a:rPr lang="en-US" sz="1300" b="1" dirty="0">
                <a:solidFill>
                  <a:srgbClr val="141C52"/>
                </a:solidFill>
              </a:rPr>
              <a:t>Premium and anti-dandruff</a:t>
            </a:r>
            <a:endParaRPr lang="en-US" sz="1300" dirty="0"/>
          </a:p>
        </p:txBody>
      </p:sp>
      <p:sp>
        <p:nvSpPr>
          <p:cNvPr id="15" name="Text 11"/>
          <p:cNvSpPr txBox="1"/>
          <p:nvPr/>
        </p:nvSpPr>
        <p:spPr>
          <a:xfrm>
            <a:off x="1280160" y="3063240"/>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Clear, Head &amp; Shoulders, L’Oréal · Tk 142–180 per 100 ml</a:t>
            </a:r>
            <a:endParaRPr lang="en-US" sz="1100" dirty="0"/>
          </a:p>
        </p:txBody>
      </p:sp>
      <p:sp>
        <p:nvSpPr>
          <p:cNvPr id="16" name="Text 12"/>
          <p:cNvSpPr txBox="1"/>
          <p:nvPr/>
        </p:nvSpPr>
        <p:spPr>
          <a:xfrm>
            <a:off x="4343400" y="2798064"/>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Costs more; same water problem</a:t>
            </a:r>
            <a:endParaRPr lang="en-US" sz="1100" dirty="0"/>
          </a:p>
        </p:txBody>
      </p:sp>
      <p:sp>
        <p:nvSpPr>
          <p:cNvPr id="17" name="Shape 13"/>
          <p:cNvSpPr/>
          <p:nvPr/>
        </p:nvSpPr>
        <p:spPr>
          <a:xfrm>
            <a:off x="548640" y="3511296"/>
            <a:ext cx="5760720" cy="713232"/>
          </a:xfrm>
          <a:prstGeom prst="roundRect">
            <a:avLst>
              <a:gd name="adj" fmla="val 10256"/>
            </a:avLst>
          </a:prstGeom>
          <a:solidFill>
            <a:srgbClr val="F3F6FA"/>
          </a:solidFill>
          <a:ln/>
        </p:spPr>
      </p:sp>
      <p:sp>
        <p:nvSpPr>
          <p:cNvPr id="18" name="Shape 14"/>
          <p:cNvSpPr/>
          <p:nvPr/>
        </p:nvSpPr>
        <p:spPr>
          <a:xfrm>
            <a:off x="685800" y="3639312"/>
            <a:ext cx="457200" cy="457200"/>
          </a:xfrm>
          <a:prstGeom prst="ellipse">
            <a:avLst/>
          </a:prstGeom>
          <a:solidFill>
            <a:srgbClr val="12A5C4"/>
          </a:solidFill>
          <a:ln/>
        </p:spPr>
      </p:sp>
      <p:pic>
        <p:nvPicPr>
          <p:cNvPr id="19" name="Image 2" descr="preencoded.png">    </p:cNvPr>
          <p:cNvPicPr>
            <a:picLocks noChangeAspect="1"/>
          </p:cNvPicPr>
          <p:nvPr/>
        </p:nvPicPr>
        <p:blipFill>
          <a:blip r:embed="rId3"/>
          <a:stretch>
            <a:fillRect/>
          </a:stretch>
        </p:blipFill>
        <p:spPr>
          <a:xfrm>
            <a:off x="795528" y="3749040"/>
            <a:ext cx="237744" cy="237744"/>
          </a:xfrm>
          <a:prstGeom prst="rect">
            <a:avLst/>
          </a:prstGeom>
        </p:spPr>
      </p:pic>
      <p:sp>
        <p:nvSpPr>
          <p:cNvPr id="20" name="Text 15"/>
          <p:cNvSpPr txBox="1"/>
          <p:nvPr/>
        </p:nvSpPr>
        <p:spPr>
          <a:xfrm>
            <a:off x="1280160" y="3584448"/>
            <a:ext cx="2926080" cy="274320"/>
          </a:xfrm>
          <a:prstGeom prst="rect">
            <a:avLst/>
          </a:prstGeom>
          <a:noFill/>
          <a:ln/>
        </p:spPr>
        <p:txBody>
          <a:bodyPr wrap="square" lIns="0" tIns="0" rIns="0" bIns="0" rtlCol="0" anchor="t"/>
          <a:lstStyle/>
          <a:p>
            <a:pPr indent="0" marL="0">
              <a:buNone/>
            </a:pPr>
            <a:r>
              <a:rPr lang="en-US" sz="1300" b="1" dirty="0">
                <a:solidFill>
                  <a:srgbClr val="141C52"/>
                </a:solidFill>
              </a:rPr>
              <a:t>Imported hard-water shampoos</a:t>
            </a:r>
            <a:endParaRPr lang="en-US" sz="1300" dirty="0"/>
          </a:p>
        </p:txBody>
      </p:sp>
      <p:sp>
        <p:nvSpPr>
          <p:cNvPr id="21" name="Text 16"/>
          <p:cNvSpPr txBox="1"/>
          <p:nvPr/>
        </p:nvSpPr>
        <p:spPr>
          <a:xfrm>
            <a:off x="1280160" y="3849624"/>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Hard Water Defense (Gulf), Malibu C, import listings</a:t>
            </a:r>
            <a:endParaRPr lang="en-US" sz="1100" dirty="0"/>
          </a:p>
        </p:txBody>
      </p:sp>
      <p:sp>
        <p:nvSpPr>
          <p:cNvPr id="22" name="Text 17"/>
          <p:cNvSpPr txBox="1"/>
          <p:nvPr/>
        </p:nvSpPr>
        <p:spPr>
          <a:xfrm>
            <a:off x="4343400" y="3584448"/>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Proves the need; import-priced, not in general trade</a:t>
            </a:r>
            <a:endParaRPr lang="en-US" sz="1100" dirty="0"/>
          </a:p>
        </p:txBody>
      </p:sp>
      <p:sp>
        <p:nvSpPr>
          <p:cNvPr id="23" name="Shape 18"/>
          <p:cNvSpPr/>
          <p:nvPr/>
        </p:nvSpPr>
        <p:spPr>
          <a:xfrm>
            <a:off x="548640" y="4297680"/>
            <a:ext cx="5760720" cy="713232"/>
          </a:xfrm>
          <a:prstGeom prst="roundRect">
            <a:avLst>
              <a:gd name="adj" fmla="val 10256"/>
            </a:avLst>
          </a:prstGeom>
          <a:solidFill>
            <a:srgbClr val="F3F6FA"/>
          </a:solidFill>
          <a:ln/>
        </p:spPr>
      </p:sp>
      <p:sp>
        <p:nvSpPr>
          <p:cNvPr id="24" name="Shape 19"/>
          <p:cNvSpPr/>
          <p:nvPr/>
        </p:nvSpPr>
        <p:spPr>
          <a:xfrm>
            <a:off x="685800" y="4425696"/>
            <a:ext cx="457200" cy="457200"/>
          </a:xfrm>
          <a:prstGeom prst="ellipse">
            <a:avLst/>
          </a:prstGeom>
          <a:solidFill>
            <a:srgbClr val="141C52"/>
          </a:solidFill>
          <a:ln/>
        </p:spPr>
      </p:sp>
      <p:pic>
        <p:nvPicPr>
          <p:cNvPr id="25" name="Image 3" descr="preencoded.png">    </p:cNvPr>
          <p:cNvPicPr>
            <a:picLocks noChangeAspect="1"/>
          </p:cNvPicPr>
          <p:nvPr/>
        </p:nvPicPr>
        <p:blipFill>
          <a:blip r:embed="rId4"/>
          <a:stretch>
            <a:fillRect/>
          </a:stretch>
        </p:blipFill>
        <p:spPr>
          <a:xfrm>
            <a:off x="795528" y="4535424"/>
            <a:ext cx="237744" cy="237744"/>
          </a:xfrm>
          <a:prstGeom prst="rect">
            <a:avLst/>
          </a:prstGeom>
        </p:spPr>
      </p:pic>
      <p:sp>
        <p:nvSpPr>
          <p:cNvPr id="26" name="Text 20"/>
          <p:cNvSpPr txBox="1"/>
          <p:nvPr/>
        </p:nvSpPr>
        <p:spPr>
          <a:xfrm>
            <a:off x="1280160" y="4370832"/>
            <a:ext cx="2926080" cy="274320"/>
          </a:xfrm>
          <a:prstGeom prst="rect">
            <a:avLst/>
          </a:prstGeom>
          <a:noFill/>
          <a:ln/>
        </p:spPr>
        <p:txBody>
          <a:bodyPr wrap="square" lIns="0" tIns="0" rIns="0" bIns="0" rtlCol="0" anchor="t"/>
          <a:lstStyle/>
          <a:p>
            <a:pPr indent="0" marL="0">
              <a:buNone/>
            </a:pPr>
            <a:r>
              <a:rPr lang="en-US" sz="1300" b="1" dirty="0">
                <a:solidFill>
                  <a:srgbClr val="141C52"/>
                </a:solidFill>
              </a:rPr>
              <a:t>Workarounds</a:t>
            </a:r>
            <a:endParaRPr lang="en-US" sz="1300" dirty="0"/>
          </a:p>
        </p:txBody>
      </p:sp>
      <p:sp>
        <p:nvSpPr>
          <p:cNvPr id="27" name="Text 21"/>
          <p:cNvSpPr txBox="1"/>
          <p:nvPr/>
        </p:nvSpPr>
        <p:spPr>
          <a:xfrm>
            <a:off x="1280160" y="4636008"/>
            <a:ext cx="2971800" cy="347472"/>
          </a:xfrm>
          <a:prstGeom prst="rect">
            <a:avLst/>
          </a:prstGeom>
          <a:noFill/>
          <a:ln/>
        </p:spPr>
        <p:txBody>
          <a:bodyPr wrap="square" lIns="0" tIns="0" rIns="0" bIns="0" rtlCol="0" anchor="t"/>
          <a:lstStyle/>
          <a:p>
            <a:pPr indent="0" marL="0">
              <a:buNone/>
            </a:pPr>
            <a:r>
              <a:rPr lang="en-US" sz="1100" dirty="0">
                <a:solidFill>
                  <a:srgbClr val="5B6472"/>
                </a:solidFill>
              </a:rPr>
              <a:t>More shampoo, hair oil, conditioner, bottled-water rinse, filters</a:t>
            </a:r>
            <a:endParaRPr lang="en-US" sz="1100" dirty="0"/>
          </a:p>
        </p:txBody>
      </p:sp>
      <p:sp>
        <p:nvSpPr>
          <p:cNvPr id="28" name="Text 22"/>
          <p:cNvSpPr txBox="1"/>
          <p:nvPr/>
        </p:nvSpPr>
        <p:spPr>
          <a:xfrm>
            <a:off x="4343400" y="4370832"/>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 more; treat symptoms only</a:t>
            </a:r>
            <a:endParaRPr lang="en-US" sz="1100" dirty="0"/>
          </a:p>
        </p:txBody>
      </p:sp>
      <p:sp>
        <p:nvSpPr>
          <p:cNvPr id="29" name="Shape 23"/>
          <p:cNvSpPr/>
          <p:nvPr/>
        </p:nvSpPr>
        <p:spPr>
          <a:xfrm>
            <a:off x="548640" y="5084064"/>
            <a:ext cx="5760720" cy="713232"/>
          </a:xfrm>
          <a:prstGeom prst="roundRect">
            <a:avLst>
              <a:gd name="adj" fmla="val 10256"/>
            </a:avLst>
          </a:prstGeom>
          <a:solidFill>
            <a:srgbClr val="F3F6FA"/>
          </a:solidFill>
          <a:ln/>
        </p:spPr>
      </p:sp>
      <p:sp>
        <p:nvSpPr>
          <p:cNvPr id="30" name="Shape 24"/>
          <p:cNvSpPr/>
          <p:nvPr/>
        </p:nvSpPr>
        <p:spPr>
          <a:xfrm>
            <a:off x="685800" y="5212080"/>
            <a:ext cx="457200" cy="457200"/>
          </a:xfrm>
          <a:prstGeom prst="ellipse">
            <a:avLst/>
          </a:prstGeom>
          <a:solidFill>
            <a:srgbClr val="141C52"/>
          </a:solidFill>
          <a:ln/>
        </p:spPr>
      </p:sp>
      <p:pic>
        <p:nvPicPr>
          <p:cNvPr id="31" name="Image 4" descr="preencoded.png">    </p:cNvPr>
          <p:cNvPicPr>
            <a:picLocks noChangeAspect="1"/>
          </p:cNvPicPr>
          <p:nvPr/>
        </p:nvPicPr>
        <p:blipFill>
          <a:blip r:embed="rId5"/>
          <a:stretch>
            <a:fillRect/>
          </a:stretch>
        </p:blipFill>
        <p:spPr>
          <a:xfrm>
            <a:off x="795528" y="5321808"/>
            <a:ext cx="237744" cy="237744"/>
          </a:xfrm>
          <a:prstGeom prst="rect">
            <a:avLst/>
          </a:prstGeom>
        </p:spPr>
      </p:pic>
      <p:sp>
        <p:nvSpPr>
          <p:cNvPr id="32" name="Text 25"/>
          <p:cNvSpPr txBox="1"/>
          <p:nvPr/>
        </p:nvSpPr>
        <p:spPr>
          <a:xfrm>
            <a:off x="1280160" y="5157216"/>
            <a:ext cx="2926080" cy="274320"/>
          </a:xfrm>
          <a:prstGeom prst="rect">
            <a:avLst/>
          </a:prstGeom>
          <a:noFill/>
          <a:ln/>
        </p:spPr>
        <p:txBody>
          <a:bodyPr wrap="square" lIns="0" tIns="0" rIns="0" bIns="0" rtlCol="0" anchor="t"/>
          <a:lstStyle/>
          <a:p>
            <a:pPr indent="0" marL="0">
              <a:buNone/>
            </a:pPr>
            <a:r>
              <a:rPr lang="en-US" sz="1300" b="1" dirty="0">
                <a:solidFill>
                  <a:srgbClr val="141C52"/>
                </a:solidFill>
              </a:rPr>
              <a:t>Do nothing</a:t>
            </a:r>
            <a:endParaRPr lang="en-US" sz="1300" dirty="0"/>
          </a:p>
        </p:txBody>
      </p:sp>
      <p:sp>
        <p:nvSpPr>
          <p:cNvPr id="33" name="Text 26"/>
          <p:cNvSpPr txBox="1"/>
          <p:nvPr/>
        </p:nvSpPr>
        <p:spPr>
          <a:xfrm>
            <a:off x="1280160" y="5422392"/>
            <a:ext cx="2971800" cy="347472"/>
          </a:xfrm>
          <a:prstGeom prst="rect">
            <a:avLst/>
          </a:prstGeom>
          <a:noFill/>
          <a:ln/>
        </p:spPr>
        <p:txBody>
          <a:bodyPr wrap="square" lIns="0" tIns="0" rIns="0" bIns="0" rtlCol="0" anchor="t"/>
          <a:lstStyle/>
          <a:p>
            <a:pPr indent="0" marL="0">
              <a:buNone/>
            </a:pPr>
            <a:r>
              <a:rPr lang="en-US" sz="1100" dirty="0">
                <a:solidFill>
                  <a:srgbClr val="5B6472"/>
                </a:solidFill>
              </a:rPr>
              <a:t>Live with rough, dull hair</a:t>
            </a:r>
            <a:endParaRPr lang="en-US" sz="1100" dirty="0"/>
          </a:p>
        </p:txBody>
      </p:sp>
      <p:sp>
        <p:nvSpPr>
          <p:cNvPr id="34" name="Text 27"/>
          <p:cNvSpPr txBox="1"/>
          <p:nvPr/>
        </p:nvSpPr>
        <p:spPr>
          <a:xfrm>
            <a:off x="4343400" y="5157216"/>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The biggest competitor</a:t>
            </a:r>
            <a:endParaRPr lang="en-US" sz="1100" dirty="0"/>
          </a:p>
        </p:txBody>
      </p:sp>
      <p:sp>
        <p:nvSpPr>
          <p:cNvPr id="35" name="Shape 28"/>
          <p:cNvSpPr/>
          <p:nvPr/>
        </p:nvSpPr>
        <p:spPr>
          <a:xfrm>
            <a:off x="6583680" y="1554480"/>
            <a:ext cx="5056632" cy="868680"/>
          </a:xfrm>
          <a:prstGeom prst="roundRect">
            <a:avLst>
              <a:gd name="adj" fmla="val 8421"/>
            </a:avLst>
          </a:prstGeom>
          <a:solidFill>
            <a:srgbClr val="141C52"/>
          </a:solidFill>
          <a:ln/>
        </p:spPr>
      </p:sp>
      <p:sp>
        <p:nvSpPr>
          <p:cNvPr id="36" name="Text 29"/>
          <p:cNvSpPr txBox="1"/>
          <p:nvPr/>
        </p:nvSpPr>
        <p:spPr>
          <a:xfrm>
            <a:off x="6784848" y="1609344"/>
            <a:ext cx="4663440" cy="777240"/>
          </a:xfrm>
          <a:prstGeom prst="rect">
            <a:avLst/>
          </a:prstGeom>
          <a:noFill/>
          <a:ln/>
        </p:spPr>
        <p:txBody>
          <a:bodyPr wrap="square" lIns="0" tIns="0" rIns="0" bIns="0" rtlCol="0" anchor="ctr"/>
          <a:lstStyle/>
          <a:p>
            <a:pPr indent="0" marL="0">
              <a:buNone/>
            </a:pPr>
            <a:r>
              <a:rPr lang="en-US" sz="2600" b="1" dirty="0">
                <a:solidFill>
                  <a:srgbClr val="FFFFFF"/>
                </a:solidFill>
              </a:rPr>
              <a:t>Tk ~2,150 Cr</a:t>
            </a:r>
            <a:endParaRPr lang="en-US" sz="1200" dirty="0"/>
          </a:p>
          <a:p>
            <a:pPr indent="0" marL="0">
              <a:buNone/>
            </a:pPr>
            <a:r>
              <a:rPr lang="en-US" sz="1100" dirty="0">
                <a:solidFill>
                  <a:srgbClr val="C9D3F5"/>
                </a:solidFill>
              </a:rPr>
              <a:t>Bangladesh shampoo market, 2026 estimate (USD 176M, Mordor Intelligence; Tk 122/USD)</a:t>
            </a:r>
            <a:endParaRPr lang="en-US" sz="1200" dirty="0"/>
          </a:p>
        </p:txBody>
      </p:sp>
      <p:graphicFrame>
        <p:nvGraphicFramePr>
          <p:cNvPr id="37" name="Chart 0" descr=""/>
          <p:cNvGraphicFramePr/>
          <p:nvPr/>
        </p:nvGraphicFramePr>
        <p:xfrm>
          <a:off x="6492240" y="2542032"/>
          <a:ext cx="5166360" cy="2788920"/>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583680" y="5394960"/>
            <a:ext cx="5056632" cy="548640"/>
          </a:xfrm>
          <a:prstGeom prst="rect">
            <a:avLst/>
          </a:prstGeom>
          <a:noFill/>
          <a:ln/>
        </p:spPr>
        <p:txBody>
          <a:bodyPr wrap="square" lIns="0" tIns="0" rIns="0" bIns="0" rtlCol="0" anchor="t"/>
          <a:lstStyle/>
          <a:p>
            <a:pPr indent="0" marL="0">
              <a:buNone/>
            </a:pPr>
            <a:r>
              <a:rPr lang="en-US" sz="1200" i="1" dirty="0">
                <a:solidFill>
                  <a:srgbClr val="141C52"/>
                </a:solidFill>
              </a:rPr>
              <a:t>Unilever already sells “Hard Water Defense” in the Gulf, so the need is proven abroad. We found no mass-priced option on the Bangladeshi e-retailers we checked.</a:t>
            </a:r>
            <a:endParaRPr lang="en-US" sz="1200" dirty="0"/>
          </a:p>
        </p:txBody>
      </p:sp>
      <p:sp>
        <p:nvSpPr>
          <p:cNvPr id="39" name="Text 31"/>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Chaldal and Arogga listings (accessed 9 Oct 2026, sale prices); Dove Arabia product page; Malibu C official site; Mordor Intelligence, Bangladesh Shampoo Market (2026 estimate).</a:t>
            </a:r>
            <a:endParaRPr lang="en-US" sz="1000" dirty="0"/>
          </a:p>
        </p:txBody>
      </p:sp>
      <p:sp>
        <p:nvSpPr>
          <p:cNvPr id="4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NEW OPPORTUNITIES IDENTIFICATION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The opportunity is in the water: in 58 of 61 sampled districts, most wells are iron-rich or hard</a:t>
            </a:r>
            <a:endParaRPr lang="en-US" sz="2600" dirty="0"/>
          </a:p>
        </p:txBody>
      </p:sp>
      <p:pic>
        <p:nvPicPr>
          <p:cNvPr id="4" name="Image 0" descr="C:\Users\Administrator\Desktop\otw\Round2_Submission\deck\assets\map.png">    </p:cNvPr>
          <p:cNvPicPr>
            <a:picLocks noChangeAspect="1"/>
          </p:cNvPicPr>
          <p:nvPr/>
        </p:nvPicPr>
        <p:blipFill>
          <a:blip r:embed="rId1"/>
          <a:stretch>
            <a:fillRect/>
          </a:stretch>
        </p:blipFill>
        <p:spPr>
          <a:xfrm>
            <a:off x="502920" y="1508760"/>
            <a:ext cx="3099816" cy="4343400"/>
          </a:xfrm>
          <a:prstGeom prst="rect">
            <a:avLst/>
          </a:prstGeom>
        </p:spPr>
      </p:pic>
      <p:sp>
        <p:nvSpPr>
          <p:cNvPr id="5" name="Text 2"/>
          <p:cNvSpPr txBox="1"/>
          <p:nvPr/>
        </p:nvSpPr>
        <p:spPr>
          <a:xfrm>
            <a:off x="2240280" y="1499616"/>
            <a:ext cx="1645920" cy="201168"/>
          </a:xfrm>
          <a:prstGeom prst="rect">
            <a:avLst/>
          </a:prstGeom>
          <a:noFill/>
          <a:ln/>
        </p:spPr>
        <p:txBody>
          <a:bodyPr wrap="square" lIns="0" tIns="0" rIns="0" bIns="0" rtlCol="0" anchor="t"/>
          <a:lstStyle/>
          <a:p>
            <a:pPr indent="0" marL="0">
              <a:buNone/>
            </a:pPr>
            <a:r>
              <a:rPr lang="en-US" sz="1000" b="1" dirty="0">
                <a:solidFill>
                  <a:srgbClr val="141C52"/>
                </a:solidFill>
              </a:rPr>
              <a:t>Share of wells flagged*</a:t>
            </a:r>
            <a:endParaRPr lang="en-US" sz="1000" dirty="0"/>
          </a:p>
        </p:txBody>
      </p:sp>
      <p:sp>
        <p:nvSpPr>
          <p:cNvPr id="6" name="Shape 3"/>
          <p:cNvSpPr/>
          <p:nvPr/>
        </p:nvSpPr>
        <p:spPr>
          <a:xfrm>
            <a:off x="2240280" y="1737360"/>
            <a:ext cx="137160" cy="109728"/>
          </a:xfrm>
          <a:prstGeom prst="rect">
            <a:avLst/>
          </a:prstGeom>
          <a:solidFill>
            <a:srgbClr val="8E3B12"/>
          </a:solidFill>
          <a:ln/>
        </p:spPr>
      </p:sp>
      <p:sp>
        <p:nvSpPr>
          <p:cNvPr id="7" name="Text 4"/>
          <p:cNvSpPr txBox="1"/>
          <p:nvPr/>
        </p:nvSpPr>
        <p:spPr>
          <a:xfrm>
            <a:off x="2432304" y="1709928"/>
            <a:ext cx="1188720" cy="164592"/>
          </a:xfrm>
          <a:prstGeom prst="rect">
            <a:avLst/>
          </a:prstGeom>
          <a:noFill/>
          <a:ln/>
        </p:spPr>
        <p:txBody>
          <a:bodyPr wrap="square" lIns="0" tIns="0" rIns="0" bIns="0" rtlCol="0" anchor="t"/>
          <a:lstStyle/>
          <a:p>
            <a:pPr indent="0" marL="0">
              <a:buNone/>
            </a:pPr>
            <a:r>
              <a:rPr lang="en-US" sz="1000" dirty="0">
                <a:solidFill>
                  <a:srgbClr val="1F2937"/>
                </a:solidFill>
              </a:rPr>
              <a:t>90% or more</a:t>
            </a:r>
            <a:endParaRPr lang="en-US" sz="1000" dirty="0"/>
          </a:p>
        </p:txBody>
      </p:sp>
      <p:sp>
        <p:nvSpPr>
          <p:cNvPr id="8" name="Shape 5"/>
          <p:cNvSpPr/>
          <p:nvPr/>
        </p:nvSpPr>
        <p:spPr>
          <a:xfrm>
            <a:off x="2240280" y="1892808"/>
            <a:ext cx="137160" cy="109728"/>
          </a:xfrm>
          <a:prstGeom prst="rect">
            <a:avLst/>
          </a:prstGeom>
          <a:solidFill>
            <a:srgbClr val="C8612A"/>
          </a:solidFill>
          <a:ln/>
        </p:spPr>
      </p:sp>
      <p:sp>
        <p:nvSpPr>
          <p:cNvPr id="9" name="Text 6"/>
          <p:cNvSpPr txBox="1"/>
          <p:nvPr/>
        </p:nvSpPr>
        <p:spPr>
          <a:xfrm>
            <a:off x="2432304" y="1865376"/>
            <a:ext cx="1188720" cy="164592"/>
          </a:xfrm>
          <a:prstGeom prst="rect">
            <a:avLst/>
          </a:prstGeom>
          <a:noFill/>
          <a:ln/>
        </p:spPr>
        <p:txBody>
          <a:bodyPr wrap="square" lIns="0" tIns="0" rIns="0" bIns="0" rtlCol="0" anchor="t"/>
          <a:lstStyle/>
          <a:p>
            <a:pPr indent="0" marL="0">
              <a:buNone/>
            </a:pPr>
            <a:r>
              <a:rPr lang="en-US" sz="1000" dirty="0">
                <a:solidFill>
                  <a:srgbClr val="1F2937"/>
                </a:solidFill>
              </a:rPr>
              <a:t>75–89%</a:t>
            </a:r>
            <a:endParaRPr lang="en-US" sz="1000" dirty="0"/>
          </a:p>
        </p:txBody>
      </p:sp>
      <p:sp>
        <p:nvSpPr>
          <p:cNvPr id="10" name="Shape 7"/>
          <p:cNvSpPr/>
          <p:nvPr/>
        </p:nvSpPr>
        <p:spPr>
          <a:xfrm>
            <a:off x="2240280" y="2048256"/>
            <a:ext cx="137160" cy="109728"/>
          </a:xfrm>
          <a:prstGeom prst="rect">
            <a:avLst/>
          </a:prstGeom>
          <a:solidFill>
            <a:srgbClr val="E9A06B"/>
          </a:solidFill>
          <a:ln/>
        </p:spPr>
      </p:sp>
      <p:sp>
        <p:nvSpPr>
          <p:cNvPr id="11" name="Text 8"/>
          <p:cNvSpPr txBox="1"/>
          <p:nvPr/>
        </p:nvSpPr>
        <p:spPr>
          <a:xfrm>
            <a:off x="2432304" y="2020824"/>
            <a:ext cx="1188720" cy="164592"/>
          </a:xfrm>
          <a:prstGeom prst="rect">
            <a:avLst/>
          </a:prstGeom>
          <a:noFill/>
          <a:ln/>
        </p:spPr>
        <p:txBody>
          <a:bodyPr wrap="square" lIns="0" tIns="0" rIns="0" bIns="0" rtlCol="0" anchor="t"/>
          <a:lstStyle/>
          <a:p>
            <a:pPr indent="0" marL="0">
              <a:buNone/>
            </a:pPr>
            <a:r>
              <a:rPr lang="en-US" sz="1000" dirty="0">
                <a:solidFill>
                  <a:srgbClr val="1F2937"/>
                </a:solidFill>
              </a:rPr>
              <a:t>50–74%</a:t>
            </a:r>
            <a:endParaRPr lang="en-US" sz="1000" dirty="0"/>
          </a:p>
        </p:txBody>
      </p:sp>
      <p:sp>
        <p:nvSpPr>
          <p:cNvPr id="12" name="Shape 9"/>
          <p:cNvSpPr/>
          <p:nvPr/>
        </p:nvSpPr>
        <p:spPr>
          <a:xfrm>
            <a:off x="2240280" y="2203704"/>
            <a:ext cx="137160" cy="109728"/>
          </a:xfrm>
          <a:prstGeom prst="rect">
            <a:avLst/>
          </a:prstGeom>
          <a:solidFill>
            <a:srgbClr val="F6DCC4"/>
          </a:solidFill>
          <a:ln/>
        </p:spPr>
      </p:sp>
      <p:sp>
        <p:nvSpPr>
          <p:cNvPr id="13" name="Text 10"/>
          <p:cNvSpPr txBox="1"/>
          <p:nvPr/>
        </p:nvSpPr>
        <p:spPr>
          <a:xfrm>
            <a:off x="2432304" y="2176272"/>
            <a:ext cx="1188720" cy="164592"/>
          </a:xfrm>
          <a:prstGeom prst="rect">
            <a:avLst/>
          </a:prstGeom>
          <a:noFill/>
          <a:ln/>
        </p:spPr>
        <p:txBody>
          <a:bodyPr wrap="square" lIns="0" tIns="0" rIns="0" bIns="0" rtlCol="0" anchor="t"/>
          <a:lstStyle/>
          <a:p>
            <a:pPr indent="0" marL="0">
              <a:buNone/>
            </a:pPr>
            <a:r>
              <a:rPr lang="en-US" sz="1000" dirty="0">
                <a:solidFill>
                  <a:srgbClr val="1F2937"/>
                </a:solidFill>
              </a:rPr>
              <a:t>Under 50%</a:t>
            </a:r>
            <a:endParaRPr lang="en-US" sz="1000" dirty="0"/>
          </a:p>
        </p:txBody>
      </p:sp>
      <p:sp>
        <p:nvSpPr>
          <p:cNvPr id="14" name="Shape 11"/>
          <p:cNvSpPr/>
          <p:nvPr/>
        </p:nvSpPr>
        <p:spPr>
          <a:xfrm>
            <a:off x="2240280" y="2359152"/>
            <a:ext cx="137160" cy="109728"/>
          </a:xfrm>
          <a:prstGeom prst="rect">
            <a:avLst/>
          </a:prstGeom>
          <a:solidFill>
            <a:srgbClr val="D9DEE5"/>
          </a:solidFill>
          <a:ln/>
        </p:spPr>
      </p:sp>
      <p:sp>
        <p:nvSpPr>
          <p:cNvPr id="15" name="Text 12"/>
          <p:cNvSpPr txBox="1"/>
          <p:nvPr/>
        </p:nvSpPr>
        <p:spPr>
          <a:xfrm>
            <a:off x="2432304" y="2331720"/>
            <a:ext cx="1188720" cy="164592"/>
          </a:xfrm>
          <a:prstGeom prst="rect">
            <a:avLst/>
          </a:prstGeom>
          <a:noFill/>
          <a:ln/>
        </p:spPr>
        <p:txBody>
          <a:bodyPr wrap="square" lIns="0" tIns="0" rIns="0" bIns="0" rtlCol="0" anchor="t"/>
          <a:lstStyle/>
          <a:p>
            <a:pPr indent="0" marL="0">
              <a:buNone/>
            </a:pPr>
            <a:r>
              <a:rPr lang="en-US" sz="1000" dirty="0">
                <a:solidFill>
                  <a:srgbClr val="1F2937"/>
                </a:solidFill>
              </a:rPr>
              <a:t>Not sampled</a:t>
            </a:r>
            <a:endParaRPr lang="en-US" sz="1000" dirty="0"/>
          </a:p>
        </p:txBody>
      </p:sp>
      <p:sp>
        <p:nvSpPr>
          <p:cNvPr id="16" name="Shape 13"/>
          <p:cNvSpPr/>
          <p:nvPr/>
        </p:nvSpPr>
        <p:spPr>
          <a:xfrm>
            <a:off x="3931920" y="1554480"/>
            <a:ext cx="3749040" cy="1325880"/>
          </a:xfrm>
          <a:prstGeom prst="roundRect">
            <a:avLst>
              <a:gd name="adj" fmla="val 5517"/>
            </a:avLst>
          </a:prstGeom>
          <a:solidFill>
            <a:srgbClr val="FBEDE3"/>
          </a:solidFill>
          <a:ln/>
        </p:spPr>
      </p:sp>
      <p:sp>
        <p:nvSpPr>
          <p:cNvPr id="17" name="Text 14"/>
          <p:cNvSpPr txBox="1"/>
          <p:nvPr/>
        </p:nvSpPr>
        <p:spPr>
          <a:xfrm>
            <a:off x="4114800"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65%</a:t>
            </a:r>
            <a:endParaRPr lang="en-US" sz="3400" dirty="0"/>
          </a:p>
        </p:txBody>
      </p:sp>
      <p:sp>
        <p:nvSpPr>
          <p:cNvPr id="18" name="Text 15"/>
          <p:cNvSpPr txBox="1"/>
          <p:nvPr/>
        </p:nvSpPr>
        <p:spPr>
          <a:xfrm>
            <a:off x="5760720"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of 3,530 wells had iron above 0.3 mg/L, the level that stains buckets and tastes metallic</a:t>
            </a:r>
            <a:endParaRPr lang="en-US" sz="1200" dirty="0"/>
          </a:p>
        </p:txBody>
      </p:sp>
      <p:sp>
        <p:nvSpPr>
          <p:cNvPr id="19" name="Shape 16"/>
          <p:cNvSpPr/>
          <p:nvPr/>
        </p:nvSpPr>
        <p:spPr>
          <a:xfrm>
            <a:off x="7891272" y="1554480"/>
            <a:ext cx="3749040" cy="1325880"/>
          </a:xfrm>
          <a:prstGeom prst="roundRect">
            <a:avLst>
              <a:gd name="adj" fmla="val 5517"/>
            </a:avLst>
          </a:prstGeom>
          <a:solidFill>
            <a:srgbClr val="FBEDE3"/>
          </a:solidFill>
          <a:ln/>
        </p:spPr>
      </p:sp>
      <p:sp>
        <p:nvSpPr>
          <p:cNvPr id="20" name="Text 17"/>
          <p:cNvSpPr txBox="1"/>
          <p:nvPr/>
        </p:nvSpPr>
        <p:spPr>
          <a:xfrm>
            <a:off x="8074152"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58%</a:t>
            </a:r>
            <a:endParaRPr lang="en-US" sz="3400" dirty="0"/>
          </a:p>
        </p:txBody>
      </p:sp>
      <p:sp>
        <p:nvSpPr>
          <p:cNvPr id="21" name="Text 18"/>
          <p:cNvSpPr txBox="1"/>
          <p:nvPr/>
        </p:nvSpPr>
        <p:spPr>
          <a:xfrm>
            <a:off x="9720072"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were hard or very hard: above 120 mg/L as CaCO₃ (USGS classes)</a:t>
            </a:r>
            <a:endParaRPr lang="en-US" sz="1200" dirty="0"/>
          </a:p>
        </p:txBody>
      </p:sp>
      <p:sp>
        <p:nvSpPr>
          <p:cNvPr id="22" name="Shape 19"/>
          <p:cNvSpPr/>
          <p:nvPr/>
        </p:nvSpPr>
        <p:spPr>
          <a:xfrm>
            <a:off x="3931920" y="3017520"/>
            <a:ext cx="3749040" cy="1325880"/>
          </a:xfrm>
          <a:prstGeom prst="roundRect">
            <a:avLst>
              <a:gd name="adj" fmla="val 5517"/>
            </a:avLst>
          </a:prstGeom>
          <a:solidFill>
            <a:srgbClr val="FBEDE3"/>
          </a:solidFill>
          <a:ln/>
        </p:spPr>
      </p:sp>
      <p:sp>
        <p:nvSpPr>
          <p:cNvPr id="23" name="Text 20"/>
          <p:cNvSpPr txBox="1"/>
          <p:nvPr/>
        </p:nvSpPr>
        <p:spPr>
          <a:xfrm>
            <a:off x="4114800"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 of 12</a:t>
            </a:r>
            <a:endParaRPr lang="en-US" sz="3400" dirty="0"/>
          </a:p>
        </p:txBody>
      </p:sp>
      <p:sp>
        <p:nvSpPr>
          <p:cNvPr id="24" name="Text 21"/>
          <p:cNvSpPr txBox="1"/>
          <p:nvPr/>
        </p:nvSpPr>
        <p:spPr>
          <a:xfrm>
            <a:off x="5760720"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Dhaka tap locations tested hard in a 2025 study, up to 300 mg/L at Amin Bazar</a:t>
            </a:r>
            <a:endParaRPr lang="en-US" sz="1200" dirty="0"/>
          </a:p>
        </p:txBody>
      </p:sp>
      <p:sp>
        <p:nvSpPr>
          <p:cNvPr id="25" name="Shape 22"/>
          <p:cNvSpPr/>
          <p:nvPr/>
        </p:nvSpPr>
        <p:spPr>
          <a:xfrm>
            <a:off x="7891272" y="3017520"/>
            <a:ext cx="3749040" cy="1325880"/>
          </a:xfrm>
          <a:prstGeom prst="roundRect">
            <a:avLst>
              <a:gd name="adj" fmla="val 5517"/>
            </a:avLst>
          </a:prstGeom>
          <a:solidFill>
            <a:srgbClr val="FBEDE3"/>
          </a:solidFill>
          <a:ln/>
        </p:spPr>
      </p:sp>
      <p:sp>
        <p:nvSpPr>
          <p:cNvPr id="26" name="Text 23"/>
          <p:cNvSpPr txBox="1"/>
          <p:nvPr/>
        </p:nvSpPr>
        <p:spPr>
          <a:xfrm>
            <a:off x="8074152"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 of 5</a:t>
            </a:r>
            <a:endParaRPr lang="en-US" sz="3400" dirty="0"/>
          </a:p>
        </p:txBody>
      </p:sp>
      <p:sp>
        <p:nvSpPr>
          <p:cNvPr id="27" name="Text 24"/>
          <p:cNvSpPr txBox="1"/>
          <p:nvPr/>
        </p:nvSpPr>
        <p:spPr>
          <a:xfrm>
            <a:off x="9720072"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largest division districts are majority-flagged: Dhaka 76%, Chattogram 86%, Rajshahi 94%, Khulna 96%, Sylhet 91%</a:t>
            </a:r>
            <a:endParaRPr lang="en-US" sz="1200" dirty="0"/>
          </a:p>
        </p:txBody>
      </p:sp>
      <p:sp>
        <p:nvSpPr>
          <p:cNvPr id="28" name="Shape 25"/>
          <p:cNvSpPr/>
          <p:nvPr/>
        </p:nvSpPr>
        <p:spPr>
          <a:xfrm>
            <a:off x="3931920" y="4526280"/>
            <a:ext cx="2331720" cy="868680"/>
          </a:xfrm>
          <a:prstGeom prst="roundRect">
            <a:avLst>
              <a:gd name="adj" fmla="val 8421"/>
            </a:avLst>
          </a:prstGeom>
          <a:solidFill>
            <a:srgbClr val="FBEDE3"/>
          </a:solidFill>
          <a:ln/>
        </p:spPr>
      </p:sp>
      <p:sp>
        <p:nvSpPr>
          <p:cNvPr id="29" name="Text 26"/>
          <p:cNvSpPr txBox="1"/>
          <p:nvPr/>
        </p:nvSpPr>
        <p:spPr>
          <a:xfrm>
            <a:off x="406908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Calcium, magnesium and iron deposit on hair and tie up shampoo surfactant</a:t>
            </a:r>
            <a:endParaRPr lang="en-US" sz="1200" dirty="0"/>
          </a:p>
        </p:txBody>
      </p:sp>
      <p:sp>
        <p:nvSpPr>
          <p:cNvPr id="30" name="Shape 27"/>
          <p:cNvSpPr/>
          <p:nvPr/>
        </p:nvSpPr>
        <p:spPr>
          <a:xfrm>
            <a:off x="6309360" y="4818888"/>
            <a:ext cx="274320" cy="274320"/>
          </a:xfrm>
          <a:prstGeom prst="rightArrow">
            <a:avLst/>
          </a:prstGeom>
          <a:solidFill>
            <a:srgbClr val="A7B0BE"/>
          </a:solidFill>
          <a:ln/>
        </p:spPr>
      </p:sp>
      <p:sp>
        <p:nvSpPr>
          <p:cNvPr id="31" name="Shape 28"/>
          <p:cNvSpPr/>
          <p:nvPr/>
        </p:nvSpPr>
        <p:spPr>
          <a:xfrm>
            <a:off x="6583680" y="4526280"/>
            <a:ext cx="2331720" cy="868680"/>
          </a:xfrm>
          <a:prstGeom prst="roundRect">
            <a:avLst>
              <a:gd name="adj" fmla="val 8421"/>
            </a:avLst>
          </a:prstGeom>
          <a:solidFill>
            <a:srgbClr val="FBEDE3"/>
          </a:solidFill>
          <a:ln/>
        </p:spPr>
      </p:sp>
      <p:sp>
        <p:nvSpPr>
          <p:cNvPr id="32" name="Text 29"/>
          <p:cNvSpPr txBox="1"/>
          <p:nvPr/>
        </p:nvSpPr>
        <p:spPr>
          <a:xfrm>
            <a:off x="672084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Less lather, a rough or dull feel, and more shampoo used per wash</a:t>
            </a:r>
            <a:endParaRPr lang="en-US" sz="1200" dirty="0"/>
          </a:p>
        </p:txBody>
      </p:sp>
      <p:sp>
        <p:nvSpPr>
          <p:cNvPr id="33" name="Shape 30"/>
          <p:cNvSpPr/>
          <p:nvPr/>
        </p:nvSpPr>
        <p:spPr>
          <a:xfrm>
            <a:off x="8961120" y="4818888"/>
            <a:ext cx="274320" cy="274320"/>
          </a:xfrm>
          <a:prstGeom prst="rightArrow">
            <a:avLst/>
          </a:prstGeom>
          <a:solidFill>
            <a:srgbClr val="A7B0BE"/>
          </a:solidFill>
          <a:ln/>
        </p:spPr>
      </p:sp>
      <p:sp>
        <p:nvSpPr>
          <p:cNvPr id="34" name="Shape 31"/>
          <p:cNvSpPr/>
          <p:nvPr/>
        </p:nvSpPr>
        <p:spPr>
          <a:xfrm>
            <a:off x="9235440" y="4526280"/>
            <a:ext cx="2331720" cy="868680"/>
          </a:xfrm>
          <a:prstGeom prst="roundRect">
            <a:avLst>
              <a:gd name="adj" fmla="val 8421"/>
            </a:avLst>
          </a:prstGeom>
          <a:solidFill>
            <a:srgbClr val="E3F5FA"/>
          </a:solidFill>
          <a:ln/>
        </p:spPr>
      </p:sp>
      <p:sp>
        <p:nvSpPr>
          <p:cNvPr id="35" name="Text 32"/>
          <p:cNvSpPr txBox="1"/>
          <p:nvPr/>
        </p:nvSpPr>
        <p:spPr>
          <a:xfrm>
            <a:off x="9372600" y="4526280"/>
            <a:ext cx="2057400" cy="868680"/>
          </a:xfrm>
          <a:prstGeom prst="rect">
            <a:avLst/>
          </a:prstGeom>
          <a:noFill/>
          <a:ln/>
        </p:spPr>
        <p:txBody>
          <a:bodyPr wrap="square" lIns="0" tIns="0" rIns="0" bIns="0" rtlCol="0" anchor="ctr"/>
          <a:lstStyle/>
          <a:p>
            <a:pPr indent="0" marL="0">
              <a:buNone/>
            </a:pPr>
            <a:r>
              <a:rPr lang="en-US" sz="1200" b="1" dirty="0">
                <a:solidFill>
                  <a:srgbClr val="1F2937"/>
                </a:solidFill>
              </a:rPr>
              <a:t>A chelator (GLDA) locks the minerals so they rinse away</a:t>
            </a:r>
            <a:endParaRPr lang="en-US" sz="1200" dirty="0"/>
          </a:p>
        </p:txBody>
      </p:sp>
      <p:sp>
        <p:nvSpPr>
          <p:cNvPr id="36" name="Shape 33"/>
          <p:cNvSpPr/>
          <p:nvPr/>
        </p:nvSpPr>
        <p:spPr>
          <a:xfrm>
            <a:off x="3931920" y="5504688"/>
            <a:ext cx="7708392" cy="438912"/>
          </a:xfrm>
          <a:prstGeom prst="roundRect">
            <a:avLst>
              <a:gd name="adj" fmla="val 16667"/>
            </a:avLst>
          </a:prstGeom>
          <a:solidFill>
            <a:srgbClr val="FFF4E0"/>
          </a:solidFill>
          <a:ln w="19050">
            <a:solidFill>
              <a:srgbClr val="F5A31A"/>
            </a:solidFill>
            <a:prstDash val="dash"/>
          </a:ln>
        </p:spPr>
      </p:sp>
      <p:sp>
        <p:nvSpPr>
          <p:cNvPr id="37" name="Text 34"/>
          <p:cNvSpPr txBox="1"/>
          <p:nvPr/>
        </p:nvSpPr>
        <p:spPr>
          <a:xfrm>
            <a:off x="4096512" y="5632704"/>
            <a:ext cx="7379208" cy="182880"/>
          </a:xfrm>
          <a:prstGeom prst="rect">
            <a:avLst/>
          </a:prstGeom>
          <a:noFill/>
          <a:ln/>
        </p:spPr>
        <p:txBody>
          <a:bodyPr wrap="square" lIns="0" tIns="0" rIns="0" bIns="0" rtlCol="0" anchor="t"/>
          <a:lstStyle/>
          <a:p>
            <a:pPr indent="0" marL="0">
              <a:buNone/>
            </a:pPr>
            <a:r>
              <a:rPr lang="en-US" sz="1100" b="1" spc="100" kern="0" dirty="0">
                <a:solidFill>
                  <a:srgbClr val="B26B00"/>
                </a:solidFill>
              </a:rPr>
              <a:t>OUR TEST [date]:  hall tap water  [ ] mg/L hardness  ·  [ ] mg/L iron  ·  TDS [ ] ppm</a:t>
            </a:r>
            <a:endParaRPr lang="en-US" sz="1200" dirty="0"/>
          </a:p>
        </p:txBody>
      </p:sp>
      <p:sp>
        <p:nvSpPr>
          <p:cNvPr id="38" name="Text 3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*Iron &gt;0.3 mg/L or hardness &gt;120 mg/L. BGS &amp; DPHE (2001): 3,534 wells sampled 1998–99, team analysis (historical wells, not today’s taps). ICCEI 2025 Dhaka tap study; USGS hardness classes; US EPA iron guideline 0.3 mg/L.</a:t>
            </a:r>
            <a:endParaRPr lang="en-US" sz="1000" dirty="0"/>
          </a:p>
        </p:txBody>
      </p:sp>
      <p:sp>
        <p:nvSpPr>
          <p:cNvPr id="3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CONSUMER UNDERSTANDING &amp; INSIGHTS</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Movers feel it first: a new city, new water, and hair that no longer feels right</a:t>
            </a:r>
            <a:endParaRPr lang="en-US" sz="2600" dirty="0"/>
          </a:p>
        </p:txBody>
      </p:sp>
      <p:sp>
        <p:nvSpPr>
          <p:cNvPr id="4" name="Shape 2"/>
          <p:cNvSpPr/>
          <p:nvPr/>
        </p:nvSpPr>
        <p:spPr>
          <a:xfrm>
            <a:off x="548640" y="1554480"/>
            <a:ext cx="3611880" cy="3749040"/>
          </a:xfrm>
          <a:prstGeom prst="roundRect">
            <a:avLst>
              <a:gd name="adj" fmla="val 2025"/>
            </a:avLst>
          </a:prstGeom>
          <a:solidFill>
            <a:srgbClr val="141C52"/>
          </a:solidFill>
          <a:ln/>
        </p:spPr>
      </p:sp>
      <p:sp>
        <p:nvSpPr>
          <p:cNvPr id="5" name="Shape 3"/>
          <p:cNvSpPr/>
          <p:nvPr/>
        </p:nvSpPr>
        <p:spPr>
          <a:xfrm>
            <a:off x="749808" y="1737360"/>
            <a:ext cx="502920" cy="502920"/>
          </a:xfrm>
          <a:prstGeom prst="ellipse">
            <a:avLst/>
          </a:prstGeom>
          <a:solidFill>
            <a:srgbClr val="F5A31A"/>
          </a:solidFill>
          <a:ln/>
        </p:spPr>
      </p:sp>
      <p:pic>
        <p:nvPicPr>
          <p:cNvPr id="6" name="Image 0" descr="preencoded.png">    </p:cNvPr>
          <p:cNvPicPr>
            <a:picLocks noChangeAspect="1"/>
          </p:cNvPicPr>
          <p:nvPr/>
        </p:nvPicPr>
        <p:blipFill>
          <a:blip r:embed="rId1"/>
          <a:stretch>
            <a:fillRect/>
          </a:stretch>
        </p:blipFill>
        <p:spPr>
          <a:xfrm>
            <a:off x="870509" y="1858061"/>
            <a:ext cx="261518" cy="261518"/>
          </a:xfrm>
          <a:prstGeom prst="rect">
            <a:avLst/>
          </a:prstGeom>
        </p:spPr>
      </p:pic>
      <p:sp>
        <p:nvSpPr>
          <p:cNvPr id="7" name="Text 4"/>
          <p:cNvSpPr txBox="1"/>
          <p:nvPr/>
        </p:nvSpPr>
        <p:spPr>
          <a:xfrm>
            <a:off x="1371600" y="1810512"/>
            <a:ext cx="2697480" cy="365760"/>
          </a:xfrm>
          <a:prstGeom prst="rect">
            <a:avLst/>
          </a:prstGeom>
          <a:noFill/>
          <a:ln/>
        </p:spPr>
        <p:txBody>
          <a:bodyPr wrap="square" lIns="0" tIns="0" rIns="0" bIns="0" rtlCol="0" anchor="t"/>
          <a:lstStyle/>
          <a:p>
            <a:pPr indent="0" marL="0">
              <a:buNone/>
            </a:pPr>
            <a:r>
              <a:rPr lang="en-US" sz="1200" b="1" dirty="0">
                <a:solidFill>
                  <a:srgbClr val="F5A31A"/>
                </a:solidFill>
              </a:rPr>
              <a:t>TARGET: ADULT “MOVERS”, 18–35</a:t>
            </a:r>
            <a:endParaRPr lang="en-US" sz="1200" dirty="0"/>
          </a:p>
        </p:txBody>
      </p:sp>
      <p:sp>
        <p:nvSpPr>
          <p:cNvPr id="8" name="Text 5"/>
          <p:cNvSpPr txBox="1"/>
          <p:nvPr/>
        </p:nvSpPr>
        <p:spPr>
          <a:xfrm>
            <a:off x="731520" y="2377440"/>
            <a:ext cx="3291840" cy="28346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FFFFFF"/>
                </a:solidFill>
              </a:rPr>
              <a:t>University and hall students: 4.82M in public universities and affiliated colleges (UGC, 2023)</a:t>
            </a:r>
            <a:endParaRPr lang="en-US" sz="1200" dirty="0"/>
          </a:p>
          <a:p>
            <a:pPr marL="152400" indent="-152400">
              <a:spcAft>
                <a:spcPts val="500"/>
              </a:spcAft>
              <a:buSzPct val="100000"/>
              <a:buChar char="•"/>
            </a:pPr>
            <a:r>
              <a:rPr lang="en-US" sz="1200" dirty="0">
                <a:solidFill>
                  <a:srgbClr val="FFFFFF"/>
                </a:solidFill>
              </a:rPr>
              <a:t>Mess residents and young workers who moved city or changed water source</a:t>
            </a:r>
            <a:endParaRPr lang="en-US" sz="1200" dirty="0"/>
          </a:p>
          <a:p>
            <a:pPr marL="152400" indent="-152400">
              <a:spcAft>
                <a:spcPts val="500"/>
              </a:spcAft>
              <a:buSzPct val="100000"/>
              <a:buChar char="•"/>
            </a:pPr>
            <a:r>
              <a:rPr lang="en-US" sz="1200" dirty="0">
                <a:solidFill>
                  <a:srgbClr val="FFFFFF"/>
                </a:solidFill>
              </a:rPr>
              <a:t>Urban and peri-urban, women and men; price-aware but brand-aware</a:t>
            </a:r>
            <a:endParaRPr lang="en-US" sz="1200" dirty="0"/>
          </a:p>
          <a:p>
            <a:pPr marL="152400" indent="-152400">
              <a:spcAft>
                <a:spcPts val="500"/>
              </a:spcAft>
              <a:buSzPct val="100000"/>
              <a:buChar char="•"/>
            </a:pPr>
            <a:r>
              <a:rPr lang="en-US" sz="1200" dirty="0">
                <a:solidFill>
                  <a:srgbClr val="FFFFFF"/>
                </a:solidFill>
              </a:rPr>
              <a:t>Where: hall, mess and rented-flat bathrooms on tube-well or supply water</a:t>
            </a:r>
            <a:endParaRPr lang="en-US" sz="1200" dirty="0"/>
          </a:p>
          <a:p>
            <a:pPr marL="152400" indent="-152400">
              <a:spcAft>
                <a:spcPts val="500"/>
              </a:spcAft>
              <a:buSzPct val="100000"/>
              <a:buChar char="•"/>
            </a:pPr>
            <a:r>
              <a:rPr lang="en-US" sz="1200" dirty="0">
                <a:solidFill>
                  <a:srgbClr val="FFFFFF"/>
                </a:solidFill>
              </a:rPr>
              <a:t>Want: hair that feels like home, proof rather than promises, a fair price</a:t>
            </a:r>
            <a:endParaRPr lang="en-US" sz="1200" dirty="0"/>
          </a:p>
          <a:p>
            <a:pPr marL="152400" indent="-152400">
              <a:spcAft>
                <a:spcPts val="500"/>
              </a:spcAft>
              <a:buSzPct val="100000"/>
              <a:buChar char="•"/>
            </a:pPr>
            <a:r>
              <a:rPr lang="en-US" sz="1200" dirty="0">
                <a:solidFill>
                  <a:srgbClr val="FFFFFF"/>
                </a:solidFill>
              </a:rPr>
              <a:t>Phase 2: coastal households on saline water (LonaJol)</a:t>
            </a:r>
            <a:endParaRPr lang="en-US" sz="1200" dirty="0"/>
          </a:p>
        </p:txBody>
      </p:sp>
      <p:sp>
        <p:nvSpPr>
          <p:cNvPr id="9" name="Shape 6"/>
          <p:cNvSpPr/>
          <p:nvPr/>
        </p:nvSpPr>
        <p:spPr>
          <a:xfrm>
            <a:off x="4389120" y="1554480"/>
            <a:ext cx="3657600" cy="1188720"/>
          </a:xfrm>
          <a:prstGeom prst="roundRect">
            <a:avLst>
              <a:gd name="adj" fmla="val 6154"/>
            </a:avLst>
          </a:prstGeom>
          <a:solidFill>
            <a:srgbClr val="F3F6FA"/>
          </a:solidFill>
          <a:ln/>
        </p:spPr>
      </p:sp>
      <p:sp>
        <p:nvSpPr>
          <p:cNvPr id="10" name="Text 7"/>
          <p:cNvSpPr txBox="1"/>
          <p:nvPr/>
        </p:nvSpPr>
        <p:spPr>
          <a:xfrm>
            <a:off x="4572000" y="164592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#1 = function</a:t>
            </a:r>
            <a:endParaRPr lang="en-US" sz="2000" dirty="0"/>
          </a:p>
        </p:txBody>
      </p:sp>
      <p:sp>
        <p:nvSpPr>
          <p:cNvPr id="11" name="Text 8"/>
          <p:cNvSpPr txBox="1"/>
          <p:nvPr/>
        </p:nvSpPr>
        <p:spPr>
          <a:xfrm>
            <a:off x="4572000" y="2011680"/>
            <a:ext cx="3337560" cy="566928"/>
          </a:xfrm>
          <a:prstGeom prst="rect">
            <a:avLst/>
          </a:prstGeom>
          <a:noFill/>
          <a:ln/>
        </p:spPr>
        <p:txBody>
          <a:bodyPr wrap="square" lIns="0" tIns="0" rIns="0" bIns="0" rtlCol="0" anchor="t"/>
          <a:lstStyle/>
          <a:p>
            <a:pPr indent="0" marL="0">
              <a:buNone/>
            </a:pPr>
            <a:r>
              <a:rPr lang="en-US" sz="1100" dirty="0">
                <a:solidFill>
                  <a:srgbClr val="1F2937"/>
                </a:solidFill>
              </a:rPr>
              <a:t>Women shampoo users (n=390, Dhaka and Chattogram) rank functionality first (4.21/5), above brand image (4.15) and price (4.13). Packaging comes last (3.40).</a:t>
            </a:r>
            <a:endParaRPr lang="en-US" sz="1100" dirty="0"/>
          </a:p>
        </p:txBody>
      </p:sp>
      <p:sp>
        <p:nvSpPr>
          <p:cNvPr id="12" name="Text 9"/>
          <p:cNvSpPr txBox="1"/>
          <p:nvPr/>
        </p:nvSpPr>
        <p:spPr>
          <a:xfrm>
            <a:off x="4572000" y="250545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Khanam &amp; Rahman, 2022</a:t>
            </a:r>
            <a:endParaRPr lang="en-US" sz="1000" dirty="0"/>
          </a:p>
        </p:txBody>
      </p:sp>
      <p:sp>
        <p:nvSpPr>
          <p:cNvPr id="13" name="Shape 10"/>
          <p:cNvSpPr/>
          <p:nvPr/>
        </p:nvSpPr>
        <p:spPr>
          <a:xfrm>
            <a:off x="4389120" y="2834640"/>
            <a:ext cx="3657600" cy="1188720"/>
          </a:xfrm>
          <a:prstGeom prst="roundRect">
            <a:avLst>
              <a:gd name="adj" fmla="val 6154"/>
            </a:avLst>
          </a:prstGeom>
          <a:solidFill>
            <a:srgbClr val="F3F6FA"/>
          </a:solidFill>
          <a:ln/>
        </p:spPr>
      </p:sp>
      <p:sp>
        <p:nvSpPr>
          <p:cNvPr id="14" name="Text 11"/>
          <p:cNvSpPr txBox="1"/>
          <p:nvPr/>
        </p:nvSpPr>
        <p:spPr>
          <a:xfrm>
            <a:off x="4572000" y="292608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47%</a:t>
            </a:r>
            <a:endParaRPr lang="en-US" sz="2000" dirty="0"/>
          </a:p>
        </p:txBody>
      </p:sp>
      <p:sp>
        <p:nvSpPr>
          <p:cNvPr id="15" name="Text 12"/>
          <p:cNvSpPr txBox="1"/>
          <p:nvPr/>
        </p:nvSpPr>
        <p:spPr>
          <a:xfrm>
            <a:off x="4572000" y="3291840"/>
            <a:ext cx="3337560" cy="566928"/>
          </a:xfrm>
          <a:prstGeom prst="rect">
            <a:avLst/>
          </a:prstGeom>
          <a:noFill/>
          <a:ln/>
        </p:spPr>
        <p:txBody>
          <a:bodyPr wrap="square" lIns="0" tIns="0" rIns="0" bIns="0" rtlCol="0" anchor="t"/>
          <a:lstStyle/>
          <a:p>
            <a:pPr indent="0" marL="0">
              <a:buNone/>
            </a:pPr>
            <a:r>
              <a:rPr lang="en-US" sz="1100" dirty="0">
                <a:solidFill>
                  <a:srgbClr val="1F2937"/>
                </a:solidFill>
              </a:rPr>
              <a:t>of coastal adults (182 of 391, Ramgati) say saline water frequently or very frequently causes hair loss, as they perceive it.</a:t>
            </a:r>
            <a:endParaRPr lang="en-US" sz="1100" dirty="0"/>
          </a:p>
        </p:txBody>
      </p:sp>
      <p:sp>
        <p:nvSpPr>
          <p:cNvPr id="16" name="Text 13"/>
          <p:cNvSpPr txBox="1"/>
          <p:nvPr/>
        </p:nvSpPr>
        <p:spPr>
          <a:xfrm>
            <a:off x="4572000" y="378561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Zakaria et al., 2025</a:t>
            </a:r>
            <a:endParaRPr lang="en-US" sz="1000" dirty="0"/>
          </a:p>
        </p:txBody>
      </p:sp>
      <p:sp>
        <p:nvSpPr>
          <p:cNvPr id="17" name="Shape 14"/>
          <p:cNvSpPr/>
          <p:nvPr/>
        </p:nvSpPr>
        <p:spPr>
          <a:xfrm>
            <a:off x="4389120" y="4114800"/>
            <a:ext cx="3657600" cy="1188720"/>
          </a:xfrm>
          <a:prstGeom prst="roundRect">
            <a:avLst>
              <a:gd name="adj" fmla="val 6154"/>
            </a:avLst>
          </a:prstGeom>
          <a:solidFill>
            <a:srgbClr val="F3F6FA"/>
          </a:solidFill>
          <a:ln/>
        </p:spPr>
      </p:sp>
      <p:sp>
        <p:nvSpPr>
          <p:cNvPr id="18" name="Text 15"/>
          <p:cNvSpPr txBox="1"/>
          <p:nvPr/>
        </p:nvSpPr>
        <p:spPr>
          <a:xfrm>
            <a:off x="4572000" y="420624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53.8M</a:t>
            </a:r>
            <a:endParaRPr lang="en-US" sz="2000" dirty="0"/>
          </a:p>
        </p:txBody>
      </p:sp>
      <p:sp>
        <p:nvSpPr>
          <p:cNvPr id="19" name="Text 16"/>
          <p:cNvSpPr txBox="1"/>
          <p:nvPr/>
        </p:nvSpPr>
        <p:spPr>
          <a:xfrm>
            <a:off x="4572000" y="4572000"/>
            <a:ext cx="3337560" cy="566928"/>
          </a:xfrm>
          <a:prstGeom prst="rect">
            <a:avLst/>
          </a:prstGeom>
          <a:noFill/>
          <a:ln/>
        </p:spPr>
        <p:txBody>
          <a:bodyPr wrap="square" lIns="0" tIns="0" rIns="0" bIns="0" rtlCol="0" anchor="t"/>
          <a:lstStyle/>
          <a:p>
            <a:pPr indent="0" marL="0">
              <a:buNone/>
            </a:pPr>
            <a:r>
              <a:rPr lang="en-US" sz="1100" dirty="0">
                <a:solidFill>
                  <a:srgbClr val="1F2937"/>
                </a:solidFill>
              </a:rPr>
              <a:t>Bangladeshis live in urban areas (31.7%). The cities Movers move to are majority-flagged for iron or hardness.</a:t>
            </a:r>
            <a:endParaRPr lang="en-US" sz="1100" dirty="0"/>
          </a:p>
        </p:txBody>
      </p:sp>
      <p:sp>
        <p:nvSpPr>
          <p:cNvPr id="20" name="Text 17"/>
          <p:cNvSpPr txBox="1"/>
          <p:nvPr/>
        </p:nvSpPr>
        <p:spPr>
          <a:xfrm>
            <a:off x="4572000" y="506577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BBS Census 2022; BGS/DPHE</a:t>
            </a:r>
            <a:endParaRPr lang="en-US" sz="1000" dirty="0"/>
          </a:p>
        </p:txBody>
      </p:sp>
      <p:sp>
        <p:nvSpPr>
          <p:cNvPr id="21" name="Shape 18"/>
          <p:cNvSpPr/>
          <p:nvPr/>
        </p:nvSpPr>
        <p:spPr>
          <a:xfrm>
            <a:off x="8275320" y="1554480"/>
            <a:ext cx="3364992" cy="3749040"/>
          </a:xfrm>
          <a:prstGeom prst="roundRect">
            <a:avLst>
              <a:gd name="adj" fmla="val 2174"/>
            </a:avLst>
          </a:prstGeom>
          <a:solidFill>
            <a:srgbClr val="FFF4E0"/>
          </a:solidFill>
          <a:ln w="19050">
            <a:solidFill>
              <a:srgbClr val="F5A31A"/>
            </a:solidFill>
            <a:prstDash val="dash"/>
          </a:ln>
        </p:spPr>
      </p:sp>
      <p:sp>
        <p:nvSpPr>
          <p:cNvPr id="22" name="Text 19"/>
          <p:cNvSpPr txBox="1"/>
          <p:nvPr/>
        </p:nvSpPr>
        <p:spPr>
          <a:xfrm>
            <a:off x="8439912" y="1682496"/>
            <a:ext cx="3035808" cy="3493008"/>
          </a:xfrm>
          <a:prstGeom prst="rect">
            <a:avLst/>
          </a:prstGeom>
          <a:noFill/>
          <a:ln/>
        </p:spPr>
        <p:txBody>
          <a:bodyPr wrap="square" lIns="0" tIns="0" rIns="0" bIns="0" rtlCol="0" anchor="t"/>
          <a:lstStyle/>
          <a:p>
            <a:pPr indent="0" marL="0">
              <a:buNone/>
            </a:pPr>
            <a:r>
              <a:rPr lang="en-US" sz="1100" b="1" spc="100" kern="0" dirty="0">
                <a:solidFill>
                  <a:srgbClr val="B26B00"/>
                </a:solidFill>
              </a:rPr>
              <a:t>OUR CONSUMER SURVEY · 3–9 OCT 2026</a:t>
            </a:r>
            <a:endParaRPr lang="en-US" sz="1200" dirty="0"/>
          </a:p>
          <a:p>
            <a:pPr marL="152400" indent="-152400">
              <a:spcBef>
                <a:spcPts val="500"/>
              </a:spcBef>
              <a:buSzPct val="100000"/>
              <a:buChar char="•"/>
            </a:pPr>
            <a:r>
              <a:rPr lang="en-US" sz="1200" dirty="0">
                <a:solidFill>
                  <a:srgbClr val="1F2937"/>
                </a:solidFill>
              </a:rPr>
              <a:t>49 consenting adults from 50 Google Form submissions</a:t>
            </a:r>
            <a:endParaRPr lang="en-US" sz="1200" dirty="0"/>
          </a:p>
          <a:p>
            <a:pPr marL="152400" indent="-152400">
              <a:spcBef>
                <a:spcPts val="500"/>
              </a:spcBef>
              <a:buSzPct val="100000"/>
              <a:buChar char="•"/>
            </a:pPr>
            <a:r>
              <a:rPr lang="en-US" sz="1200" dirty="0">
                <a:solidFill>
                  <a:srgbClr val="1F2937"/>
                </a:solidFill>
              </a:rPr>
              <a:t>18 of 22 water-source changers reported worse hair problems (81.8%)</a:t>
            </a:r>
            <a:endParaRPr lang="en-US" sz="1200" dirty="0"/>
          </a:p>
          <a:p>
            <a:pPr marL="152400" indent="-152400">
              <a:spcBef>
                <a:spcPts val="500"/>
              </a:spcBef>
              <a:buSzPct val="100000"/>
              <a:buChar char="•"/>
            </a:pPr>
            <a:r>
              <a:rPr lang="en-US" sz="1200" dirty="0">
                <a:solidFill>
                  <a:srgbClr val="1F2937"/>
                </a:solidFill>
              </a:rPr>
              <a:t>38 of 49 rated the concept 4 or 5 out of 5 (77.6%)</a:t>
            </a:r>
            <a:endParaRPr lang="en-US" sz="1200" dirty="0"/>
          </a:p>
          <a:p>
            <a:pPr marL="152400" indent="-152400">
              <a:spcBef>
                <a:spcPts val="500"/>
              </a:spcBef>
              <a:buSzPct val="100000"/>
              <a:buChar char="•"/>
            </a:pPr>
            <a:r>
              <a:rPr lang="en-US" sz="1200" dirty="0">
                <a:solidFill>
                  <a:srgbClr val="1F2937"/>
                </a:solidFill>
              </a:rPr>
              <a:t>Median maximum price for 340 ml: Tk 320 (n=47)</a:t>
            </a:r>
            <a:endParaRPr lang="en-US" sz="1200" dirty="0"/>
          </a:p>
          <a:p>
            <a:pPr marL="152400" indent="-152400">
              <a:spcBef>
                <a:spcPts val="500"/>
              </a:spcBef>
              <a:buSzPct val="100000"/>
              <a:buChar char="•"/>
            </a:pPr>
            <a:r>
              <a:rPr lang="en-US" sz="1200" dirty="0">
                <a:solidFill>
                  <a:srgbClr val="1F2937"/>
                </a:solidFill>
              </a:rPr>
              <a:t>15 of 47 stated a maximum price of at least Tk 360 (31.9%)</a:t>
            </a:r>
            <a:endParaRPr lang="en-US" sz="1200" dirty="0"/>
          </a:p>
          <a:p>
            <a:pPr marL="152400" indent="-152400">
              <a:spcBef>
                <a:spcPts val="500"/>
              </a:spcBef>
              <a:buSzPct val="100000"/>
              <a:buChar char="•"/>
            </a:pPr>
            <a:r>
              <a:rPr lang="en-US" sz="1200" dirty="0">
                <a:solidFill>
                  <a:srgbClr val="1F2937"/>
                </a:solidFill>
              </a:rPr>
              <a:t>Convenience sample; self-reports. Water/foam tests remain planned.</a:t>
            </a:r>
            <a:endParaRPr lang="en-US" sz="1200" dirty="0"/>
          </a:p>
        </p:txBody>
      </p:sp>
      <p:sp>
        <p:nvSpPr>
          <p:cNvPr id="23" name="Shape 20"/>
          <p:cNvSpPr/>
          <p:nvPr/>
        </p:nvSpPr>
        <p:spPr>
          <a:xfrm>
            <a:off x="548640" y="5440680"/>
            <a:ext cx="11091672" cy="502920"/>
          </a:xfrm>
          <a:prstGeom prst="roundRect">
            <a:avLst>
              <a:gd name="adj" fmla="val 14545"/>
            </a:avLst>
          </a:prstGeom>
          <a:solidFill>
            <a:srgbClr val="E3F5FA"/>
          </a:solidFill>
          <a:ln/>
        </p:spPr>
      </p:sp>
      <p:sp>
        <p:nvSpPr>
          <p:cNvPr id="24" name="Text 21"/>
          <p:cNvSpPr txBox="1"/>
          <p:nvPr/>
        </p:nvSpPr>
        <p:spPr>
          <a:xfrm>
            <a:off x="777240" y="54406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INSIGHT   </a:t>
            </a:r>
            <a:pPr indent="0" marL="0">
              <a:buNone/>
            </a:pPr>
            <a:r>
              <a:rPr lang="en-US" sz="1400" dirty="0">
                <a:solidFill>
                  <a:srgbClr val="141C52"/>
                </a:solidFill>
              </a:rPr>
              <a:t>People blame their hair, or their shampoo. The real culprit may be the water, and nobody gives them a way to check.</a:t>
            </a:r>
            <a:endParaRPr lang="en-US" sz="1400" dirty="0"/>
          </a:p>
        </p:txBody>
      </p:sp>
      <p:sp>
        <p:nvSpPr>
          <p:cNvPr id="25"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Khanam &amp; Rahman (2022); Zakaria et al. (2025); UGC Annual Report 2023 via Prothom Alo (4 Oct 2025); BBS Census 2022. Team Google Form survey, 3–9 Oct 2026 (n=49; maximum-price answers n=47).</a:t>
            </a:r>
            <a:endParaRPr lang="en-US" sz="1000" dirty="0"/>
          </a:p>
        </p:txBody>
      </p:sp>
      <p:sp>
        <p:nvSpPr>
          <p:cNvPr id="2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YOUR BIG IDEA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Parachute Naturale WaterSmart: check your water, then wash smarter</a:t>
            </a:r>
            <a:endParaRPr lang="en-US" sz="2600" dirty="0"/>
          </a:p>
        </p:txBody>
      </p:sp>
      <p:sp>
        <p:nvSpPr>
          <p:cNvPr id="4" name="Shape 2"/>
          <p:cNvSpPr/>
          <p:nvPr/>
        </p:nvSpPr>
        <p:spPr>
          <a:xfrm>
            <a:off x="411480" y="1828800"/>
            <a:ext cx="4754880" cy="4023360"/>
          </a:xfrm>
          <a:prstGeom prst="ellipse">
            <a:avLst/>
          </a:prstGeom>
          <a:solidFill>
            <a:srgbClr val="E3F5FA"/>
          </a:solidFill>
          <a:ln/>
        </p:spPr>
      </p:sp>
      <p:pic>
        <p:nvPicPr>
          <p:cNvPr id="5" name="Image 0" descr="C:\Users\Administrator\Desktop\otw\Round2_Submission\deck\assets\bottle340.png">    </p:cNvPr>
          <p:cNvPicPr>
            <a:picLocks noChangeAspect="1"/>
          </p:cNvPicPr>
          <p:nvPr/>
        </p:nvPicPr>
        <p:blipFill>
          <a:blip r:embed="rId1"/>
          <a:stretch>
            <a:fillRect/>
          </a:stretch>
        </p:blipFill>
        <p:spPr>
          <a:xfrm>
            <a:off x="548640" y="1481328"/>
            <a:ext cx="2068373" cy="4297680"/>
          </a:xfrm>
          <a:prstGeom prst="rect">
            <a:avLst/>
          </a:prstGeom>
        </p:spPr>
      </p:pic>
      <p:pic>
        <p:nvPicPr>
          <p:cNvPr id="6" name="Image 1" descr="C:\Users\Administrator\Desktop\otw\Round2_Submission\deck\assets\bottle180.png">    </p:cNvPr>
          <p:cNvPicPr>
            <a:picLocks noChangeAspect="1"/>
          </p:cNvPicPr>
          <p:nvPr/>
        </p:nvPicPr>
        <p:blipFill>
          <a:blip r:embed="rId2"/>
          <a:stretch>
            <a:fillRect/>
          </a:stretch>
        </p:blipFill>
        <p:spPr>
          <a:xfrm>
            <a:off x="2468880" y="2651760"/>
            <a:ext cx="1495958" cy="3108960"/>
          </a:xfrm>
          <a:prstGeom prst="rect">
            <a:avLst/>
          </a:prstGeom>
        </p:spPr>
      </p:pic>
      <p:pic>
        <p:nvPicPr>
          <p:cNvPr id="7" name="Image 2" descr="C:\Users\Administrator\Desktop\otw\Round2_Submission\deck\assets\sachet.png">    </p:cNvPr>
          <p:cNvPicPr>
            <a:picLocks noChangeAspect="1"/>
          </p:cNvPicPr>
          <p:nvPr/>
        </p:nvPicPr>
        <p:blipFill>
          <a:blip r:embed="rId3"/>
          <a:stretch>
            <a:fillRect/>
          </a:stretch>
        </p:blipFill>
        <p:spPr>
          <a:xfrm>
            <a:off x="3886200" y="4160520"/>
            <a:ext cx="1143000" cy="1600200"/>
          </a:xfrm>
          <a:prstGeom prst="rect">
            <a:avLst/>
          </a:prstGeom>
        </p:spPr>
      </p:pic>
      <p:sp>
        <p:nvSpPr>
          <p:cNvPr id="8" name="Shape 3"/>
          <p:cNvSpPr/>
          <p:nvPr/>
        </p:nvSpPr>
        <p:spPr>
          <a:xfrm>
            <a:off x="5394960" y="1554480"/>
            <a:ext cx="6245352" cy="1005840"/>
          </a:xfrm>
          <a:prstGeom prst="roundRect">
            <a:avLst>
              <a:gd name="adj" fmla="val 7273"/>
            </a:avLst>
          </a:prstGeom>
          <a:solidFill>
            <a:srgbClr val="F3F6FA"/>
          </a:solidFill>
          <a:ln/>
        </p:spPr>
      </p:sp>
      <p:sp>
        <p:nvSpPr>
          <p:cNvPr id="9" name="Shape 4"/>
          <p:cNvSpPr/>
          <p:nvPr/>
        </p:nvSpPr>
        <p:spPr>
          <a:xfrm>
            <a:off x="5559552" y="1755648"/>
            <a:ext cx="566928" cy="566928"/>
          </a:xfrm>
          <a:prstGeom prst="ellipse">
            <a:avLst/>
          </a:prstGeom>
          <a:solidFill>
            <a:srgbClr val="12A5C4"/>
          </a:solidFill>
          <a:ln/>
        </p:spPr>
      </p:sp>
      <p:pic>
        <p:nvPicPr>
          <p:cNvPr id="10" name="Image 3" descr="preencoded.png">    </p:cNvPr>
          <p:cNvPicPr>
            <a:picLocks noChangeAspect="1"/>
          </p:cNvPicPr>
          <p:nvPr/>
        </p:nvPicPr>
        <p:blipFill>
          <a:blip r:embed="rId4"/>
          <a:stretch>
            <a:fillRect/>
          </a:stretch>
        </p:blipFill>
        <p:spPr>
          <a:xfrm>
            <a:off x="5695615" y="1891711"/>
            <a:ext cx="294803" cy="294803"/>
          </a:xfrm>
          <a:prstGeom prst="rect">
            <a:avLst/>
          </a:prstGeom>
        </p:spPr>
      </p:pic>
      <p:sp>
        <p:nvSpPr>
          <p:cNvPr id="11" name="Text 5"/>
          <p:cNvSpPr txBox="1"/>
          <p:nvPr/>
        </p:nvSpPr>
        <p:spPr>
          <a:xfrm>
            <a:off x="6309360" y="1645920"/>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FORMULA  ·  chelating cleanse</a:t>
            </a:r>
            <a:endParaRPr lang="en-US" sz="1300" dirty="0"/>
          </a:p>
        </p:txBody>
      </p:sp>
      <p:sp>
        <p:nvSpPr>
          <p:cNvPr id="12" name="Text 6"/>
          <p:cNvSpPr txBox="1"/>
          <p:nvPr/>
        </p:nvSpPr>
        <p:spPr>
          <a:xfrm>
            <a:off x="6309360" y="1920240"/>
            <a:ext cx="5212080" cy="594360"/>
          </a:xfrm>
          <a:prstGeom prst="rect">
            <a:avLst/>
          </a:prstGeom>
          <a:noFill/>
          <a:ln/>
        </p:spPr>
        <p:txBody>
          <a:bodyPr wrap="square" lIns="0" tIns="0" rIns="0" bIns="0" rtlCol="0" anchor="t"/>
          <a:lstStyle/>
          <a:p>
            <a:pPr indent="0" marL="0">
              <a:buNone/>
            </a:pPr>
            <a:r>
              <a:rPr lang="en-US" sz="1200" dirty="0">
                <a:solidFill>
                  <a:srgbClr val="1F2937"/>
                </a:solidFill>
              </a:rPr>
              <a:t>GLDA, a readily biodegradable chelator, binds iron, calcium and magnesium so they rinse away. Coconut-derived surfactants lather in hard water; Coconut Milk Protein conditions.</a:t>
            </a:r>
            <a:endParaRPr lang="en-US" sz="1200" dirty="0"/>
          </a:p>
        </p:txBody>
      </p:sp>
      <p:sp>
        <p:nvSpPr>
          <p:cNvPr id="13" name="Shape 7"/>
          <p:cNvSpPr/>
          <p:nvPr/>
        </p:nvSpPr>
        <p:spPr>
          <a:xfrm>
            <a:off x="5394960" y="2670048"/>
            <a:ext cx="6245352" cy="1005840"/>
          </a:xfrm>
          <a:prstGeom prst="roundRect">
            <a:avLst>
              <a:gd name="adj" fmla="val 7273"/>
            </a:avLst>
          </a:prstGeom>
          <a:solidFill>
            <a:srgbClr val="F3F6FA"/>
          </a:solidFill>
          <a:ln/>
        </p:spPr>
      </p:sp>
      <p:sp>
        <p:nvSpPr>
          <p:cNvPr id="14" name="Shape 8"/>
          <p:cNvSpPr/>
          <p:nvPr/>
        </p:nvSpPr>
        <p:spPr>
          <a:xfrm>
            <a:off x="5559552" y="2871216"/>
            <a:ext cx="566928" cy="566928"/>
          </a:xfrm>
          <a:prstGeom prst="ellipse">
            <a:avLst/>
          </a:prstGeom>
          <a:solidFill>
            <a:srgbClr val="F5A31A"/>
          </a:solidFill>
          <a:ln/>
        </p:spPr>
      </p:sp>
      <p:pic>
        <p:nvPicPr>
          <p:cNvPr id="15" name="Image 4" descr="preencoded.png">    </p:cNvPr>
          <p:cNvPicPr>
            <a:picLocks noChangeAspect="1"/>
          </p:cNvPicPr>
          <p:nvPr/>
        </p:nvPicPr>
        <p:blipFill>
          <a:blip r:embed="rId5"/>
          <a:stretch>
            <a:fillRect/>
          </a:stretch>
        </p:blipFill>
        <p:spPr>
          <a:xfrm>
            <a:off x="5695615" y="3007279"/>
            <a:ext cx="294803" cy="294803"/>
          </a:xfrm>
          <a:prstGeom prst="rect">
            <a:avLst/>
          </a:prstGeom>
        </p:spPr>
      </p:pic>
      <p:sp>
        <p:nvSpPr>
          <p:cNvPr id="16" name="Text 9"/>
          <p:cNvSpPr txBox="1"/>
          <p:nvPr/>
        </p:nvSpPr>
        <p:spPr>
          <a:xfrm>
            <a:off x="6309360" y="2761488"/>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PACK  ·  PaniCheck cap</a:t>
            </a:r>
            <a:endParaRPr lang="en-US" sz="1300" dirty="0"/>
          </a:p>
        </p:txBody>
      </p:sp>
      <p:sp>
        <p:nvSpPr>
          <p:cNvPr id="17" name="Text 10"/>
          <p:cNvSpPr txBox="1"/>
          <p:nvPr/>
        </p:nvSpPr>
        <p:spPr>
          <a:xfrm>
            <a:off x="6309360" y="3035808"/>
            <a:ext cx="5212080" cy="594360"/>
          </a:xfrm>
          <a:prstGeom prst="rect">
            <a:avLst/>
          </a:prstGeom>
          <a:noFill/>
          <a:ln/>
        </p:spPr>
        <p:txBody>
          <a:bodyPr wrap="square" lIns="0" tIns="0" rIns="0" bIns="0" rtlCol="0" anchor="t"/>
          <a:lstStyle/>
          <a:p>
            <a:pPr indent="0" marL="0">
              <a:buNone/>
            </a:pPr>
            <a:r>
              <a:rPr lang="en-US" sz="1200" dirty="0">
                <a:solidFill>
                  <a:srgbClr val="1F2937"/>
                </a:solidFill>
              </a:rPr>
              <a:t>A foil-sealed hardness strip in every 340 ml cap. Dip for one second, match the colour, and know your water in under a minute.</a:t>
            </a:r>
            <a:endParaRPr lang="en-US" sz="1200" dirty="0"/>
          </a:p>
        </p:txBody>
      </p:sp>
      <p:sp>
        <p:nvSpPr>
          <p:cNvPr id="18" name="Shape 11"/>
          <p:cNvSpPr/>
          <p:nvPr/>
        </p:nvSpPr>
        <p:spPr>
          <a:xfrm>
            <a:off x="5394960" y="3785616"/>
            <a:ext cx="6245352" cy="1005840"/>
          </a:xfrm>
          <a:prstGeom prst="roundRect">
            <a:avLst>
              <a:gd name="adj" fmla="val 7273"/>
            </a:avLst>
          </a:prstGeom>
          <a:solidFill>
            <a:srgbClr val="F3F6FA"/>
          </a:solidFill>
          <a:ln/>
        </p:spPr>
      </p:sp>
      <p:sp>
        <p:nvSpPr>
          <p:cNvPr id="19" name="Shape 12"/>
          <p:cNvSpPr/>
          <p:nvPr/>
        </p:nvSpPr>
        <p:spPr>
          <a:xfrm>
            <a:off x="5559552" y="3986784"/>
            <a:ext cx="566928" cy="566928"/>
          </a:xfrm>
          <a:prstGeom prst="ellipse">
            <a:avLst/>
          </a:prstGeom>
          <a:solidFill>
            <a:srgbClr val="0B6FB8"/>
          </a:solidFill>
          <a:ln/>
        </p:spPr>
      </p:sp>
      <p:pic>
        <p:nvPicPr>
          <p:cNvPr id="20" name="Image 5" descr="preencoded.png">    </p:cNvPr>
          <p:cNvPicPr>
            <a:picLocks noChangeAspect="1"/>
          </p:cNvPicPr>
          <p:nvPr/>
        </p:nvPicPr>
        <p:blipFill>
          <a:blip r:embed="rId6"/>
          <a:stretch>
            <a:fillRect/>
          </a:stretch>
        </p:blipFill>
        <p:spPr>
          <a:xfrm>
            <a:off x="5695615" y="4122847"/>
            <a:ext cx="294803" cy="294803"/>
          </a:xfrm>
          <a:prstGeom prst="rect">
            <a:avLst/>
          </a:prstGeom>
        </p:spPr>
      </p:pic>
      <p:sp>
        <p:nvSpPr>
          <p:cNvPr id="21" name="Text 13"/>
          <p:cNvSpPr txBox="1"/>
          <p:nvPr/>
        </p:nvSpPr>
        <p:spPr>
          <a:xfrm>
            <a:off x="6309360" y="3877056"/>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SERVICE  ·  Pani Map</a:t>
            </a:r>
            <a:endParaRPr lang="en-US" sz="1300" dirty="0"/>
          </a:p>
        </p:txBody>
      </p:sp>
      <p:sp>
        <p:nvSpPr>
          <p:cNvPr id="22" name="Text 14"/>
          <p:cNvSpPr txBox="1"/>
          <p:nvPr/>
        </p:nvSpPr>
        <p:spPr>
          <a:xfrm>
            <a:off x="6309360" y="4151376"/>
            <a:ext cx="5212080" cy="594360"/>
          </a:xfrm>
          <a:prstGeom prst="rect">
            <a:avLst/>
          </a:prstGeom>
          <a:noFill/>
          <a:ln/>
        </p:spPr>
        <p:txBody>
          <a:bodyPr wrap="square" lIns="0" tIns="0" rIns="0" bIns="0" rtlCol="0" anchor="t"/>
          <a:lstStyle/>
          <a:p>
            <a:pPr indent="0" marL="0">
              <a:buNone/>
            </a:pPr>
            <a:r>
              <a:rPr lang="en-US" sz="1200" dirty="0">
                <a:solidFill>
                  <a:srgbClr val="1F2937"/>
                </a:solidFill>
              </a:rPr>
              <a:t>A QR code on every pack, sachets included, opens your area’s water profile (BGS/DPHE data) and a step-by-step guide to testing your own water.</a:t>
            </a:r>
            <a:endParaRPr lang="en-US" sz="1200" dirty="0"/>
          </a:p>
        </p:txBody>
      </p:sp>
      <p:sp>
        <p:nvSpPr>
          <p:cNvPr id="23" name="Text 15"/>
          <p:cNvSpPr txBox="1"/>
          <p:nvPr/>
        </p:nvSpPr>
        <p:spPr>
          <a:xfrm>
            <a:off x="5394960" y="4919472"/>
            <a:ext cx="6245352" cy="320040"/>
          </a:xfrm>
          <a:prstGeom prst="rect">
            <a:avLst/>
          </a:prstGeom>
          <a:noFill/>
          <a:ln/>
        </p:spPr>
        <p:txBody>
          <a:bodyPr wrap="square" lIns="0" tIns="0" rIns="0" bIns="0" rtlCol="0" anchor="t"/>
          <a:lstStyle/>
          <a:p>
            <a:pPr indent="0" marL="0">
              <a:buNone/>
            </a:pPr>
            <a:r>
              <a:rPr lang="en-US" sz="1200" b="1" dirty="0">
                <a:solidFill>
                  <a:srgbClr val="0E7FA0"/>
                </a:solidFill>
              </a:rPr>
              <a:t>Sachet Tk 3  ·  180 ml Tk 180  ·  340 ml + PaniCheck Tk 360  ·  Phase 2: LonaJol (saline)</a:t>
            </a:r>
            <a:endParaRPr lang="en-US" sz="1200" dirty="0"/>
          </a:p>
        </p:txBody>
      </p:sp>
      <p:sp>
        <p:nvSpPr>
          <p:cNvPr id="24" name="Shape 16"/>
          <p:cNvSpPr/>
          <p:nvPr/>
        </p:nvSpPr>
        <p:spPr>
          <a:xfrm>
            <a:off x="5394960" y="5321808"/>
            <a:ext cx="6245352" cy="603504"/>
          </a:xfrm>
          <a:prstGeom prst="roundRect">
            <a:avLst>
              <a:gd name="adj" fmla="val 12121"/>
            </a:avLst>
          </a:prstGeom>
          <a:solidFill>
            <a:srgbClr val="141C52"/>
          </a:solidFill>
          <a:ln/>
        </p:spPr>
      </p:sp>
      <p:sp>
        <p:nvSpPr>
          <p:cNvPr id="25" name="Text 17"/>
          <p:cNvSpPr txBox="1"/>
          <p:nvPr/>
        </p:nvSpPr>
        <p:spPr>
          <a:xfrm>
            <a:off x="5577840" y="5321808"/>
            <a:ext cx="5943600" cy="603504"/>
          </a:xfrm>
          <a:prstGeom prst="rect">
            <a:avLst/>
          </a:prstGeom>
          <a:noFill/>
          <a:ln/>
        </p:spPr>
        <p:txBody>
          <a:bodyPr wrap="square" lIns="0" tIns="0" rIns="0" bIns="0" rtlCol="0" anchor="ctr"/>
          <a:lstStyle/>
          <a:p>
            <a:pPr indent="0" marL="0">
              <a:buNone/>
            </a:pPr>
            <a:r>
              <a:rPr lang="en-US" sz="17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1200" dirty="0"/>
          </a:p>
          <a:p>
            <a:pPr indent="0" marL="0">
              <a:buNone/>
            </a:pPr>
            <a:r>
              <a:rPr lang="en-US" sz="1100" i="1" dirty="0">
                <a:solidFill>
                  <a:srgbClr val="C9D3F5"/>
                </a:solidFill>
              </a:rPr>
              <a:t>Is it your hair, or your water? Check your water first.</a:t>
            </a:r>
            <a:endParaRPr lang="en-US" sz="1200" dirty="0"/>
          </a:p>
        </p:txBody>
      </p:sp>
      <p:sp>
        <p:nvSpPr>
          <p:cNvPr id="26" name="Text 1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Mock-ups are illustrative concepts. Product claims are proposed and subject to Marico R&amp;D substantiation. GLDA: Nouryon Dissolvine product guide (readily biodegradable).</a:t>
            </a:r>
            <a:endParaRPr lang="en-US" sz="1000" dirty="0"/>
          </a:p>
        </p:txBody>
      </p:sp>
      <p:sp>
        <p:nvSpPr>
          <p:cNvPr id="2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BRAND DEFINITION &amp; CATEGORY FIT</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Naturale variant, not a new brand: natural care upgraded with water science</a:t>
            </a:r>
            <a:endParaRPr lang="en-US" sz="2600" dirty="0"/>
          </a:p>
        </p:txBody>
      </p:sp>
      <p:sp>
        <p:nvSpPr>
          <p:cNvPr id="4" name="Shape 2"/>
          <p:cNvSpPr/>
          <p:nvPr/>
        </p:nvSpPr>
        <p:spPr>
          <a:xfrm>
            <a:off x="548640" y="1554480"/>
            <a:ext cx="5760720" cy="731520"/>
          </a:xfrm>
          <a:prstGeom prst="roundRect">
            <a:avLst>
              <a:gd name="adj" fmla="val 10000"/>
            </a:avLst>
          </a:prstGeom>
          <a:solidFill>
            <a:srgbClr val="141C52"/>
          </a:solidFill>
          <a:ln/>
        </p:spPr>
      </p:sp>
      <p:sp>
        <p:nvSpPr>
          <p:cNvPr id="5" name="Text 3"/>
          <p:cNvSpPr txBox="1"/>
          <p:nvPr/>
        </p:nvSpPr>
        <p:spPr>
          <a:xfrm>
            <a:off x="777240" y="1554480"/>
            <a:ext cx="5394960" cy="731520"/>
          </a:xfrm>
          <a:prstGeom prst="rect">
            <a:avLst/>
          </a:prstGeom>
          <a:noFill/>
          <a:ln/>
        </p:spPr>
        <p:txBody>
          <a:bodyPr wrap="square" lIns="0" tIns="0" rIns="0" bIns="0" rtlCol="0" anchor="ctr"/>
          <a:lstStyle/>
          <a:p>
            <a:pPr indent="0" marL="0">
              <a:buNone/>
            </a:pPr>
            <a:r>
              <a:rPr lang="en-US" sz="1000" b="1" spc="200" kern="0" dirty="0">
                <a:solidFill>
                  <a:srgbClr val="F5A31A"/>
                </a:solidFill>
              </a:rPr>
              <a:t>BRAND PROMISE</a:t>
            </a:r>
            <a:endParaRPr lang="en-US" sz="1200" dirty="0"/>
          </a:p>
          <a:p>
            <a:pPr indent="0" marL="0">
              <a:buNone/>
            </a:pPr>
            <a:r>
              <a:rPr lang="en-US" sz="2000" b="1" dirty="0">
                <a:solidFill>
                  <a:srgbClr val="FFFFFF"/>
                </a:solidFill>
              </a:rPr>
              <a:t>Clean you can feel, in any water</a:t>
            </a:r>
            <a:endParaRPr lang="en-US" sz="1200" dirty="0"/>
          </a:p>
        </p:txBody>
      </p:sp>
      <p:sp>
        <p:nvSpPr>
          <p:cNvPr id="6" name="Shape 4"/>
          <p:cNvSpPr/>
          <p:nvPr/>
        </p:nvSpPr>
        <p:spPr>
          <a:xfrm>
            <a:off x="548640" y="2395728"/>
            <a:ext cx="1792224" cy="2057400"/>
          </a:xfrm>
          <a:prstGeom prst="roundRect">
            <a:avLst>
              <a:gd name="adj" fmla="val 4082"/>
            </a:avLst>
          </a:prstGeom>
          <a:solidFill>
            <a:srgbClr val="E3F5FA"/>
          </a:solidFill>
          <a:ln/>
        </p:spPr>
      </p:sp>
      <p:sp>
        <p:nvSpPr>
          <p:cNvPr id="7" name="Shape 5"/>
          <p:cNvSpPr/>
          <p:nvPr/>
        </p:nvSpPr>
        <p:spPr>
          <a:xfrm>
            <a:off x="1170432" y="2560320"/>
            <a:ext cx="548640" cy="548640"/>
          </a:xfrm>
          <a:prstGeom prst="ellipse">
            <a:avLst/>
          </a:prstGeom>
          <a:solidFill>
            <a:srgbClr val="12A5C4"/>
          </a:solidFill>
          <a:ln/>
        </p:spPr>
      </p:sp>
      <p:pic>
        <p:nvPicPr>
          <p:cNvPr id="8" name="Image 0" descr="preencoded.png">    </p:cNvPr>
          <p:cNvPicPr>
            <a:picLocks noChangeAspect="1"/>
          </p:cNvPicPr>
          <p:nvPr/>
        </p:nvPicPr>
        <p:blipFill>
          <a:blip r:embed="rId1"/>
          <a:stretch>
            <a:fillRect/>
          </a:stretch>
        </p:blipFill>
        <p:spPr>
          <a:xfrm>
            <a:off x="1302106" y="2691994"/>
            <a:ext cx="285293" cy="285293"/>
          </a:xfrm>
          <a:prstGeom prst="rect">
            <a:avLst/>
          </a:prstGeom>
        </p:spPr>
      </p:pic>
      <p:sp>
        <p:nvSpPr>
          <p:cNvPr id="9" name="Text 6"/>
          <p:cNvSpPr txBox="1"/>
          <p:nvPr/>
        </p:nvSpPr>
        <p:spPr>
          <a:xfrm>
            <a:off x="658368"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Water science</a:t>
            </a:r>
            <a:endParaRPr lang="en-US" sz="1400" dirty="0"/>
          </a:p>
        </p:txBody>
      </p:sp>
      <p:sp>
        <p:nvSpPr>
          <p:cNvPr id="10" name="Text 7"/>
          <p:cNvSpPr txBox="1"/>
          <p:nvPr/>
        </p:nvSpPr>
        <p:spPr>
          <a:xfrm>
            <a:off x="685800"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GLDA chelation; lathers in hard water</a:t>
            </a:r>
            <a:endParaRPr lang="en-US" sz="1100" dirty="0"/>
          </a:p>
        </p:txBody>
      </p:sp>
      <p:sp>
        <p:nvSpPr>
          <p:cNvPr id="11" name="Shape 8"/>
          <p:cNvSpPr/>
          <p:nvPr/>
        </p:nvSpPr>
        <p:spPr>
          <a:xfrm>
            <a:off x="2532888" y="2395728"/>
            <a:ext cx="1792224" cy="2057400"/>
          </a:xfrm>
          <a:prstGeom prst="roundRect">
            <a:avLst>
              <a:gd name="adj" fmla="val 4082"/>
            </a:avLst>
          </a:prstGeom>
          <a:solidFill>
            <a:srgbClr val="E3F5FA"/>
          </a:solidFill>
          <a:ln/>
        </p:spPr>
      </p:sp>
      <p:sp>
        <p:nvSpPr>
          <p:cNvPr id="12" name="Shape 9"/>
          <p:cNvSpPr/>
          <p:nvPr/>
        </p:nvSpPr>
        <p:spPr>
          <a:xfrm>
            <a:off x="3154680" y="2560320"/>
            <a:ext cx="548640" cy="548640"/>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286354" y="2691994"/>
            <a:ext cx="285293" cy="285293"/>
          </a:xfrm>
          <a:prstGeom prst="rect">
            <a:avLst/>
          </a:prstGeom>
        </p:spPr>
      </p:pic>
      <p:sp>
        <p:nvSpPr>
          <p:cNvPr id="14" name="Text 10"/>
          <p:cNvSpPr txBox="1"/>
          <p:nvPr/>
        </p:nvSpPr>
        <p:spPr>
          <a:xfrm>
            <a:off x="2642616"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Natural care</a:t>
            </a:r>
            <a:endParaRPr lang="en-US" sz="1400" dirty="0"/>
          </a:p>
        </p:txBody>
      </p:sp>
      <p:sp>
        <p:nvSpPr>
          <p:cNvPr id="15" name="Text 11"/>
          <p:cNvSpPr txBox="1"/>
          <p:nvPr/>
        </p:nvSpPr>
        <p:spPr>
          <a:xfrm>
            <a:off x="2670048"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Coconut Milk Protein; paraben-free and dermatologically tested, like all Naturale</a:t>
            </a:r>
            <a:endParaRPr lang="en-US" sz="1100" dirty="0"/>
          </a:p>
        </p:txBody>
      </p:sp>
      <p:sp>
        <p:nvSpPr>
          <p:cNvPr id="16" name="Shape 12"/>
          <p:cNvSpPr/>
          <p:nvPr/>
        </p:nvSpPr>
        <p:spPr>
          <a:xfrm>
            <a:off x="4517136" y="2395728"/>
            <a:ext cx="1792224" cy="2057400"/>
          </a:xfrm>
          <a:prstGeom prst="roundRect">
            <a:avLst>
              <a:gd name="adj" fmla="val 4082"/>
            </a:avLst>
          </a:prstGeom>
          <a:solidFill>
            <a:srgbClr val="E3F5FA"/>
          </a:solidFill>
          <a:ln/>
        </p:spPr>
      </p:sp>
      <p:sp>
        <p:nvSpPr>
          <p:cNvPr id="17" name="Shape 13"/>
          <p:cNvSpPr/>
          <p:nvPr/>
        </p:nvSpPr>
        <p:spPr>
          <a:xfrm>
            <a:off x="5138928" y="2560320"/>
            <a:ext cx="548640" cy="548640"/>
          </a:xfrm>
          <a:prstGeom prst="ellipse">
            <a:avLst/>
          </a:prstGeom>
          <a:solidFill>
            <a:srgbClr val="12A5C4"/>
          </a:solidFill>
          <a:ln/>
        </p:spPr>
      </p:sp>
      <p:pic>
        <p:nvPicPr>
          <p:cNvPr id="18" name="Image 2" descr="preencoded.png">    </p:cNvPr>
          <p:cNvPicPr>
            <a:picLocks noChangeAspect="1"/>
          </p:cNvPicPr>
          <p:nvPr/>
        </p:nvPicPr>
        <p:blipFill>
          <a:blip r:embed="rId3"/>
          <a:stretch>
            <a:fillRect/>
          </a:stretch>
        </p:blipFill>
        <p:spPr>
          <a:xfrm>
            <a:off x="5270602" y="2691994"/>
            <a:ext cx="285293" cy="285293"/>
          </a:xfrm>
          <a:prstGeom prst="rect">
            <a:avLst/>
          </a:prstGeom>
        </p:spPr>
      </p:pic>
      <p:sp>
        <p:nvSpPr>
          <p:cNvPr id="19" name="Text 14"/>
          <p:cNvSpPr txBox="1"/>
          <p:nvPr/>
        </p:nvSpPr>
        <p:spPr>
          <a:xfrm>
            <a:off x="4626864"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Know your water</a:t>
            </a:r>
            <a:endParaRPr lang="en-US" sz="1400" dirty="0"/>
          </a:p>
        </p:txBody>
      </p:sp>
      <p:sp>
        <p:nvSpPr>
          <p:cNvPr id="20" name="Text 15"/>
          <p:cNvSpPr txBox="1"/>
          <p:nvPr/>
        </p:nvSpPr>
        <p:spPr>
          <a:xfrm>
            <a:off x="4654296"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PaniCheck strip and Pani Map</a:t>
            </a:r>
            <a:endParaRPr lang="en-US" sz="1100" dirty="0"/>
          </a:p>
        </p:txBody>
      </p:sp>
      <p:sp>
        <p:nvSpPr>
          <p:cNvPr id="21" name="Shape 16"/>
          <p:cNvSpPr/>
          <p:nvPr/>
        </p:nvSpPr>
        <p:spPr>
          <a:xfrm>
            <a:off x="548640" y="4562856"/>
            <a:ext cx="5760720" cy="640080"/>
          </a:xfrm>
          <a:prstGeom prst="roundRect">
            <a:avLst>
              <a:gd name="adj" fmla="val 11429"/>
            </a:avLst>
          </a:prstGeom>
          <a:solidFill>
            <a:srgbClr val="E9F5E7"/>
          </a:solidFill>
          <a:ln/>
        </p:spPr>
      </p:sp>
      <p:sp>
        <p:nvSpPr>
          <p:cNvPr id="22" name="Text 17"/>
          <p:cNvSpPr txBox="1"/>
          <p:nvPr/>
        </p:nvSpPr>
        <p:spPr>
          <a:xfrm>
            <a:off x="731520" y="4562856"/>
            <a:ext cx="5486400" cy="640080"/>
          </a:xfrm>
          <a:prstGeom prst="rect">
            <a:avLst/>
          </a:prstGeom>
          <a:noFill/>
          <a:ln/>
        </p:spPr>
        <p:txBody>
          <a:bodyPr wrap="square" lIns="0" tIns="0" rIns="0" bIns="0" rtlCol="0" anchor="ctr"/>
          <a:lstStyle/>
          <a:p>
            <a:pPr indent="0" marL="0">
              <a:buNone/>
            </a:pPr>
            <a:r>
              <a:rPr lang="en-US" sz="1100" b="1" spc="100" kern="0" dirty="0">
                <a:solidFill>
                  <a:srgbClr val="3E9B3A"/>
                </a:solidFill>
              </a:rPr>
              <a:t>FOUNDATION   </a:t>
            </a:r>
            <a:pPr indent="0" marL="0">
              <a:buNone/>
            </a:pPr>
            <a:r>
              <a:rPr lang="en-US" sz="1300" dirty="0">
                <a:solidFill>
                  <a:srgbClr val="1F2937"/>
                </a:solidFill>
              </a:rPr>
              <a:t>Parachute Naturale, the 2nd most penetrated shampoo brand in Bangladesh</a:t>
            </a:r>
            <a:endParaRPr lang="en-US" sz="1200" dirty="0"/>
          </a:p>
        </p:txBody>
      </p:sp>
      <p:sp>
        <p:nvSpPr>
          <p:cNvPr id="23" name="Text 18"/>
          <p:cNvSpPr txBox="1"/>
          <p:nvPr/>
        </p:nvSpPr>
        <p:spPr>
          <a:xfrm>
            <a:off x="548640" y="5394960"/>
            <a:ext cx="1097280" cy="365760"/>
          </a:xfrm>
          <a:prstGeom prst="rect">
            <a:avLst/>
          </a:prstGeom>
          <a:noFill/>
          <a:ln/>
        </p:spPr>
        <p:txBody>
          <a:bodyPr wrap="square" lIns="0" tIns="0" rIns="0" bIns="0" rtlCol="0" anchor="ctr"/>
          <a:lstStyle/>
          <a:p>
            <a:pPr indent="0" marL="0">
              <a:buNone/>
            </a:pPr>
            <a:r>
              <a:rPr lang="en-US" sz="1200" b="1" dirty="0">
                <a:solidFill>
                  <a:srgbClr val="141C52"/>
                </a:solidFill>
              </a:rPr>
              <a:t>Personality</a:t>
            </a:r>
            <a:endParaRPr lang="en-US" sz="1200" dirty="0"/>
          </a:p>
        </p:txBody>
      </p:sp>
      <p:sp>
        <p:nvSpPr>
          <p:cNvPr id="24" name="Shape 19"/>
          <p:cNvSpPr/>
          <p:nvPr/>
        </p:nvSpPr>
        <p:spPr>
          <a:xfrm>
            <a:off x="1691640" y="5394960"/>
            <a:ext cx="1051560" cy="365760"/>
          </a:xfrm>
          <a:prstGeom prst="roundRect">
            <a:avLst>
              <a:gd name="adj" fmla="val 20000"/>
            </a:avLst>
          </a:prstGeom>
          <a:solidFill>
            <a:srgbClr val="FFFFFF"/>
          </a:solidFill>
          <a:ln w="12700">
            <a:solidFill>
              <a:srgbClr val="12A5C4"/>
            </a:solidFill>
            <a:prstDash val="solid"/>
          </a:ln>
        </p:spPr>
      </p:sp>
      <p:sp>
        <p:nvSpPr>
          <p:cNvPr id="25" name="Text 20"/>
          <p:cNvSpPr txBox="1"/>
          <p:nvPr/>
        </p:nvSpPr>
        <p:spPr>
          <a:xfrm>
            <a:off x="1691640"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Smart</a:t>
            </a:r>
            <a:endParaRPr lang="en-US" sz="1200" dirty="0"/>
          </a:p>
        </p:txBody>
      </p:sp>
      <p:sp>
        <p:nvSpPr>
          <p:cNvPr id="26" name="Shape 21"/>
          <p:cNvSpPr/>
          <p:nvPr/>
        </p:nvSpPr>
        <p:spPr>
          <a:xfrm>
            <a:off x="2852928" y="5394960"/>
            <a:ext cx="1051560" cy="365760"/>
          </a:xfrm>
          <a:prstGeom prst="roundRect">
            <a:avLst>
              <a:gd name="adj" fmla="val 20000"/>
            </a:avLst>
          </a:prstGeom>
          <a:solidFill>
            <a:srgbClr val="FFFFFF"/>
          </a:solidFill>
          <a:ln w="12700">
            <a:solidFill>
              <a:srgbClr val="12A5C4"/>
            </a:solidFill>
            <a:prstDash val="solid"/>
          </a:ln>
        </p:spPr>
      </p:sp>
      <p:sp>
        <p:nvSpPr>
          <p:cNvPr id="27" name="Text 22"/>
          <p:cNvSpPr txBox="1"/>
          <p:nvPr/>
        </p:nvSpPr>
        <p:spPr>
          <a:xfrm>
            <a:off x="2852928"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Honest</a:t>
            </a:r>
            <a:endParaRPr lang="en-US" sz="1200" dirty="0"/>
          </a:p>
        </p:txBody>
      </p:sp>
      <p:sp>
        <p:nvSpPr>
          <p:cNvPr id="28" name="Shape 23"/>
          <p:cNvSpPr/>
          <p:nvPr/>
        </p:nvSpPr>
        <p:spPr>
          <a:xfrm>
            <a:off x="4014216" y="5394960"/>
            <a:ext cx="1051560" cy="365760"/>
          </a:xfrm>
          <a:prstGeom prst="roundRect">
            <a:avLst>
              <a:gd name="adj" fmla="val 20000"/>
            </a:avLst>
          </a:prstGeom>
          <a:solidFill>
            <a:srgbClr val="FFFFFF"/>
          </a:solidFill>
          <a:ln w="12700">
            <a:solidFill>
              <a:srgbClr val="12A5C4"/>
            </a:solidFill>
            <a:prstDash val="solid"/>
          </a:ln>
        </p:spPr>
      </p:sp>
      <p:sp>
        <p:nvSpPr>
          <p:cNvPr id="29" name="Text 24"/>
          <p:cNvSpPr txBox="1"/>
          <p:nvPr/>
        </p:nvSpPr>
        <p:spPr>
          <a:xfrm>
            <a:off x="4014216"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Reassuring</a:t>
            </a:r>
            <a:endParaRPr lang="en-US" sz="1200" dirty="0"/>
          </a:p>
        </p:txBody>
      </p:sp>
      <p:sp>
        <p:nvSpPr>
          <p:cNvPr id="30" name="Shape 25"/>
          <p:cNvSpPr/>
          <p:nvPr/>
        </p:nvSpPr>
        <p:spPr>
          <a:xfrm>
            <a:off x="5175504" y="5394960"/>
            <a:ext cx="1051560" cy="365760"/>
          </a:xfrm>
          <a:prstGeom prst="roundRect">
            <a:avLst>
              <a:gd name="adj" fmla="val 20000"/>
            </a:avLst>
          </a:prstGeom>
          <a:solidFill>
            <a:srgbClr val="FFFFFF"/>
          </a:solidFill>
          <a:ln w="12700">
            <a:solidFill>
              <a:srgbClr val="12A5C4"/>
            </a:solidFill>
            <a:prstDash val="solid"/>
          </a:ln>
        </p:spPr>
      </p:sp>
      <p:sp>
        <p:nvSpPr>
          <p:cNvPr id="31" name="Text 26"/>
          <p:cNvSpPr txBox="1"/>
          <p:nvPr/>
        </p:nvSpPr>
        <p:spPr>
          <a:xfrm>
            <a:off x="5175504"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Youthful</a:t>
            </a:r>
            <a:endParaRPr lang="en-US" sz="1200" dirty="0"/>
          </a:p>
        </p:txBody>
      </p:sp>
      <p:sp>
        <p:nvSpPr>
          <p:cNvPr id="32" name="Shape 27"/>
          <p:cNvSpPr/>
          <p:nvPr/>
        </p:nvSpPr>
        <p:spPr>
          <a:xfrm>
            <a:off x="6583680" y="1554480"/>
            <a:ext cx="5056632" cy="1417320"/>
          </a:xfrm>
          <a:prstGeom prst="roundRect">
            <a:avLst>
              <a:gd name="adj" fmla="val 5161"/>
            </a:avLst>
          </a:prstGeom>
          <a:solidFill>
            <a:srgbClr val="F3F6FA"/>
          </a:solidFill>
          <a:ln/>
        </p:spPr>
      </p:sp>
      <p:sp>
        <p:nvSpPr>
          <p:cNvPr id="33" name="Text 28"/>
          <p:cNvSpPr txBox="1"/>
          <p:nvPr/>
        </p:nvSpPr>
        <p:spPr>
          <a:xfrm>
            <a:off x="6766560" y="1664208"/>
            <a:ext cx="4709160" cy="1234440"/>
          </a:xfrm>
          <a:prstGeom prst="rect">
            <a:avLst/>
          </a:prstGeom>
          <a:noFill/>
          <a:ln/>
        </p:spPr>
        <p:txBody>
          <a:bodyPr wrap="square" lIns="0" tIns="0" rIns="0" bIns="0" rtlCol="0" anchor="t"/>
          <a:lstStyle/>
          <a:p>
            <a:pPr indent="0" marL="0">
              <a:buNone/>
            </a:pPr>
            <a:r>
              <a:rPr lang="en-US" sz="1100" b="1" spc="100" kern="0" dirty="0">
                <a:solidFill>
                  <a:srgbClr val="0E7FA0"/>
                </a:solidFill>
              </a:rPr>
              <a:t>CATEGORY FIT</a:t>
            </a:r>
            <a:endParaRPr lang="en-US" sz="1200" dirty="0"/>
          </a:p>
          <a:p>
            <a:pPr indent="0" marL="0">
              <a:buNone/>
            </a:pPr>
            <a:r>
              <a:rPr lang="en-US" sz="1200" dirty="0">
                <a:solidFill>
                  <a:srgbClr val="1F2937"/>
                </a:solidFill>
              </a:rPr>
              <a:t>Existing category: hair cleansing. New need-state: water-smart cleansing, the first Naturale variant chosen by your water rather than your hair type. It answers the brief’s call for “hair cleansing solutions for emerging consumer needs and usage occasions”.</a:t>
            </a:r>
            <a:endParaRPr lang="en-US" sz="1200" dirty="0"/>
          </a:p>
        </p:txBody>
      </p:sp>
      <p:sp>
        <p:nvSpPr>
          <p:cNvPr id="34" name="Shape 29"/>
          <p:cNvSpPr/>
          <p:nvPr/>
        </p:nvSpPr>
        <p:spPr>
          <a:xfrm>
            <a:off x="6583680" y="3081528"/>
            <a:ext cx="5056632" cy="1691640"/>
          </a:xfrm>
          <a:prstGeom prst="roundRect">
            <a:avLst>
              <a:gd name="adj" fmla="val 4324"/>
            </a:avLst>
          </a:prstGeom>
          <a:solidFill>
            <a:srgbClr val="F3F6FA"/>
          </a:solidFill>
          <a:ln/>
        </p:spPr>
      </p:sp>
      <p:sp>
        <p:nvSpPr>
          <p:cNvPr id="35" name="Text 30"/>
          <p:cNvSpPr txBox="1"/>
          <p:nvPr/>
        </p:nvSpPr>
        <p:spPr>
          <a:xfrm>
            <a:off x="6766560" y="3182112"/>
            <a:ext cx="4709160" cy="1536192"/>
          </a:xfrm>
          <a:prstGeom prst="rect">
            <a:avLst/>
          </a:prstGeom>
          <a:noFill/>
          <a:ln/>
        </p:spPr>
        <p:txBody>
          <a:bodyPr wrap="square" lIns="0" tIns="0" rIns="0" bIns="0" rtlCol="0" anchor="t"/>
          <a:lstStyle/>
          <a:p>
            <a:pPr indent="0" marL="0">
              <a:buNone/>
            </a:pPr>
            <a:r>
              <a:rPr lang="en-US" sz="1100" b="1" spc="100" kern="0" dirty="0">
                <a:solidFill>
                  <a:srgbClr val="0E7FA0"/>
                </a:solidFill>
              </a:rPr>
              <a:t>WHY UNDER NATURALE</a:t>
            </a:r>
            <a:endParaRPr lang="en-US" sz="1200" dirty="0"/>
          </a:p>
          <a:p>
            <a:pPr marL="152400" indent="-152400">
              <a:spcBef>
                <a:spcPts val="400"/>
              </a:spcBef>
              <a:buSzPct val="100000"/>
              <a:buChar char="•"/>
            </a:pPr>
            <a:r>
              <a:rPr lang="en-US" sz="1200" dirty="0">
                <a:solidFill>
                  <a:srgbClr val="1F2937"/>
                </a:solidFill>
              </a:rPr>
              <a:t>2nd most penetrated shampoo brand (Marico FY26)</a:t>
            </a:r>
            <a:endParaRPr lang="en-US" sz="1200" dirty="0"/>
          </a:p>
          <a:p>
            <a:pPr marL="152400" indent="-152400">
              <a:spcBef>
                <a:spcPts val="400"/>
              </a:spcBef>
              <a:buSzPct val="100000"/>
              <a:buChar char="•"/>
            </a:pPr>
            <a:r>
              <a:rPr lang="en-US" sz="1200" dirty="0">
                <a:solidFill>
                  <a:srgbClr val="1F2937"/>
                </a:solidFill>
              </a:rPr>
              <a:t>Same hero ingredient: Coconut Milk Protein</a:t>
            </a:r>
            <a:endParaRPr lang="en-US" sz="1200" dirty="0"/>
          </a:p>
          <a:p>
            <a:pPr marL="152400" indent="-152400">
              <a:spcBef>
                <a:spcPts val="400"/>
              </a:spcBef>
              <a:buSzPct val="100000"/>
              <a:buChar char="•"/>
            </a:pPr>
            <a:r>
              <a:rPr lang="en-US" sz="1200" dirty="0">
                <a:solidFill>
                  <a:srgbClr val="1F2937"/>
                </a:solidFill>
              </a:rPr>
              <a:t>Existing general trade, modern trade and e-commerce reach; e-commerce shampoo grew about 45% in FY26</a:t>
            </a:r>
            <a:endParaRPr lang="en-US" sz="1200" dirty="0"/>
          </a:p>
          <a:p>
            <a:pPr marL="152400" indent="-152400">
              <a:spcBef>
                <a:spcPts val="400"/>
              </a:spcBef>
              <a:buSzPct val="100000"/>
              <a:buChar char="•"/>
            </a:pPr>
            <a:r>
              <a:rPr lang="en-US" sz="1200" dirty="0">
                <a:solidFill>
                  <a:srgbClr val="1F2937"/>
                </a:solidFill>
              </a:rPr>
              <a:t>Cheaper to launch than a new brand</a:t>
            </a:r>
            <a:endParaRPr lang="en-US" sz="1200" dirty="0"/>
          </a:p>
        </p:txBody>
      </p:sp>
      <p:sp>
        <p:nvSpPr>
          <p:cNvPr id="36" name="Shape 31"/>
          <p:cNvSpPr/>
          <p:nvPr/>
        </p:nvSpPr>
        <p:spPr>
          <a:xfrm>
            <a:off x="6583680" y="4882896"/>
            <a:ext cx="1618488" cy="877824"/>
          </a:xfrm>
          <a:prstGeom prst="roundRect">
            <a:avLst>
              <a:gd name="adj" fmla="val 8333"/>
            </a:avLst>
          </a:prstGeom>
          <a:solidFill>
            <a:srgbClr val="FFF4E0"/>
          </a:solidFill>
          <a:ln/>
        </p:spPr>
      </p:sp>
      <p:sp>
        <p:nvSpPr>
          <p:cNvPr id="37" name="Text 32"/>
          <p:cNvSpPr txBox="1"/>
          <p:nvPr/>
        </p:nvSpPr>
        <p:spPr>
          <a:xfrm>
            <a:off x="6675120"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INNOVATION</a:t>
            </a:r>
            <a:endParaRPr lang="en-US" sz="1200" dirty="0"/>
          </a:p>
          <a:p>
            <a:pPr indent="0" marL="0">
              <a:buNone/>
            </a:pPr>
            <a:r>
              <a:rPr lang="en-US" sz="1100" dirty="0">
                <a:solidFill>
                  <a:srgbClr val="1F2937"/>
                </a:solidFill>
              </a:rPr>
              <a:t>Formula + a test in the cap</a:t>
            </a:r>
            <a:endParaRPr lang="en-US" sz="1200" dirty="0"/>
          </a:p>
        </p:txBody>
      </p:sp>
      <p:sp>
        <p:nvSpPr>
          <p:cNvPr id="38" name="Shape 33"/>
          <p:cNvSpPr/>
          <p:nvPr/>
        </p:nvSpPr>
        <p:spPr>
          <a:xfrm>
            <a:off x="8302752" y="4882896"/>
            <a:ext cx="1618488" cy="877824"/>
          </a:xfrm>
          <a:prstGeom prst="roundRect">
            <a:avLst>
              <a:gd name="adj" fmla="val 8333"/>
            </a:avLst>
          </a:prstGeom>
          <a:solidFill>
            <a:srgbClr val="FFF4E0"/>
          </a:solidFill>
          <a:ln/>
        </p:spPr>
      </p:sp>
      <p:sp>
        <p:nvSpPr>
          <p:cNvPr id="39" name="Text 34"/>
          <p:cNvSpPr txBox="1"/>
          <p:nvPr/>
        </p:nvSpPr>
        <p:spPr>
          <a:xfrm>
            <a:off x="8394192"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DIVERSIFICATION</a:t>
            </a:r>
            <a:endParaRPr lang="en-US" sz="1200" dirty="0"/>
          </a:p>
          <a:p>
            <a:pPr indent="0" marL="0">
              <a:buNone/>
            </a:pPr>
            <a:r>
              <a:rPr lang="en-US" sz="1100" dirty="0">
                <a:solidFill>
                  <a:srgbClr val="1F2937"/>
                </a:solidFill>
              </a:rPr>
              <a:t>New need-state; coastal Phase 2</a:t>
            </a:r>
            <a:endParaRPr lang="en-US" sz="1200" dirty="0"/>
          </a:p>
        </p:txBody>
      </p:sp>
      <p:sp>
        <p:nvSpPr>
          <p:cNvPr id="40" name="Shape 35"/>
          <p:cNvSpPr/>
          <p:nvPr/>
        </p:nvSpPr>
        <p:spPr>
          <a:xfrm>
            <a:off x="10021824" y="4882896"/>
            <a:ext cx="1618488" cy="877824"/>
          </a:xfrm>
          <a:prstGeom prst="roundRect">
            <a:avLst>
              <a:gd name="adj" fmla="val 8333"/>
            </a:avLst>
          </a:prstGeom>
          <a:solidFill>
            <a:srgbClr val="FFF4E0"/>
          </a:solidFill>
          <a:ln/>
        </p:spPr>
      </p:sp>
      <p:sp>
        <p:nvSpPr>
          <p:cNvPr id="41" name="Text 36"/>
          <p:cNvSpPr txBox="1"/>
          <p:nvPr/>
        </p:nvSpPr>
        <p:spPr>
          <a:xfrm>
            <a:off x="10113264"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SCALING UP</a:t>
            </a:r>
            <a:endParaRPr lang="en-US" sz="1200" dirty="0"/>
          </a:p>
          <a:p>
            <a:pPr indent="0" marL="0">
              <a:buNone/>
            </a:pPr>
            <a:r>
              <a:rPr lang="en-US" sz="1100" dirty="0">
                <a:solidFill>
                  <a:srgbClr val="1F2937"/>
                </a:solidFill>
              </a:rPr>
              <a:t>Existing lines; sachet-to-bottle ladder</a:t>
            </a:r>
            <a:endParaRPr lang="en-US" sz="1200" dirty="0"/>
          </a:p>
        </p:txBody>
      </p:sp>
      <p:sp>
        <p:nvSpPr>
          <p:cNvPr id="42" name="Text 3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(Naturale penetration, e-commerce shampoo growth); OTW Season 5 case brief. Innovation, Diversification and Scaling Up are the Season 5 pivots.</a:t>
            </a:r>
            <a:endParaRPr lang="en-US" sz="1000" dirty="0"/>
          </a:p>
        </p:txBody>
      </p:sp>
      <p:sp>
        <p:nvSpPr>
          <p:cNvPr id="4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MARKET / OPPORTUNITY SIZE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mass-market problem: a Tk ~2,150 Cr category and Tk 71 Cr of WaterSmart sales by Year 3</a:t>
            </a:r>
            <a:endParaRPr lang="en-US" sz="2600" dirty="0"/>
          </a:p>
        </p:txBody>
      </p:sp>
      <p:sp>
        <p:nvSpPr>
          <p:cNvPr id="4" name="Shape 2"/>
          <p:cNvSpPr/>
          <p:nvPr/>
        </p:nvSpPr>
        <p:spPr>
          <a:xfrm>
            <a:off x="548640" y="1691640"/>
            <a:ext cx="4160520" cy="4160520"/>
          </a:xfrm>
          <a:prstGeom prst="ellipse">
            <a:avLst/>
          </a:prstGeom>
          <a:solidFill>
            <a:srgbClr val="DCE3F3"/>
          </a:solidFill>
          <a:ln/>
        </p:spPr>
      </p:sp>
      <p:sp>
        <p:nvSpPr>
          <p:cNvPr id="5" name="Shape 3"/>
          <p:cNvSpPr/>
          <p:nvPr/>
        </p:nvSpPr>
        <p:spPr>
          <a:xfrm>
            <a:off x="1161288" y="2880360"/>
            <a:ext cx="2926080" cy="2926080"/>
          </a:xfrm>
          <a:prstGeom prst="ellipse">
            <a:avLst/>
          </a:prstGeom>
          <a:solidFill>
            <a:srgbClr val="9ED9E8"/>
          </a:solidFill>
          <a:ln/>
        </p:spPr>
      </p:sp>
      <p:sp>
        <p:nvSpPr>
          <p:cNvPr id="6" name="Shape 4"/>
          <p:cNvSpPr/>
          <p:nvPr/>
        </p:nvSpPr>
        <p:spPr>
          <a:xfrm>
            <a:off x="1847088" y="4206240"/>
            <a:ext cx="1554480" cy="1554480"/>
          </a:xfrm>
          <a:prstGeom prst="ellipse">
            <a:avLst/>
          </a:prstGeom>
          <a:solidFill>
            <a:srgbClr val="F5A31A"/>
          </a:solidFill>
          <a:ln/>
        </p:spPr>
      </p:sp>
      <p:sp>
        <p:nvSpPr>
          <p:cNvPr id="7" name="Text 5"/>
          <p:cNvSpPr txBox="1"/>
          <p:nvPr/>
        </p:nvSpPr>
        <p:spPr>
          <a:xfrm>
            <a:off x="1280160" y="1920240"/>
            <a:ext cx="2697480" cy="731520"/>
          </a:xfrm>
          <a:prstGeom prst="rect">
            <a:avLst/>
          </a:prstGeom>
          <a:noFill/>
          <a:ln/>
        </p:spPr>
        <p:txBody>
          <a:bodyPr wrap="square" lIns="0" tIns="0" rIns="0" bIns="0" rtlCol="0" anchor="t"/>
          <a:lstStyle/>
          <a:p>
            <a:pPr algn="ctr" indent="0" marL="0">
              <a:buNone/>
            </a:pPr>
            <a:r>
              <a:rPr lang="en-US" sz="1100" b="1" dirty="0">
                <a:solidFill>
                  <a:srgbClr val="141C52"/>
                </a:solidFill>
              </a:rPr>
              <a:t>TAM</a:t>
            </a:r>
            <a:endParaRPr lang="en-US" sz="1200" dirty="0"/>
          </a:p>
          <a:p>
            <a:pPr algn="ctr" indent="0" marL="0">
              <a:buNone/>
            </a:pPr>
            <a:r>
              <a:rPr lang="en-US" sz="1800" b="1" dirty="0">
                <a:solidFill>
                  <a:srgbClr val="141C52"/>
                </a:solidFill>
              </a:rPr>
              <a:t>Tk ~2,150 Cr</a:t>
            </a:r>
            <a:endParaRPr lang="en-US" sz="1200" dirty="0"/>
          </a:p>
        </p:txBody>
      </p:sp>
      <p:sp>
        <p:nvSpPr>
          <p:cNvPr id="8" name="Text 6"/>
          <p:cNvSpPr txBox="1"/>
          <p:nvPr/>
        </p:nvSpPr>
        <p:spPr>
          <a:xfrm>
            <a:off x="1463040" y="3154680"/>
            <a:ext cx="2331720" cy="731520"/>
          </a:xfrm>
          <a:prstGeom prst="rect">
            <a:avLst/>
          </a:prstGeom>
          <a:noFill/>
          <a:ln/>
        </p:spPr>
        <p:txBody>
          <a:bodyPr wrap="square" lIns="0" tIns="0" rIns="0" bIns="0" rtlCol="0" anchor="t"/>
          <a:lstStyle/>
          <a:p>
            <a:pPr algn="ctr" indent="0" marL="0">
              <a:buNone/>
            </a:pPr>
            <a:r>
              <a:rPr lang="en-US" sz="1100" b="1" dirty="0">
                <a:solidFill>
                  <a:srgbClr val="141C52"/>
                </a:solidFill>
              </a:rPr>
              <a:t>SAM</a:t>
            </a:r>
            <a:endParaRPr lang="en-US" sz="1200" dirty="0"/>
          </a:p>
          <a:p>
            <a:pPr algn="ctr" indent="0" marL="0">
              <a:buNone/>
            </a:pPr>
            <a:r>
              <a:rPr lang="en-US" sz="1500" b="1" dirty="0">
                <a:solidFill>
                  <a:srgbClr val="141C52"/>
                </a:solidFill>
              </a:rPr>
              <a:t>Up to ~21M Movers</a:t>
            </a:r>
            <a:endParaRPr lang="en-US" sz="1200" dirty="0"/>
          </a:p>
        </p:txBody>
      </p:sp>
      <p:sp>
        <p:nvSpPr>
          <p:cNvPr id="9" name="Text 7"/>
          <p:cNvSpPr txBox="1"/>
          <p:nvPr/>
        </p:nvSpPr>
        <p:spPr>
          <a:xfrm>
            <a:off x="1847088" y="4617720"/>
            <a:ext cx="1554480" cy="731520"/>
          </a:xfrm>
          <a:prstGeom prst="rect">
            <a:avLst/>
          </a:prstGeom>
          <a:noFill/>
          <a:ln/>
        </p:spPr>
        <p:txBody>
          <a:bodyPr wrap="square" lIns="0" tIns="0" rIns="0" bIns="0" rtlCol="0" anchor="t"/>
          <a:lstStyle/>
          <a:p>
            <a:pPr algn="ctr" indent="0" marL="0">
              <a:buNone/>
            </a:pPr>
            <a:r>
              <a:rPr lang="en-US" sz="1000" b="1" dirty="0">
                <a:solidFill>
                  <a:srgbClr val="141C52"/>
                </a:solidFill>
              </a:rPr>
              <a:t>SOM, Y3</a:t>
            </a:r>
            <a:endParaRPr lang="en-US" sz="1200" dirty="0"/>
          </a:p>
          <a:p>
            <a:pPr algn="ctr" indent="0" marL="0">
              <a:buNone/>
            </a:pPr>
            <a:r>
              <a:rPr lang="en-US" sz="1700" b="1" dirty="0">
                <a:solidFill>
                  <a:srgbClr val="141C52"/>
                </a:solidFill>
              </a:rPr>
              <a:t>Tk 71 Cr</a:t>
            </a:r>
            <a:endParaRPr lang="en-US" sz="1200" dirty="0"/>
          </a:p>
        </p:txBody>
      </p:sp>
      <p:sp>
        <p:nvSpPr>
          <p:cNvPr id="10" name="Shape 8"/>
          <p:cNvSpPr/>
          <p:nvPr/>
        </p:nvSpPr>
        <p:spPr>
          <a:xfrm>
            <a:off x="5120640" y="1600200"/>
            <a:ext cx="6519672" cy="1115568"/>
          </a:xfrm>
          <a:prstGeom prst="roundRect">
            <a:avLst>
              <a:gd name="adj" fmla="val 6557"/>
            </a:avLst>
          </a:prstGeom>
          <a:solidFill>
            <a:srgbClr val="F3F6FA"/>
          </a:solidFill>
          <a:ln/>
        </p:spPr>
      </p:sp>
      <p:sp>
        <p:nvSpPr>
          <p:cNvPr id="11" name="Shape 9"/>
          <p:cNvSpPr/>
          <p:nvPr/>
        </p:nvSpPr>
        <p:spPr>
          <a:xfrm>
            <a:off x="5285232" y="1929384"/>
            <a:ext cx="868680" cy="457200"/>
          </a:xfrm>
          <a:prstGeom prst="roundRect">
            <a:avLst>
              <a:gd name="adj" fmla="val 16000"/>
            </a:avLst>
          </a:prstGeom>
          <a:solidFill>
            <a:srgbClr val="141C52"/>
          </a:solidFill>
          <a:ln/>
        </p:spPr>
      </p:sp>
      <p:sp>
        <p:nvSpPr>
          <p:cNvPr id="12" name="Text 10"/>
          <p:cNvSpPr txBox="1"/>
          <p:nvPr/>
        </p:nvSpPr>
        <p:spPr>
          <a:xfrm>
            <a:off x="5285232" y="1929384"/>
            <a:ext cx="868680" cy="457200"/>
          </a:xfrm>
          <a:prstGeom prst="rect">
            <a:avLst/>
          </a:prstGeom>
          <a:noFill/>
          <a:ln/>
        </p:spPr>
        <p:txBody>
          <a:bodyPr wrap="square" lIns="0" tIns="0" rIns="0" bIns="0" rtlCol="0" anchor="ctr"/>
          <a:lstStyle/>
          <a:p>
            <a:pPr algn="ctr" indent="0" marL="0">
              <a:buNone/>
            </a:pPr>
            <a:r>
              <a:rPr lang="en-US" sz="1400" b="1" dirty="0">
                <a:solidFill>
                  <a:srgbClr val="FFFFFF"/>
                </a:solidFill>
              </a:rPr>
              <a:t>TAM</a:t>
            </a:r>
            <a:endParaRPr lang="en-US" sz="1400" dirty="0"/>
          </a:p>
        </p:txBody>
      </p:sp>
      <p:sp>
        <p:nvSpPr>
          <p:cNvPr id="13" name="Text 11"/>
          <p:cNvSpPr txBox="1"/>
          <p:nvPr/>
        </p:nvSpPr>
        <p:spPr>
          <a:xfrm>
            <a:off x="6355080" y="169164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~2,150 Cr: Bangladesh shampoo market value, 2026 estimate (USD 176M, Mordor; Tk 122/USD). The problem is national: 58 of 61 sampled districts are majority-flagged for iron or hardness.</a:t>
            </a:r>
            <a:endParaRPr lang="en-US" sz="1200" dirty="0"/>
          </a:p>
        </p:txBody>
      </p:sp>
      <p:sp>
        <p:nvSpPr>
          <p:cNvPr id="14" name="Shape 12"/>
          <p:cNvSpPr/>
          <p:nvPr/>
        </p:nvSpPr>
        <p:spPr>
          <a:xfrm>
            <a:off x="5120640" y="2834640"/>
            <a:ext cx="6519672" cy="1115568"/>
          </a:xfrm>
          <a:prstGeom prst="roundRect">
            <a:avLst>
              <a:gd name="adj" fmla="val 6557"/>
            </a:avLst>
          </a:prstGeom>
          <a:solidFill>
            <a:srgbClr val="F3F6FA"/>
          </a:solidFill>
          <a:ln/>
        </p:spPr>
      </p:sp>
      <p:sp>
        <p:nvSpPr>
          <p:cNvPr id="15" name="Shape 13"/>
          <p:cNvSpPr/>
          <p:nvPr/>
        </p:nvSpPr>
        <p:spPr>
          <a:xfrm>
            <a:off x="5285232" y="3163824"/>
            <a:ext cx="868680" cy="457200"/>
          </a:xfrm>
          <a:prstGeom prst="roundRect">
            <a:avLst>
              <a:gd name="adj" fmla="val 16000"/>
            </a:avLst>
          </a:prstGeom>
          <a:solidFill>
            <a:srgbClr val="9ED9E8"/>
          </a:solidFill>
          <a:ln/>
        </p:spPr>
      </p:sp>
      <p:sp>
        <p:nvSpPr>
          <p:cNvPr id="16" name="Text 14"/>
          <p:cNvSpPr txBox="1"/>
          <p:nvPr/>
        </p:nvSpPr>
        <p:spPr>
          <a:xfrm>
            <a:off x="5285232" y="316382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SAM</a:t>
            </a:r>
            <a:endParaRPr lang="en-US" sz="1400" dirty="0"/>
          </a:p>
        </p:txBody>
      </p:sp>
      <p:sp>
        <p:nvSpPr>
          <p:cNvPr id="17" name="Text 15"/>
          <p:cNvSpPr txBox="1"/>
          <p:nvPr/>
        </p:nvSpPr>
        <p:spPr>
          <a:xfrm>
            <a:off x="6355080" y="2926080"/>
            <a:ext cx="5120640" cy="932688"/>
          </a:xfrm>
          <a:prstGeom prst="rect">
            <a:avLst/>
          </a:prstGeom>
          <a:noFill/>
          <a:ln/>
        </p:spPr>
        <p:txBody>
          <a:bodyPr wrap="square" lIns="0" tIns="0" rIns="0" bIns="0" rtlCol="0" anchor="ctr"/>
          <a:lstStyle/>
          <a:p>
            <a:pPr indent="0" marL="0">
              <a:buNone/>
            </a:pPr>
            <a:r>
              <a:rPr lang="en-US" sz="1200" dirty="0">
                <a:solidFill>
                  <a:srgbClr val="1F2937"/>
                </a:solidFill>
              </a:rPr>
              <a:t>Up to ~21M Movers: 4.82M students in public universities and affiliated colleges (UGC 2023) plus ~16.5M lifetime internal migrants (9.7% of 169.8M people, 2011 census share). The groups overlap.</a:t>
            </a:r>
            <a:endParaRPr lang="en-US" sz="1200" dirty="0"/>
          </a:p>
        </p:txBody>
      </p:sp>
      <p:sp>
        <p:nvSpPr>
          <p:cNvPr id="18" name="Shape 16"/>
          <p:cNvSpPr/>
          <p:nvPr/>
        </p:nvSpPr>
        <p:spPr>
          <a:xfrm>
            <a:off x="5120640" y="4069080"/>
            <a:ext cx="6519672" cy="1115568"/>
          </a:xfrm>
          <a:prstGeom prst="roundRect">
            <a:avLst>
              <a:gd name="adj" fmla="val 6557"/>
            </a:avLst>
          </a:prstGeom>
          <a:solidFill>
            <a:srgbClr val="F3F6FA"/>
          </a:solidFill>
          <a:ln/>
        </p:spPr>
      </p:sp>
      <p:sp>
        <p:nvSpPr>
          <p:cNvPr id="19" name="Shape 17"/>
          <p:cNvSpPr/>
          <p:nvPr/>
        </p:nvSpPr>
        <p:spPr>
          <a:xfrm>
            <a:off x="5285232" y="4398264"/>
            <a:ext cx="868680" cy="457200"/>
          </a:xfrm>
          <a:prstGeom prst="roundRect">
            <a:avLst>
              <a:gd name="adj" fmla="val 16000"/>
            </a:avLst>
          </a:prstGeom>
          <a:solidFill>
            <a:srgbClr val="F5A31A"/>
          </a:solidFill>
          <a:ln/>
        </p:spPr>
      </p:sp>
      <p:sp>
        <p:nvSpPr>
          <p:cNvPr id="20" name="Text 18"/>
          <p:cNvSpPr txBox="1"/>
          <p:nvPr/>
        </p:nvSpPr>
        <p:spPr>
          <a:xfrm>
            <a:off x="5285232" y="439826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SOM</a:t>
            </a:r>
            <a:endParaRPr lang="en-US" sz="1400" dirty="0"/>
          </a:p>
        </p:txBody>
      </p:sp>
      <p:sp>
        <p:nvSpPr>
          <p:cNvPr id="21" name="Text 19"/>
          <p:cNvSpPr txBox="1"/>
          <p:nvPr/>
        </p:nvSpPr>
        <p:spPr>
          <a:xfrm>
            <a:off x="6355080" y="416052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70.8 Cr gross sales in Year 3, 3.3% of today’s category. 131M washes a year is about 1.3M regular users at two washes a week, roughly 6% of Movers.</a:t>
            </a:r>
            <a:endParaRPr lang="en-US" sz="1200" dirty="0"/>
          </a:p>
        </p:txBody>
      </p:sp>
      <p:sp>
        <p:nvSpPr>
          <p:cNvPr id="22" name="Shape 20"/>
          <p:cNvSpPr/>
          <p:nvPr/>
        </p:nvSpPr>
        <p:spPr>
          <a:xfrm>
            <a:off x="5120640" y="5349240"/>
            <a:ext cx="6519672" cy="566928"/>
          </a:xfrm>
          <a:prstGeom prst="roundRect">
            <a:avLst>
              <a:gd name="adj" fmla="val 12903"/>
            </a:avLst>
          </a:prstGeom>
          <a:solidFill>
            <a:srgbClr val="E3F5FA"/>
          </a:solidFill>
          <a:ln/>
        </p:spPr>
      </p:sp>
      <p:sp>
        <p:nvSpPr>
          <p:cNvPr id="23" name="Text 21"/>
          <p:cNvSpPr txBox="1"/>
          <p:nvPr/>
        </p:nvSpPr>
        <p:spPr>
          <a:xfrm>
            <a:off x="5303520" y="5349240"/>
            <a:ext cx="6217920" cy="566928"/>
          </a:xfrm>
          <a:prstGeom prst="rect">
            <a:avLst/>
          </a:prstGeom>
          <a:noFill/>
          <a:ln/>
        </p:spPr>
        <p:txBody>
          <a:bodyPr wrap="square" lIns="0" tIns="0" rIns="0" bIns="0" rtlCol="0" anchor="ctr"/>
          <a:lstStyle/>
          <a:p>
            <a:pPr indent="0" marL="0">
              <a:buNone/>
            </a:pPr>
            <a:r>
              <a:rPr lang="en-US" sz="1200" dirty="0">
                <a:solidFill>
                  <a:srgbClr val="141C52"/>
                </a:solidFill>
              </a:rPr>
              <a:t>Cross-checks: Year-3 net revenue Tk 41.4 Cr is 2.0% of Marico Bangladesh’s FY26 revenue (Tk 2,071 Cr). Mass, not niche: a Tk 3 sachet entry and 104k outlets by Year 3.</a:t>
            </a:r>
            <a:endParaRPr lang="en-US" sz="1200" dirty="0"/>
          </a:p>
        </p:txBody>
      </p:sp>
      <p:sp>
        <p:nvSpPr>
          <p:cNvPr id="24"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Mordor Intelligence (2026e); UGC Annual Report 2023 via Prothom Alo; BBS Census 2011 (lifetime migration) and 2022 (population); Marico FY26; team model v4. Usage assumption: 7 ml per wash, two washes a week.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VALUE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Our promise: hair that feels clean again, whatever water you live with</a:t>
            </a:r>
            <a:endParaRPr lang="en-US" sz="2600" dirty="0"/>
          </a:p>
        </p:txBody>
      </p:sp>
      <p:sp>
        <p:nvSpPr>
          <p:cNvPr id="4" name="Shape 2"/>
          <p:cNvSpPr/>
          <p:nvPr/>
        </p:nvSpPr>
        <p:spPr>
          <a:xfrm>
            <a:off x="548640" y="1554480"/>
            <a:ext cx="5212080" cy="3611880"/>
          </a:xfrm>
          <a:prstGeom prst="roundRect">
            <a:avLst>
              <a:gd name="adj" fmla="val 2025"/>
            </a:avLst>
          </a:prstGeom>
          <a:solidFill>
            <a:srgbClr val="FBEDE3"/>
          </a:solidFill>
          <a:ln/>
        </p:spPr>
      </p:sp>
      <p:sp>
        <p:nvSpPr>
          <p:cNvPr id="5" name="Shape 3"/>
          <p:cNvSpPr/>
          <p:nvPr/>
        </p:nvSpPr>
        <p:spPr>
          <a:xfrm>
            <a:off x="777240" y="1719072"/>
            <a:ext cx="502920" cy="502920"/>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897941" y="1839773"/>
            <a:ext cx="261518" cy="261518"/>
          </a:xfrm>
          <a:prstGeom prst="rect">
            <a:avLst/>
          </a:prstGeom>
        </p:spPr>
      </p:pic>
      <p:sp>
        <p:nvSpPr>
          <p:cNvPr id="7" name="Text 4"/>
          <p:cNvSpPr txBox="1"/>
          <p:nvPr/>
        </p:nvSpPr>
        <p:spPr>
          <a:xfrm>
            <a:off x="1417320"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The Mover</a:t>
            </a:r>
            <a:endParaRPr lang="en-US" sz="1600" dirty="0"/>
          </a:p>
        </p:txBody>
      </p:sp>
      <p:sp>
        <p:nvSpPr>
          <p:cNvPr id="8" name="Text 5"/>
          <p:cNvSpPr txBox="1"/>
          <p:nvPr/>
        </p:nvSpPr>
        <p:spPr>
          <a:xfrm>
            <a:off x="822960" y="2377440"/>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JOB TO BE DONE</a:t>
            </a:r>
            <a:endParaRPr lang="en-US" sz="1100" dirty="0"/>
          </a:p>
        </p:txBody>
      </p:sp>
      <p:sp>
        <p:nvSpPr>
          <p:cNvPr id="9" name="Text 6"/>
          <p:cNvSpPr txBox="1"/>
          <p:nvPr/>
        </p:nvSpPr>
        <p:spPr>
          <a:xfrm>
            <a:off x="822960"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Get clean, soft hair with whatever water the hall, mess or flat has</a:t>
            </a:r>
            <a:endParaRPr lang="en-US" sz="1200" dirty="0"/>
          </a:p>
        </p:txBody>
      </p:sp>
      <p:sp>
        <p:nvSpPr>
          <p:cNvPr id="10" name="Text 7"/>
          <p:cNvSpPr txBox="1"/>
          <p:nvPr/>
        </p:nvSpPr>
        <p:spPr>
          <a:xfrm>
            <a:off x="822960" y="3273552"/>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PAINS</a:t>
            </a:r>
            <a:endParaRPr lang="en-US" sz="1100" dirty="0"/>
          </a:p>
        </p:txBody>
      </p:sp>
      <p:sp>
        <p:nvSpPr>
          <p:cNvPr id="11" name="Text 8"/>
          <p:cNvSpPr txBox="1"/>
          <p:nvPr/>
        </p:nvSpPr>
        <p:spPr>
          <a:xfrm>
            <a:off x="822960"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Low lather, a rough or sticky feel, dull hair, extra shampoo, orange stains, and “is it me or the water?”</a:t>
            </a:r>
            <a:endParaRPr lang="en-US" sz="1200" dirty="0"/>
          </a:p>
        </p:txBody>
      </p:sp>
      <p:sp>
        <p:nvSpPr>
          <p:cNvPr id="12" name="Text 9"/>
          <p:cNvSpPr txBox="1"/>
          <p:nvPr/>
        </p:nvSpPr>
        <p:spPr>
          <a:xfrm>
            <a:off x="822960" y="4169664"/>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GAINS</a:t>
            </a:r>
            <a:endParaRPr lang="en-US" sz="1100" dirty="0"/>
          </a:p>
        </p:txBody>
      </p:sp>
      <p:sp>
        <p:nvSpPr>
          <p:cNvPr id="13" name="Text 10"/>
          <p:cNvSpPr txBox="1"/>
          <p:nvPr/>
        </p:nvSpPr>
        <p:spPr>
          <a:xfrm>
            <a:off x="822960"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Hair that feels like home, confidence, no wasted money</a:t>
            </a:r>
            <a:endParaRPr lang="en-US" sz="1200" dirty="0"/>
          </a:p>
        </p:txBody>
      </p:sp>
      <p:sp>
        <p:nvSpPr>
          <p:cNvPr id="14" name="Shape 11"/>
          <p:cNvSpPr/>
          <p:nvPr/>
        </p:nvSpPr>
        <p:spPr>
          <a:xfrm>
            <a:off x="6428232" y="1554480"/>
            <a:ext cx="5212080" cy="3611880"/>
          </a:xfrm>
          <a:prstGeom prst="roundRect">
            <a:avLst>
              <a:gd name="adj" fmla="val 2025"/>
            </a:avLst>
          </a:prstGeom>
          <a:solidFill>
            <a:srgbClr val="E3F5FA"/>
          </a:solidFill>
          <a:ln/>
        </p:spPr>
      </p:sp>
      <p:sp>
        <p:nvSpPr>
          <p:cNvPr id="15" name="Shape 12"/>
          <p:cNvSpPr/>
          <p:nvPr/>
        </p:nvSpPr>
        <p:spPr>
          <a:xfrm>
            <a:off x="6656832" y="1719072"/>
            <a:ext cx="502920" cy="502920"/>
          </a:xfrm>
          <a:prstGeom prst="ellipse">
            <a:avLst/>
          </a:prstGeom>
          <a:solidFill>
            <a:srgbClr val="0E7FA0"/>
          </a:solidFill>
          <a:ln/>
        </p:spPr>
      </p:sp>
      <p:pic>
        <p:nvPicPr>
          <p:cNvPr id="16" name="Image 1" descr="preencoded.png">    </p:cNvPr>
          <p:cNvPicPr>
            <a:picLocks noChangeAspect="1"/>
          </p:cNvPicPr>
          <p:nvPr/>
        </p:nvPicPr>
        <p:blipFill>
          <a:blip r:embed="rId2"/>
          <a:stretch>
            <a:fillRect/>
          </a:stretch>
        </p:blipFill>
        <p:spPr>
          <a:xfrm>
            <a:off x="6777533" y="1839773"/>
            <a:ext cx="261518" cy="261518"/>
          </a:xfrm>
          <a:prstGeom prst="rect">
            <a:avLst/>
          </a:prstGeom>
        </p:spPr>
      </p:pic>
      <p:sp>
        <p:nvSpPr>
          <p:cNvPr id="17" name="Text 13"/>
          <p:cNvSpPr txBox="1"/>
          <p:nvPr/>
        </p:nvSpPr>
        <p:spPr>
          <a:xfrm>
            <a:off x="7296912"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WaterSmart</a:t>
            </a:r>
            <a:endParaRPr lang="en-US" sz="1600" dirty="0"/>
          </a:p>
        </p:txBody>
      </p:sp>
      <p:sp>
        <p:nvSpPr>
          <p:cNvPr id="18" name="Text 14"/>
          <p:cNvSpPr txBox="1"/>
          <p:nvPr/>
        </p:nvSpPr>
        <p:spPr>
          <a:xfrm>
            <a:off x="6702552" y="2377440"/>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PRODUCTS</a:t>
            </a:r>
            <a:endParaRPr lang="en-US" sz="1100" dirty="0"/>
          </a:p>
        </p:txBody>
      </p:sp>
      <p:sp>
        <p:nvSpPr>
          <p:cNvPr id="19" name="Text 15"/>
          <p:cNvSpPr txBox="1"/>
          <p:nvPr/>
        </p:nvSpPr>
        <p:spPr>
          <a:xfrm>
            <a:off x="6702552"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Iron &amp; Hard Water shampoo, PaniCheck cap, Pani Map</a:t>
            </a:r>
            <a:endParaRPr lang="en-US" sz="1200" dirty="0"/>
          </a:p>
        </p:txBody>
      </p:sp>
      <p:sp>
        <p:nvSpPr>
          <p:cNvPr id="20" name="Text 16"/>
          <p:cNvSpPr txBox="1"/>
          <p:nvPr/>
        </p:nvSpPr>
        <p:spPr>
          <a:xfrm>
            <a:off x="6702552" y="3273552"/>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PAIN RELIEVERS</a:t>
            </a:r>
            <a:endParaRPr lang="en-US" sz="1100" dirty="0"/>
          </a:p>
        </p:txBody>
      </p:sp>
      <p:sp>
        <p:nvSpPr>
          <p:cNvPr id="21" name="Text 17"/>
          <p:cNvSpPr txBox="1"/>
          <p:nvPr/>
        </p:nvSpPr>
        <p:spPr>
          <a:xfrm>
            <a:off x="6702552"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Chelator removes mineral build-up*; lathers in hard water*; the strip ends the guesswork</a:t>
            </a:r>
            <a:endParaRPr lang="en-US" sz="1200" dirty="0"/>
          </a:p>
        </p:txBody>
      </p:sp>
      <p:sp>
        <p:nvSpPr>
          <p:cNvPr id="22" name="Text 18"/>
          <p:cNvSpPr txBox="1"/>
          <p:nvPr/>
        </p:nvSpPr>
        <p:spPr>
          <a:xfrm>
            <a:off x="6702552" y="4169664"/>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GAIN CREATORS</a:t>
            </a:r>
            <a:endParaRPr lang="en-US" sz="1100" dirty="0"/>
          </a:p>
        </p:txBody>
      </p:sp>
      <p:sp>
        <p:nvSpPr>
          <p:cNvPr id="23" name="Text 19"/>
          <p:cNvSpPr txBox="1"/>
          <p:nvPr/>
        </p:nvSpPr>
        <p:spPr>
          <a:xfrm>
            <a:off x="6702552"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Coconut Milk Protein care; Tk 106 per 100 ml against Tk 142–180 for premium brands; a Tk 3 sachet to try</a:t>
            </a:r>
            <a:endParaRPr lang="en-US" sz="1200" dirty="0"/>
          </a:p>
        </p:txBody>
      </p:sp>
      <p:sp>
        <p:nvSpPr>
          <p:cNvPr id="24" name="Shape 20"/>
          <p:cNvSpPr/>
          <p:nvPr/>
        </p:nvSpPr>
        <p:spPr>
          <a:xfrm>
            <a:off x="5824728" y="3017520"/>
            <a:ext cx="548640" cy="548640"/>
          </a:xfrm>
          <a:prstGeom prst="ellipse">
            <a:avLst/>
          </a:prstGeom>
          <a:solidFill>
            <a:srgbClr val="141C52"/>
          </a:solidFill>
          <a:ln w="25400">
            <a:solidFill>
              <a:srgbClr val="FFFFFF"/>
            </a:solidFill>
            <a:prstDash val="solid"/>
          </a:ln>
        </p:spPr>
      </p:sp>
      <p:sp>
        <p:nvSpPr>
          <p:cNvPr id="25" name="Text 21"/>
          <p:cNvSpPr txBox="1"/>
          <p:nvPr/>
        </p:nvSpPr>
        <p:spPr>
          <a:xfrm>
            <a:off x="5824728" y="301752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rPr>
              <a:t>FIT</a:t>
            </a:r>
            <a:endParaRPr lang="en-US" sz="1100" dirty="0"/>
          </a:p>
        </p:txBody>
      </p:sp>
      <p:sp>
        <p:nvSpPr>
          <p:cNvPr id="26" name="Shape 22"/>
          <p:cNvSpPr/>
          <p:nvPr/>
        </p:nvSpPr>
        <p:spPr>
          <a:xfrm>
            <a:off x="548640" y="5303520"/>
            <a:ext cx="11091672" cy="640080"/>
          </a:xfrm>
          <a:prstGeom prst="roundRect">
            <a:avLst>
              <a:gd name="adj" fmla="val 11429"/>
            </a:avLst>
          </a:prstGeom>
          <a:solidFill>
            <a:srgbClr val="141C52"/>
          </a:solidFill>
          <a:ln/>
        </p:spPr>
      </p:sp>
      <p:sp>
        <p:nvSpPr>
          <p:cNvPr id="27" name="Text 23"/>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400" i="1" dirty="0">
                <a:solidFill>
                  <a:srgbClr val="FFFFFF"/>
                </a:solidFill>
              </a:rPr>
              <a:t>For Movers whose hair changed with their water, WaterSmart is the Naturale shampoo that checks your water and cleans away iron and hard-water build-up, so hair feels like home again.</a:t>
            </a:r>
            <a:endParaRPr lang="en-US" sz="1400" dirty="0"/>
          </a:p>
        </p:txBody>
      </p:sp>
      <p:sp>
        <p:nvSpPr>
          <p:cNvPr id="28" name="Text 2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*Proposed claims, to be substantiated by Marico R&amp;D (hair-tress deposit and lather tests) before launch. Prices: Chaldal and Arogga listings, 9 Oct 2026.</a:t>
            </a:r>
            <a:endParaRPr lang="en-US" sz="1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UNIQUE SELLING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USP: a water test in every cap. No shampoo we found offers one</a:t>
            </a:r>
            <a:endParaRPr lang="en-US" sz="2600" dirty="0"/>
          </a:p>
        </p:txBody>
      </p:sp>
      <p:sp>
        <p:nvSpPr>
          <p:cNvPr id="4" name="Shape 2"/>
          <p:cNvSpPr/>
          <p:nvPr/>
        </p:nvSpPr>
        <p:spPr>
          <a:xfrm>
            <a:off x="960120" y="1554480"/>
            <a:ext cx="566928" cy="566928"/>
          </a:xfrm>
          <a:prstGeom prst="ellipse">
            <a:avLst/>
          </a:prstGeom>
          <a:solidFill>
            <a:srgbClr val="141C52"/>
          </a:solidFill>
          <a:ln/>
        </p:spPr>
      </p:sp>
      <p:pic>
        <p:nvPicPr>
          <p:cNvPr id="5" name="Image 0" descr="preencoded.png">    </p:cNvPr>
          <p:cNvPicPr>
            <a:picLocks noChangeAspect="1"/>
          </p:cNvPicPr>
          <p:nvPr/>
        </p:nvPicPr>
        <p:blipFill>
          <a:blip r:embed="rId1"/>
          <a:stretch>
            <a:fillRect/>
          </a:stretch>
        </p:blipFill>
        <p:spPr>
          <a:xfrm>
            <a:off x="1096183" y="1690543"/>
            <a:ext cx="294803" cy="294803"/>
          </a:xfrm>
          <a:prstGeom prst="rect">
            <a:avLst/>
          </a:prstGeom>
        </p:spPr>
      </p:pic>
      <p:sp>
        <p:nvSpPr>
          <p:cNvPr id="6" name="Shape 3"/>
          <p:cNvSpPr/>
          <p:nvPr/>
        </p:nvSpPr>
        <p:spPr>
          <a:xfrm>
            <a:off x="1399032" y="1481328"/>
            <a:ext cx="274320" cy="274320"/>
          </a:xfrm>
          <a:prstGeom prst="ellipse">
            <a:avLst/>
          </a:prstGeom>
          <a:solidFill>
            <a:srgbClr val="F5A31A"/>
          </a:solidFill>
          <a:ln/>
        </p:spPr>
      </p:sp>
      <p:sp>
        <p:nvSpPr>
          <p:cNvPr id="7" name="Text 4"/>
          <p:cNvSpPr txBox="1"/>
          <p:nvPr/>
        </p:nvSpPr>
        <p:spPr>
          <a:xfrm>
            <a:off x="139903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1</a:t>
            </a:r>
            <a:endParaRPr lang="en-US" sz="1100" dirty="0"/>
          </a:p>
        </p:txBody>
      </p:sp>
      <p:sp>
        <p:nvSpPr>
          <p:cNvPr id="8" name="Text 5"/>
          <p:cNvSpPr txBox="1"/>
          <p:nvPr/>
        </p:nvSpPr>
        <p:spPr>
          <a:xfrm>
            <a:off x="50292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Flip the cap</a:t>
            </a:r>
            <a:endParaRPr lang="en-US" sz="1300" dirty="0"/>
          </a:p>
        </p:txBody>
      </p:sp>
      <p:sp>
        <p:nvSpPr>
          <p:cNvPr id="9" name="Text 6"/>
          <p:cNvSpPr txBox="1"/>
          <p:nvPr/>
        </p:nvSpPr>
        <p:spPr>
          <a:xfrm>
            <a:off x="50292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The strip sits in a foil pouch in the lid</a:t>
            </a:r>
            <a:endParaRPr lang="en-US" sz="1100" dirty="0"/>
          </a:p>
        </p:txBody>
      </p:sp>
      <p:sp>
        <p:nvSpPr>
          <p:cNvPr id="10" name="Shape 7"/>
          <p:cNvSpPr/>
          <p:nvPr/>
        </p:nvSpPr>
        <p:spPr>
          <a:xfrm>
            <a:off x="2468880" y="1554480"/>
            <a:ext cx="566928" cy="566928"/>
          </a:xfrm>
          <a:prstGeom prst="ellipse">
            <a:avLst/>
          </a:prstGeom>
          <a:solidFill>
            <a:srgbClr val="141C52"/>
          </a:solidFill>
          <a:ln/>
        </p:spPr>
      </p:sp>
      <p:pic>
        <p:nvPicPr>
          <p:cNvPr id="11" name="Image 1" descr="preencoded.png">    </p:cNvPr>
          <p:cNvPicPr>
            <a:picLocks noChangeAspect="1"/>
          </p:cNvPicPr>
          <p:nvPr/>
        </p:nvPicPr>
        <p:blipFill>
          <a:blip r:embed="rId2"/>
          <a:stretch>
            <a:fillRect/>
          </a:stretch>
        </p:blipFill>
        <p:spPr>
          <a:xfrm>
            <a:off x="2604943" y="1690543"/>
            <a:ext cx="294803" cy="294803"/>
          </a:xfrm>
          <a:prstGeom prst="rect">
            <a:avLst/>
          </a:prstGeom>
        </p:spPr>
      </p:pic>
      <p:sp>
        <p:nvSpPr>
          <p:cNvPr id="12" name="Shape 8"/>
          <p:cNvSpPr/>
          <p:nvPr/>
        </p:nvSpPr>
        <p:spPr>
          <a:xfrm>
            <a:off x="2907792" y="1481328"/>
            <a:ext cx="274320" cy="274320"/>
          </a:xfrm>
          <a:prstGeom prst="ellipse">
            <a:avLst/>
          </a:prstGeom>
          <a:solidFill>
            <a:srgbClr val="F5A31A"/>
          </a:solidFill>
          <a:ln/>
        </p:spPr>
      </p:sp>
      <p:sp>
        <p:nvSpPr>
          <p:cNvPr id="13" name="Text 9"/>
          <p:cNvSpPr txBox="1"/>
          <p:nvPr/>
        </p:nvSpPr>
        <p:spPr>
          <a:xfrm>
            <a:off x="290779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2</a:t>
            </a:r>
            <a:endParaRPr lang="en-US" sz="1100" dirty="0"/>
          </a:p>
        </p:txBody>
      </p:sp>
      <p:sp>
        <p:nvSpPr>
          <p:cNvPr id="14" name="Text 10"/>
          <p:cNvSpPr txBox="1"/>
          <p:nvPr/>
        </p:nvSpPr>
        <p:spPr>
          <a:xfrm>
            <a:off x="201168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Dip for 1 second</a:t>
            </a:r>
            <a:endParaRPr lang="en-US" sz="1300" dirty="0"/>
          </a:p>
        </p:txBody>
      </p:sp>
      <p:sp>
        <p:nvSpPr>
          <p:cNvPr id="15" name="Text 11"/>
          <p:cNvSpPr txBox="1"/>
          <p:nvPr/>
        </p:nvSpPr>
        <p:spPr>
          <a:xfrm>
            <a:off x="201168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In your bucket, shower or tap water</a:t>
            </a:r>
            <a:endParaRPr lang="en-US" sz="1100" dirty="0"/>
          </a:p>
        </p:txBody>
      </p:sp>
      <p:sp>
        <p:nvSpPr>
          <p:cNvPr id="16" name="Shape 12"/>
          <p:cNvSpPr/>
          <p:nvPr/>
        </p:nvSpPr>
        <p:spPr>
          <a:xfrm>
            <a:off x="3977640" y="1554480"/>
            <a:ext cx="566928" cy="566928"/>
          </a:xfrm>
          <a:prstGeom prst="ellipse">
            <a:avLst/>
          </a:prstGeom>
          <a:solidFill>
            <a:srgbClr val="141C52"/>
          </a:solidFill>
          <a:ln/>
        </p:spPr>
      </p:sp>
      <p:pic>
        <p:nvPicPr>
          <p:cNvPr id="17" name="Image 2" descr="preencoded.png">    </p:cNvPr>
          <p:cNvPicPr>
            <a:picLocks noChangeAspect="1"/>
          </p:cNvPicPr>
          <p:nvPr/>
        </p:nvPicPr>
        <p:blipFill>
          <a:blip r:embed="rId3"/>
          <a:stretch>
            <a:fillRect/>
          </a:stretch>
        </p:blipFill>
        <p:spPr>
          <a:xfrm>
            <a:off x="4113703" y="1690543"/>
            <a:ext cx="294803" cy="294803"/>
          </a:xfrm>
          <a:prstGeom prst="rect">
            <a:avLst/>
          </a:prstGeom>
        </p:spPr>
      </p:pic>
      <p:sp>
        <p:nvSpPr>
          <p:cNvPr id="18" name="Shape 13"/>
          <p:cNvSpPr/>
          <p:nvPr/>
        </p:nvSpPr>
        <p:spPr>
          <a:xfrm>
            <a:off x="4416552" y="1481328"/>
            <a:ext cx="274320" cy="274320"/>
          </a:xfrm>
          <a:prstGeom prst="ellipse">
            <a:avLst/>
          </a:prstGeom>
          <a:solidFill>
            <a:srgbClr val="F5A31A"/>
          </a:solidFill>
          <a:ln/>
        </p:spPr>
      </p:sp>
      <p:sp>
        <p:nvSpPr>
          <p:cNvPr id="19" name="Text 14"/>
          <p:cNvSpPr txBox="1"/>
          <p:nvPr/>
        </p:nvSpPr>
        <p:spPr>
          <a:xfrm>
            <a:off x="441655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3</a:t>
            </a:r>
            <a:endParaRPr lang="en-US" sz="1100" dirty="0"/>
          </a:p>
        </p:txBody>
      </p:sp>
      <p:sp>
        <p:nvSpPr>
          <p:cNvPr id="20" name="Text 15"/>
          <p:cNvSpPr txBox="1"/>
          <p:nvPr/>
        </p:nvSpPr>
        <p:spPr>
          <a:xfrm>
            <a:off x="352044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Match the colour</a:t>
            </a:r>
            <a:endParaRPr lang="en-US" sz="1300" dirty="0"/>
          </a:p>
        </p:txBody>
      </p:sp>
      <p:sp>
        <p:nvSpPr>
          <p:cNvPr id="21" name="Text 16"/>
          <p:cNvSpPr txBox="1"/>
          <p:nvPr/>
        </p:nvSpPr>
        <p:spPr>
          <a:xfrm>
            <a:off x="352044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Soft, moderate, hard or very hard</a:t>
            </a:r>
            <a:endParaRPr lang="en-US" sz="1100" dirty="0"/>
          </a:p>
        </p:txBody>
      </p:sp>
      <p:sp>
        <p:nvSpPr>
          <p:cNvPr id="22" name="Shape 17"/>
          <p:cNvSpPr/>
          <p:nvPr/>
        </p:nvSpPr>
        <p:spPr>
          <a:xfrm>
            <a:off x="5486400" y="1554480"/>
            <a:ext cx="566928" cy="566928"/>
          </a:xfrm>
          <a:prstGeom prst="ellipse">
            <a:avLst/>
          </a:prstGeom>
          <a:solidFill>
            <a:srgbClr val="141C52"/>
          </a:solidFill>
          <a:ln/>
        </p:spPr>
      </p:sp>
      <p:pic>
        <p:nvPicPr>
          <p:cNvPr id="23" name="Image 3" descr="preencoded.png">    </p:cNvPr>
          <p:cNvPicPr>
            <a:picLocks noChangeAspect="1"/>
          </p:cNvPicPr>
          <p:nvPr/>
        </p:nvPicPr>
        <p:blipFill>
          <a:blip r:embed="rId4"/>
          <a:stretch>
            <a:fillRect/>
          </a:stretch>
        </p:blipFill>
        <p:spPr>
          <a:xfrm>
            <a:off x="5622463" y="1690543"/>
            <a:ext cx="294803" cy="294803"/>
          </a:xfrm>
          <a:prstGeom prst="rect">
            <a:avLst/>
          </a:prstGeom>
        </p:spPr>
      </p:pic>
      <p:sp>
        <p:nvSpPr>
          <p:cNvPr id="24" name="Shape 18"/>
          <p:cNvSpPr/>
          <p:nvPr/>
        </p:nvSpPr>
        <p:spPr>
          <a:xfrm>
            <a:off x="5925312" y="1481328"/>
            <a:ext cx="274320" cy="274320"/>
          </a:xfrm>
          <a:prstGeom prst="ellipse">
            <a:avLst/>
          </a:prstGeom>
          <a:solidFill>
            <a:srgbClr val="F5A31A"/>
          </a:solidFill>
          <a:ln/>
        </p:spPr>
      </p:sp>
      <p:sp>
        <p:nvSpPr>
          <p:cNvPr id="25" name="Text 19"/>
          <p:cNvSpPr txBox="1"/>
          <p:nvPr/>
        </p:nvSpPr>
        <p:spPr>
          <a:xfrm>
            <a:off x="592531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4</a:t>
            </a:r>
            <a:endParaRPr lang="en-US" sz="1100" dirty="0"/>
          </a:p>
        </p:txBody>
      </p:sp>
      <p:sp>
        <p:nvSpPr>
          <p:cNvPr id="26" name="Text 20"/>
          <p:cNvSpPr txBox="1"/>
          <p:nvPr/>
        </p:nvSpPr>
        <p:spPr>
          <a:xfrm>
            <a:off x="502920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Scan the QR</a:t>
            </a:r>
            <a:endParaRPr lang="en-US" sz="1300" dirty="0"/>
          </a:p>
        </p:txBody>
      </p:sp>
      <p:sp>
        <p:nvSpPr>
          <p:cNvPr id="27" name="Text 21"/>
          <p:cNvSpPr txBox="1"/>
          <p:nvPr/>
        </p:nvSpPr>
        <p:spPr>
          <a:xfrm>
            <a:off x="502920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Pani Map and tips for your water</a:t>
            </a:r>
            <a:endParaRPr lang="en-US" sz="1100" dirty="0"/>
          </a:p>
        </p:txBody>
      </p:sp>
      <p:pic>
        <p:nvPicPr>
          <p:cNvPr id="28" name="Image 4" descr="C:\Users\Administrator\Desktop\otw\Round2_Submission\deck\assets\chart.png">    </p:cNvPr>
          <p:cNvPicPr>
            <a:picLocks noChangeAspect="1"/>
          </p:cNvPicPr>
          <p:nvPr/>
        </p:nvPicPr>
        <p:blipFill>
          <a:blip r:embed="rId5"/>
          <a:stretch>
            <a:fillRect/>
          </a:stretch>
        </p:blipFill>
        <p:spPr>
          <a:xfrm>
            <a:off x="548640" y="3246120"/>
            <a:ext cx="4114800" cy="1545336"/>
          </a:xfrm>
          <a:prstGeom prst="rect">
            <a:avLst/>
          </a:prstGeom>
        </p:spPr>
      </p:pic>
      <p:sp>
        <p:nvSpPr>
          <p:cNvPr id="29" name="Text 22"/>
          <p:cNvSpPr txBox="1"/>
          <p:nvPr/>
        </p:nvSpPr>
        <p:spPr>
          <a:xfrm>
            <a:off x="548640" y="4818888"/>
            <a:ext cx="4114800" cy="228600"/>
          </a:xfrm>
          <a:prstGeom prst="rect">
            <a:avLst/>
          </a:prstGeom>
          <a:noFill/>
          <a:ln/>
        </p:spPr>
        <p:txBody>
          <a:bodyPr wrap="square" lIns="0" tIns="0" rIns="0" bIns="0" rtlCol="0" anchor="t"/>
          <a:lstStyle/>
          <a:p>
            <a:pPr indent="0" marL="0">
              <a:buNone/>
            </a:pPr>
            <a:r>
              <a:rPr lang="en-US" sz="1000" i="1" dirty="0">
                <a:solidFill>
                  <a:srgbClr val="5B6472"/>
                </a:solidFill>
              </a:rPr>
              <a:t>Illustrative colours; the final chart comes from the strip supplier.</a:t>
            </a:r>
            <a:endParaRPr lang="en-US" sz="1000" dirty="0"/>
          </a:p>
        </p:txBody>
      </p:sp>
      <p:sp>
        <p:nvSpPr>
          <p:cNvPr id="30" name="Shape 23"/>
          <p:cNvSpPr/>
          <p:nvPr/>
        </p:nvSpPr>
        <p:spPr>
          <a:xfrm>
            <a:off x="548640" y="5120640"/>
            <a:ext cx="4114800" cy="777240"/>
          </a:xfrm>
          <a:prstGeom prst="roundRect">
            <a:avLst>
              <a:gd name="adj" fmla="val 9412"/>
            </a:avLst>
          </a:prstGeom>
          <a:solidFill>
            <a:srgbClr val="F3F6FA"/>
          </a:solidFill>
          <a:ln/>
        </p:spPr>
      </p:sp>
      <p:sp>
        <p:nvSpPr>
          <p:cNvPr id="31" name="Text 24"/>
          <p:cNvSpPr txBox="1"/>
          <p:nvPr/>
        </p:nvSpPr>
        <p:spPr>
          <a:xfrm>
            <a:off x="685800" y="5120640"/>
            <a:ext cx="3840480" cy="777240"/>
          </a:xfrm>
          <a:prstGeom prst="rect">
            <a:avLst/>
          </a:prstGeom>
          <a:noFill/>
          <a:ln/>
        </p:spPr>
        <p:txBody>
          <a:bodyPr wrap="square" lIns="0" tIns="0" rIns="0" bIns="0" rtlCol="0" anchor="ctr"/>
          <a:lstStyle/>
          <a:p>
            <a:pPr indent="0" marL="0">
              <a:buNone/>
            </a:pPr>
            <a:r>
              <a:rPr lang="en-US" sz="1100" dirty="0">
                <a:solidFill>
                  <a:srgbClr val="1F2937"/>
                </a:solidFill>
              </a:rPr>
              <a:t>Strip spec: total hardness 0–425 mg/L · individually foil-sealed · 18-month target life · Tk 3 target cost including sleeve</a:t>
            </a:r>
            <a:endParaRPr lang="en-US" sz="1100" dirty="0"/>
          </a:p>
        </p:txBody>
      </p:sp>
      <p:pic>
        <p:nvPicPr>
          <p:cNvPr id="32" name="Image 5" descr="C:\Users\Administrator\Desktop\otw\Round2_Submission\deck\assets\phone.png">    </p:cNvPr>
          <p:cNvPicPr>
            <a:picLocks noChangeAspect="1"/>
          </p:cNvPicPr>
          <p:nvPr/>
        </p:nvPicPr>
        <p:blipFill>
          <a:blip r:embed="rId6"/>
          <a:stretch>
            <a:fillRect/>
          </a:stretch>
        </p:blipFill>
        <p:spPr>
          <a:xfrm>
            <a:off x="4937760" y="3154680"/>
            <a:ext cx="1399032" cy="2697480"/>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010912" cy="914400"/>
        </p:xfrm>
        <a:graphic>
          <a:graphicData uri="http://schemas.openxmlformats.org/drawingml/2006/table">
            <a:tbl>
              <a:tblPr/>
              <a:tblGrid>
                <a:gridCol w="1536192"/>
                <a:gridCol w="896112"/>
                <a:gridCol w="914400"/>
                <a:gridCol w="841248"/>
                <a:gridCol w="822960"/>
              </a:tblGrid>
              <a:tr h="365760">
                <a:tc>
                  <a:txBody>
                    <a:bodyPr/>
                    <a:lstStyle/>
                    <a:p>
                      <a:pPr indent="0" marL="0">
                        <a:buNone/>
                      </a:pPr>
                      <a:r>
                        <a:rPr lang="en-US" sz="1100" b="1" dirty="0">
                          <a:solidFill>
                            <a:srgbClr val="FFFFFF"/>
                          </a:solidFill>
                        </a:rPr>
                        <a:t>Feature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WaterSmart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Dove HWD (Gulf)</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Naturale core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Mass brands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65760">
                <a:tc>
                  <a:txBody>
                    <a:bodyPr/>
                    <a:lstStyle/>
                    <a:p>
                      <a:pPr indent="0" marL="0">
                        <a:buNone/>
                      </a:pPr>
                      <a:r>
                        <a:rPr lang="en-US" sz="1100" dirty="0">
                          <a:solidFill>
                            <a:srgbClr val="1F2937"/>
                          </a:solidFill>
                        </a:rPr>
                        <a:t>Mineral chelator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GLDA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EDTA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Water test in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Area water info (QR)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In Bangladesh GT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Sachet trial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Price per 100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106</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Import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83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103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34" name="Shape 25"/>
          <p:cNvSpPr/>
          <p:nvPr/>
        </p:nvSpPr>
        <p:spPr>
          <a:xfrm>
            <a:off x="6629400" y="4343400"/>
            <a:ext cx="5010912" cy="1554480"/>
          </a:xfrm>
          <a:prstGeom prst="roundRect">
            <a:avLst>
              <a:gd name="adj" fmla="val 4706"/>
            </a:avLst>
          </a:prstGeom>
          <a:solidFill>
            <a:srgbClr val="141C52"/>
          </a:solidFill>
          <a:ln/>
        </p:spPr>
      </p:sp>
      <p:sp>
        <p:nvSpPr>
          <p:cNvPr id="35" name="Text 26"/>
          <p:cNvSpPr txBox="1"/>
          <p:nvPr/>
        </p:nvSpPr>
        <p:spPr>
          <a:xfrm>
            <a:off x="6858000" y="4343400"/>
            <a:ext cx="4572000" cy="1554480"/>
          </a:xfrm>
          <a:prstGeom prst="rect">
            <a:avLst/>
          </a:prstGeom>
          <a:noFill/>
          <a:ln/>
        </p:spPr>
        <p:txBody>
          <a:bodyPr wrap="square" lIns="0" tIns="0" rIns="0" bIns="0" rtlCol="0" anchor="ctr"/>
          <a:lstStyle/>
          <a:p>
            <a:pPr indent="0" marL="0">
              <a:buNone/>
            </a:pPr>
            <a:r>
              <a:rPr lang="en-US" sz="1800" b="1" dirty="0">
                <a:solidFill>
                  <a:srgbClr val="FFFFFF"/>
                </a:solidFill>
              </a:rPr>
              <a:t>See the problem, then solve it, in one pack.</a:t>
            </a:r>
            <a:endParaRPr lang="en-US" sz="1200" dirty="0"/>
          </a:p>
          <a:p>
            <a:pPr indent="0" marL="0">
              <a:buNone/>
            </a:pPr>
            <a:r>
              <a:rPr lang="en-US" sz="1200" dirty="0">
                <a:solidFill>
                  <a:srgbClr val="C9D3F5"/>
                </a:solidFill>
              </a:rPr>
              <a:t>Dove’s Gulf pack shields hair from minerals. WaterSmart also shows people their problem, which turns every bottle into its own product demo.</a:t>
            </a:r>
            <a:endParaRPr lang="en-US" sz="1200" dirty="0"/>
          </a:p>
        </p:txBody>
      </p:sp>
      <p:sp>
        <p:nvSpPr>
          <p:cNvPr id="36" name="Text 2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Dove Arabia product page (ingredients include Disodium EDTA; no in-pack test shown); Chaldal and Arogga, 9 Oct 2026; Hach, Bartovation and Macherey-Nagel sealed hardness-strip specifications.</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MARKETING TASK DEFINITION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Campaign “Check your water first”: make the problem visible, then make WaterSmart the answer</a:t>
            </a:r>
            <a:endParaRPr lang="en-US" sz="2600" dirty="0"/>
          </a:p>
        </p:txBody>
      </p:sp>
      <p:sp>
        <p:nvSpPr>
          <p:cNvPr id="4" name="Shape 2"/>
          <p:cNvSpPr/>
          <p:nvPr/>
        </p:nvSpPr>
        <p:spPr>
          <a:xfrm>
            <a:off x="548640" y="1554480"/>
            <a:ext cx="11091672" cy="502920"/>
          </a:xfrm>
          <a:prstGeom prst="roundRect">
            <a:avLst>
              <a:gd name="adj" fmla="val 14545"/>
            </a:avLst>
          </a:prstGeom>
          <a:solidFill>
            <a:srgbClr val="E3F5FA"/>
          </a:solidFill>
          <a:ln/>
        </p:spPr>
      </p:sp>
      <p:sp>
        <p:nvSpPr>
          <p:cNvPr id="5" name="Text 3"/>
          <p:cNvSpPr txBox="1"/>
          <p:nvPr/>
        </p:nvSpPr>
        <p:spPr>
          <a:xfrm>
            <a:off x="777240" y="15544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BRAND TASK   </a:t>
            </a:r>
            <a:pPr indent="0" marL="0">
              <a:buNone/>
            </a:pPr>
            <a:r>
              <a:rPr lang="en-US" sz="1400" dirty="0">
                <a:solidFill>
                  <a:srgbClr val="141C52"/>
                </a:solidFill>
              </a:rPr>
              <a:t>Build salience for a new need-state, “water hair”, among Movers, then turn curiosity into trial.</a:t>
            </a:r>
            <a:endParaRPr lang="en-US" sz="1400" dirty="0"/>
          </a:p>
        </p:txBody>
      </p:sp>
      <p:sp>
        <p:nvSpPr>
          <p:cNvPr id="6" name="Shape 4"/>
          <p:cNvSpPr/>
          <p:nvPr/>
        </p:nvSpPr>
        <p:spPr>
          <a:xfrm>
            <a:off x="548640" y="2194560"/>
            <a:ext cx="2633472" cy="2011680"/>
          </a:xfrm>
          <a:prstGeom prst="roundRect">
            <a:avLst>
              <a:gd name="adj" fmla="val 3636"/>
            </a:avLst>
          </a:prstGeom>
          <a:solidFill>
            <a:srgbClr val="F3F6FA"/>
          </a:solidFill>
          <a:ln/>
        </p:spPr>
      </p:sp>
      <p:sp>
        <p:nvSpPr>
          <p:cNvPr id="7" name="Shape 5"/>
          <p:cNvSpPr/>
          <p:nvPr/>
        </p:nvSpPr>
        <p:spPr>
          <a:xfrm>
            <a:off x="731520" y="2331720"/>
            <a:ext cx="502920" cy="502920"/>
          </a:xfrm>
          <a:prstGeom prst="ellipse">
            <a:avLst/>
          </a:prstGeom>
          <a:solidFill>
            <a:srgbClr val="141C52"/>
          </a:solidFill>
          <a:ln/>
        </p:spPr>
      </p:sp>
      <p:pic>
        <p:nvPicPr>
          <p:cNvPr id="8" name="Image 0" descr="preencoded.png">    </p:cNvPr>
          <p:cNvPicPr>
            <a:picLocks noChangeAspect="1"/>
          </p:cNvPicPr>
          <p:nvPr/>
        </p:nvPicPr>
        <p:blipFill>
          <a:blip r:embed="rId1"/>
          <a:stretch>
            <a:fillRect/>
          </a:stretch>
        </p:blipFill>
        <p:spPr>
          <a:xfrm>
            <a:off x="852221" y="2452421"/>
            <a:ext cx="261518" cy="261518"/>
          </a:xfrm>
          <a:prstGeom prst="rect">
            <a:avLst/>
          </a:prstGeom>
        </p:spPr>
      </p:pic>
      <p:sp>
        <p:nvSpPr>
          <p:cNvPr id="9" name="Text 6"/>
          <p:cNvSpPr txBox="1"/>
          <p:nvPr/>
        </p:nvSpPr>
        <p:spPr>
          <a:xfrm>
            <a:off x="1353312" y="2377440"/>
            <a:ext cx="914400" cy="228600"/>
          </a:xfrm>
          <a:prstGeom prst="rect">
            <a:avLst/>
          </a:prstGeom>
          <a:noFill/>
          <a:ln/>
        </p:spPr>
        <p:txBody>
          <a:bodyPr wrap="square" lIns="0" tIns="0" rIns="0" bIns="0" rtlCol="0" anchor="t"/>
          <a:lstStyle/>
          <a:p>
            <a:pPr indent="0" marL="0">
              <a:buNone/>
            </a:pPr>
            <a:r>
              <a:rPr lang="en-US" sz="1100" b="1" spc="100" kern="0" dirty="0">
                <a:solidFill>
                  <a:srgbClr val="141C52"/>
                </a:solidFill>
              </a:rPr>
              <a:t>AWARE</a:t>
            </a:r>
            <a:endParaRPr lang="en-US" sz="1100" dirty="0"/>
          </a:p>
        </p:txBody>
      </p:sp>
      <p:sp>
        <p:nvSpPr>
          <p:cNvPr id="10" name="Shape 7"/>
          <p:cNvSpPr/>
          <p:nvPr/>
        </p:nvSpPr>
        <p:spPr>
          <a:xfrm>
            <a:off x="2267712" y="2377440"/>
            <a:ext cx="777240" cy="246888"/>
          </a:xfrm>
          <a:prstGeom prst="roundRect">
            <a:avLst>
              <a:gd name="adj" fmla="val 29630"/>
            </a:avLst>
          </a:prstGeom>
          <a:solidFill>
            <a:srgbClr val="D5DCE6"/>
          </a:solidFill>
          <a:ln/>
        </p:spPr>
      </p:sp>
      <p:sp>
        <p:nvSpPr>
          <p:cNvPr id="11" name="Text 8"/>
          <p:cNvSpPr txBox="1"/>
          <p:nvPr/>
        </p:nvSpPr>
        <p:spPr>
          <a:xfrm>
            <a:off x="2267712"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12" name="Text 9"/>
          <p:cNvSpPr txBox="1"/>
          <p:nvPr/>
        </p:nvSpPr>
        <p:spPr>
          <a:xfrm>
            <a:off x="731520"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#PaniCheckChallenge</a:t>
            </a:r>
            <a:endParaRPr lang="en-US" sz="1300" dirty="0"/>
          </a:p>
        </p:txBody>
      </p:sp>
      <p:sp>
        <p:nvSpPr>
          <p:cNvPr id="13" name="Text 10"/>
          <p:cNvSpPr txBox="1"/>
          <p:nvPr/>
        </p:nvSpPr>
        <p:spPr>
          <a:xfrm>
            <a:off x="731520"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Creators test hall and home water on camera on TikTok, Facebook and YouTube. Influencer-led, like Parachute Advansed Secrets.</a:t>
            </a:r>
            <a:endParaRPr lang="en-US" sz="1100" dirty="0"/>
          </a:p>
        </p:txBody>
      </p:sp>
      <p:sp>
        <p:nvSpPr>
          <p:cNvPr id="14" name="Shape 11"/>
          <p:cNvSpPr/>
          <p:nvPr/>
        </p:nvSpPr>
        <p:spPr>
          <a:xfrm>
            <a:off x="3364992" y="2194560"/>
            <a:ext cx="2633472" cy="2011680"/>
          </a:xfrm>
          <a:prstGeom prst="roundRect">
            <a:avLst>
              <a:gd name="adj" fmla="val 3636"/>
            </a:avLst>
          </a:prstGeom>
          <a:solidFill>
            <a:srgbClr val="F3F6FA"/>
          </a:solidFill>
          <a:ln/>
        </p:spPr>
      </p:sp>
      <p:sp>
        <p:nvSpPr>
          <p:cNvPr id="15" name="Shape 12"/>
          <p:cNvSpPr/>
          <p:nvPr/>
        </p:nvSpPr>
        <p:spPr>
          <a:xfrm>
            <a:off x="3547872" y="2331720"/>
            <a:ext cx="502920" cy="502920"/>
          </a:xfrm>
          <a:prstGeom prst="ellipse">
            <a:avLst/>
          </a:prstGeom>
          <a:solidFill>
            <a:srgbClr val="0B6FB8"/>
          </a:solidFill>
          <a:ln/>
        </p:spPr>
      </p:sp>
      <p:pic>
        <p:nvPicPr>
          <p:cNvPr id="16" name="Image 1" descr="preencoded.png">    </p:cNvPr>
          <p:cNvPicPr>
            <a:picLocks noChangeAspect="1"/>
          </p:cNvPicPr>
          <p:nvPr/>
        </p:nvPicPr>
        <p:blipFill>
          <a:blip r:embed="rId2"/>
          <a:stretch>
            <a:fillRect/>
          </a:stretch>
        </p:blipFill>
        <p:spPr>
          <a:xfrm>
            <a:off x="3668573" y="2452421"/>
            <a:ext cx="261518" cy="261518"/>
          </a:xfrm>
          <a:prstGeom prst="rect">
            <a:avLst/>
          </a:prstGeom>
        </p:spPr>
      </p:pic>
      <p:sp>
        <p:nvSpPr>
          <p:cNvPr id="17" name="Text 13"/>
          <p:cNvSpPr txBox="1"/>
          <p:nvPr/>
        </p:nvSpPr>
        <p:spPr>
          <a:xfrm>
            <a:off x="4169664" y="2377440"/>
            <a:ext cx="914400" cy="228600"/>
          </a:xfrm>
          <a:prstGeom prst="rect">
            <a:avLst/>
          </a:prstGeom>
          <a:noFill/>
          <a:ln/>
        </p:spPr>
        <p:txBody>
          <a:bodyPr wrap="square" lIns="0" tIns="0" rIns="0" bIns="0" rtlCol="0" anchor="t"/>
          <a:lstStyle/>
          <a:p>
            <a:pPr indent="0" marL="0">
              <a:buNone/>
            </a:pPr>
            <a:r>
              <a:rPr lang="en-US" sz="1100" b="1" spc="100" kern="0" dirty="0">
                <a:solidFill>
                  <a:srgbClr val="0B6FB8"/>
                </a:solidFill>
              </a:rPr>
              <a:t>CONSIDER</a:t>
            </a:r>
            <a:endParaRPr lang="en-US" sz="1100" dirty="0"/>
          </a:p>
        </p:txBody>
      </p:sp>
      <p:sp>
        <p:nvSpPr>
          <p:cNvPr id="18" name="Shape 14"/>
          <p:cNvSpPr/>
          <p:nvPr/>
        </p:nvSpPr>
        <p:spPr>
          <a:xfrm>
            <a:off x="5084064" y="2377440"/>
            <a:ext cx="777240" cy="246888"/>
          </a:xfrm>
          <a:prstGeom prst="roundRect">
            <a:avLst>
              <a:gd name="adj" fmla="val 29630"/>
            </a:avLst>
          </a:prstGeom>
          <a:solidFill>
            <a:srgbClr val="F5A31A"/>
          </a:solidFill>
          <a:ln/>
        </p:spPr>
      </p:sp>
      <p:sp>
        <p:nvSpPr>
          <p:cNvPr id="19" name="Text 15"/>
          <p:cNvSpPr txBox="1"/>
          <p:nvPr/>
        </p:nvSpPr>
        <p:spPr>
          <a:xfrm>
            <a:off x="5084064"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0" name="Text 16"/>
          <p:cNvSpPr txBox="1"/>
          <p:nvPr/>
        </p:nvSpPr>
        <p:spPr>
          <a:xfrm>
            <a:off x="3547872"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 Map on WhatsApp</a:t>
            </a:r>
            <a:endParaRPr lang="en-US" sz="1300" dirty="0"/>
          </a:p>
        </p:txBody>
      </p:sp>
      <p:sp>
        <p:nvSpPr>
          <p:cNvPr id="21" name="Text 17"/>
          <p:cNvSpPr txBox="1"/>
          <p:nvPr/>
        </p:nvSpPr>
        <p:spPr>
          <a:xfrm>
            <a:off x="3547872"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Scan or message your upazila to see its water history and get a guide to testing your own water.</a:t>
            </a:r>
            <a:endParaRPr lang="en-US" sz="1100" dirty="0"/>
          </a:p>
        </p:txBody>
      </p:sp>
      <p:sp>
        <p:nvSpPr>
          <p:cNvPr id="22" name="Shape 18"/>
          <p:cNvSpPr/>
          <p:nvPr/>
        </p:nvSpPr>
        <p:spPr>
          <a:xfrm>
            <a:off x="6181344" y="2194560"/>
            <a:ext cx="2633472" cy="2011680"/>
          </a:xfrm>
          <a:prstGeom prst="roundRect">
            <a:avLst>
              <a:gd name="adj" fmla="val 3636"/>
            </a:avLst>
          </a:prstGeom>
          <a:solidFill>
            <a:srgbClr val="F3F6FA"/>
          </a:solidFill>
          <a:ln/>
        </p:spPr>
      </p:sp>
      <p:sp>
        <p:nvSpPr>
          <p:cNvPr id="23" name="Shape 19"/>
          <p:cNvSpPr/>
          <p:nvPr/>
        </p:nvSpPr>
        <p:spPr>
          <a:xfrm>
            <a:off x="6364224" y="2331720"/>
            <a:ext cx="502920" cy="502920"/>
          </a:xfrm>
          <a:prstGeom prst="ellipse">
            <a:avLst/>
          </a:prstGeom>
          <a:solidFill>
            <a:srgbClr val="12A5C4"/>
          </a:solidFill>
          <a:ln/>
        </p:spPr>
      </p:sp>
      <p:pic>
        <p:nvPicPr>
          <p:cNvPr id="24" name="Image 2" descr="preencoded.png">    </p:cNvPr>
          <p:cNvPicPr>
            <a:picLocks noChangeAspect="1"/>
          </p:cNvPicPr>
          <p:nvPr/>
        </p:nvPicPr>
        <p:blipFill>
          <a:blip r:embed="rId3"/>
          <a:stretch>
            <a:fillRect/>
          </a:stretch>
        </p:blipFill>
        <p:spPr>
          <a:xfrm>
            <a:off x="6484925" y="2452421"/>
            <a:ext cx="261518" cy="261518"/>
          </a:xfrm>
          <a:prstGeom prst="rect">
            <a:avLst/>
          </a:prstGeom>
        </p:spPr>
      </p:pic>
      <p:sp>
        <p:nvSpPr>
          <p:cNvPr id="25" name="Text 20"/>
          <p:cNvSpPr txBox="1"/>
          <p:nvPr/>
        </p:nvSpPr>
        <p:spPr>
          <a:xfrm>
            <a:off x="6986016" y="2377440"/>
            <a:ext cx="914400" cy="228600"/>
          </a:xfrm>
          <a:prstGeom prst="rect">
            <a:avLst/>
          </a:prstGeom>
          <a:noFill/>
          <a:ln/>
        </p:spPr>
        <p:txBody>
          <a:bodyPr wrap="square" lIns="0" tIns="0" rIns="0" bIns="0" rtlCol="0" anchor="t"/>
          <a:lstStyle/>
          <a:p>
            <a:pPr indent="0" marL="0">
              <a:buNone/>
            </a:pPr>
            <a:r>
              <a:rPr lang="en-US" sz="1100" b="1" spc="100" kern="0" dirty="0">
                <a:solidFill>
                  <a:srgbClr val="12A5C4"/>
                </a:solidFill>
              </a:rPr>
              <a:t>TRY</a:t>
            </a:r>
            <a:endParaRPr lang="en-US" sz="1100" dirty="0"/>
          </a:p>
        </p:txBody>
      </p:sp>
      <p:sp>
        <p:nvSpPr>
          <p:cNvPr id="26" name="Shape 21"/>
          <p:cNvSpPr/>
          <p:nvPr/>
        </p:nvSpPr>
        <p:spPr>
          <a:xfrm>
            <a:off x="7900416" y="2377440"/>
            <a:ext cx="777240" cy="246888"/>
          </a:xfrm>
          <a:prstGeom prst="roundRect">
            <a:avLst>
              <a:gd name="adj" fmla="val 29630"/>
            </a:avLst>
          </a:prstGeom>
          <a:solidFill>
            <a:srgbClr val="F5A31A"/>
          </a:solidFill>
          <a:ln/>
        </p:spPr>
      </p:sp>
      <p:sp>
        <p:nvSpPr>
          <p:cNvPr id="27" name="Text 22"/>
          <p:cNvSpPr txBox="1"/>
          <p:nvPr/>
        </p:nvSpPr>
        <p:spPr>
          <a:xfrm>
            <a:off x="7900416"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8" name="Text 23"/>
          <p:cNvSpPr txBox="1"/>
          <p:nvPr/>
        </p:nvSpPr>
        <p:spPr>
          <a:xfrm>
            <a:off x="6364224"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Campus “Pani Lab”</a:t>
            </a:r>
            <a:endParaRPr lang="en-US" sz="1300" dirty="0"/>
          </a:p>
        </p:txBody>
      </p:sp>
      <p:sp>
        <p:nvSpPr>
          <p:cNvPr id="29" name="Text 24"/>
          <p:cNvSpPr txBox="1"/>
          <p:nvPr/>
        </p:nvSpPr>
        <p:spPr>
          <a:xfrm>
            <a:off x="6364224"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Booths at 30 universities and halls: a free strip test, a same-shampoo foam demo and Tk 3 sachet sampling.</a:t>
            </a:r>
            <a:endParaRPr lang="en-US" sz="1100" dirty="0"/>
          </a:p>
        </p:txBody>
      </p:sp>
      <p:sp>
        <p:nvSpPr>
          <p:cNvPr id="30" name="Shape 25"/>
          <p:cNvSpPr/>
          <p:nvPr/>
        </p:nvSpPr>
        <p:spPr>
          <a:xfrm>
            <a:off x="8997696" y="2194560"/>
            <a:ext cx="2633472" cy="2011680"/>
          </a:xfrm>
          <a:prstGeom prst="roundRect">
            <a:avLst>
              <a:gd name="adj" fmla="val 3636"/>
            </a:avLst>
          </a:prstGeom>
          <a:solidFill>
            <a:srgbClr val="F3F6FA"/>
          </a:solidFill>
          <a:ln/>
        </p:spPr>
      </p:sp>
      <p:sp>
        <p:nvSpPr>
          <p:cNvPr id="31" name="Shape 26"/>
          <p:cNvSpPr/>
          <p:nvPr/>
        </p:nvSpPr>
        <p:spPr>
          <a:xfrm>
            <a:off x="9180576" y="2331720"/>
            <a:ext cx="502920" cy="502920"/>
          </a:xfrm>
          <a:prstGeom prst="ellipse">
            <a:avLst/>
          </a:prstGeom>
          <a:solidFill>
            <a:srgbClr val="3E9B3A"/>
          </a:solidFill>
          <a:ln/>
        </p:spPr>
      </p:sp>
      <p:pic>
        <p:nvPicPr>
          <p:cNvPr id="32" name="Image 3" descr="preencoded.png">    </p:cNvPr>
          <p:cNvPicPr>
            <a:picLocks noChangeAspect="1"/>
          </p:cNvPicPr>
          <p:nvPr/>
        </p:nvPicPr>
        <p:blipFill>
          <a:blip r:embed="rId4"/>
          <a:stretch>
            <a:fillRect/>
          </a:stretch>
        </p:blipFill>
        <p:spPr>
          <a:xfrm>
            <a:off x="9301277" y="2452421"/>
            <a:ext cx="261518" cy="261518"/>
          </a:xfrm>
          <a:prstGeom prst="rect">
            <a:avLst/>
          </a:prstGeom>
        </p:spPr>
      </p:pic>
      <p:sp>
        <p:nvSpPr>
          <p:cNvPr id="33" name="Text 27"/>
          <p:cNvSpPr txBox="1"/>
          <p:nvPr/>
        </p:nvSpPr>
        <p:spPr>
          <a:xfrm>
            <a:off x="9802368" y="2377440"/>
            <a:ext cx="914400" cy="228600"/>
          </a:xfrm>
          <a:prstGeom prst="rect">
            <a:avLst/>
          </a:prstGeom>
          <a:noFill/>
          <a:ln/>
        </p:spPr>
        <p:txBody>
          <a:bodyPr wrap="square" lIns="0" tIns="0" rIns="0" bIns="0" rtlCol="0" anchor="t"/>
          <a:lstStyle/>
          <a:p>
            <a:pPr indent="0" marL="0">
              <a:buNone/>
            </a:pPr>
            <a:r>
              <a:rPr lang="en-US" sz="1100" b="1" spc="100" kern="0" dirty="0">
                <a:solidFill>
                  <a:srgbClr val="3E9B3A"/>
                </a:solidFill>
              </a:rPr>
              <a:t>REPEAT</a:t>
            </a:r>
            <a:endParaRPr lang="en-US" sz="1100" dirty="0"/>
          </a:p>
        </p:txBody>
      </p:sp>
      <p:sp>
        <p:nvSpPr>
          <p:cNvPr id="34" name="Shape 28"/>
          <p:cNvSpPr/>
          <p:nvPr/>
        </p:nvSpPr>
        <p:spPr>
          <a:xfrm>
            <a:off x="10716768" y="2377440"/>
            <a:ext cx="777240" cy="246888"/>
          </a:xfrm>
          <a:prstGeom prst="roundRect">
            <a:avLst>
              <a:gd name="adj" fmla="val 29630"/>
            </a:avLst>
          </a:prstGeom>
          <a:solidFill>
            <a:srgbClr val="D5DCE6"/>
          </a:solidFill>
          <a:ln/>
        </p:spPr>
      </p:sp>
      <p:sp>
        <p:nvSpPr>
          <p:cNvPr id="35" name="Text 29"/>
          <p:cNvSpPr txBox="1"/>
          <p:nvPr/>
        </p:nvSpPr>
        <p:spPr>
          <a:xfrm>
            <a:off x="10716768"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36" name="Text 30"/>
          <p:cNvSpPr txBox="1"/>
          <p:nvPr/>
        </p:nvSpPr>
        <p:spPr>
          <a:xfrm>
            <a:off x="9180576"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Every bottle is a demo</a:t>
            </a:r>
            <a:endParaRPr lang="en-US" sz="1300" dirty="0"/>
          </a:p>
        </p:txBody>
      </p:sp>
      <p:sp>
        <p:nvSpPr>
          <p:cNvPr id="37" name="Text 31"/>
          <p:cNvSpPr txBox="1"/>
          <p:nvPr/>
        </p:nvSpPr>
        <p:spPr>
          <a:xfrm>
            <a:off x="9180576"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The in-cap test works at home. E-commerce brand days and bundles; shelf strips with QR codes at cosmetics stores and supermarkets.</a:t>
            </a:r>
            <a:endParaRPr lang="en-US" sz="1100" dirty="0"/>
          </a:p>
        </p:txBody>
      </p:sp>
      <p:sp>
        <p:nvSpPr>
          <p:cNvPr id="38" name="Text 32"/>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200" b="1" dirty="0">
                <a:solidFill>
                  <a:srgbClr val="141C52"/>
                </a:solidFill>
              </a:rPr>
              <a:t>Launch calendar, Year 1</a:t>
            </a:r>
            <a:endParaRPr lang="en-US" sz="1200" dirty="0"/>
          </a:p>
        </p:txBody>
      </p:sp>
      <p:sp>
        <p:nvSpPr>
          <p:cNvPr id="39" name="Shape 33"/>
          <p:cNvSpPr/>
          <p:nvPr/>
        </p:nvSpPr>
        <p:spPr>
          <a:xfrm>
            <a:off x="548640" y="4663440"/>
            <a:ext cx="1627632" cy="1188720"/>
          </a:xfrm>
          <a:prstGeom prst="roundRect">
            <a:avLst>
              <a:gd name="adj" fmla="val 6154"/>
            </a:avLst>
          </a:prstGeom>
          <a:solidFill>
            <a:srgbClr val="F3F6FA"/>
          </a:solidFill>
          <a:ln/>
        </p:spPr>
      </p:sp>
      <p:sp>
        <p:nvSpPr>
          <p:cNvPr id="40" name="Text 34"/>
          <p:cNvSpPr txBox="1"/>
          <p:nvPr/>
        </p:nvSpPr>
        <p:spPr>
          <a:xfrm>
            <a:off x="658368"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Q1</a:t>
            </a:r>
            <a:endParaRPr lang="en-US" sz="1200" dirty="0"/>
          </a:p>
          <a:p>
            <a:pPr indent="0" marL="0">
              <a:buNone/>
            </a:pPr>
            <a:r>
              <a:rPr lang="en-US" sz="1100" dirty="0">
                <a:solidFill>
                  <a:srgbClr val="1F2937"/>
                </a:solidFill>
              </a:rPr>
              <a:t>Pipeline fill and teaser</a:t>
            </a:r>
            <a:endParaRPr lang="en-US" sz="1200" dirty="0"/>
          </a:p>
        </p:txBody>
      </p:sp>
      <p:sp>
        <p:nvSpPr>
          <p:cNvPr id="41" name="Shape 35"/>
          <p:cNvSpPr/>
          <p:nvPr/>
        </p:nvSpPr>
        <p:spPr>
          <a:xfrm>
            <a:off x="2267712" y="4663440"/>
            <a:ext cx="1627632" cy="1188720"/>
          </a:xfrm>
          <a:prstGeom prst="roundRect">
            <a:avLst>
              <a:gd name="adj" fmla="val 6154"/>
            </a:avLst>
          </a:prstGeom>
          <a:solidFill>
            <a:srgbClr val="FFF4E0"/>
          </a:solidFill>
          <a:ln/>
        </p:spPr>
      </p:sp>
      <p:sp>
        <p:nvSpPr>
          <p:cNvPr id="42" name="Text 36"/>
          <p:cNvSpPr txBox="1"/>
          <p:nvPr/>
        </p:nvSpPr>
        <p:spPr>
          <a:xfrm>
            <a:off x="2377440"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Q2</a:t>
            </a:r>
            <a:endParaRPr lang="en-US" sz="1200" dirty="0"/>
          </a:p>
          <a:p>
            <a:pPr indent="0" marL="0">
              <a:buNone/>
            </a:pPr>
            <a:r>
              <a:rPr lang="en-US" sz="1100" dirty="0">
                <a:solidFill>
                  <a:srgbClr val="1F2937"/>
                </a:solidFill>
              </a:rPr>
              <a:t>Campus blitz at session start</a:t>
            </a:r>
            <a:endParaRPr lang="en-US" sz="1200" dirty="0"/>
          </a:p>
        </p:txBody>
      </p:sp>
      <p:sp>
        <p:nvSpPr>
          <p:cNvPr id="43" name="Shape 37"/>
          <p:cNvSpPr/>
          <p:nvPr/>
        </p:nvSpPr>
        <p:spPr>
          <a:xfrm>
            <a:off x="3986784" y="4663440"/>
            <a:ext cx="1627632" cy="1188720"/>
          </a:xfrm>
          <a:prstGeom prst="roundRect">
            <a:avLst>
              <a:gd name="adj" fmla="val 6154"/>
            </a:avLst>
          </a:prstGeom>
          <a:solidFill>
            <a:srgbClr val="F3F6FA"/>
          </a:solidFill>
          <a:ln/>
        </p:spPr>
      </p:sp>
      <p:sp>
        <p:nvSpPr>
          <p:cNvPr id="44" name="Text 38"/>
          <p:cNvSpPr txBox="1"/>
          <p:nvPr/>
        </p:nvSpPr>
        <p:spPr>
          <a:xfrm>
            <a:off x="4096512"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Q3</a:t>
            </a:r>
            <a:endParaRPr lang="en-US" sz="1200" dirty="0"/>
          </a:p>
          <a:p>
            <a:pPr indent="0" marL="0">
              <a:buNone/>
            </a:pPr>
            <a:r>
              <a:rPr lang="en-US" sz="1100" dirty="0">
                <a:solidFill>
                  <a:srgbClr val="1F2937"/>
                </a:solidFill>
              </a:rPr>
              <a:t>Creators and e-commerce brand days</a:t>
            </a:r>
            <a:endParaRPr lang="en-US" sz="1200" dirty="0"/>
          </a:p>
        </p:txBody>
      </p:sp>
      <p:sp>
        <p:nvSpPr>
          <p:cNvPr id="45" name="Shape 39"/>
          <p:cNvSpPr/>
          <p:nvPr/>
        </p:nvSpPr>
        <p:spPr>
          <a:xfrm>
            <a:off x="5705856" y="4663440"/>
            <a:ext cx="1627632" cy="1188720"/>
          </a:xfrm>
          <a:prstGeom prst="roundRect">
            <a:avLst>
              <a:gd name="adj" fmla="val 6154"/>
            </a:avLst>
          </a:prstGeom>
          <a:solidFill>
            <a:srgbClr val="F3F6FA"/>
          </a:solidFill>
          <a:ln/>
        </p:spPr>
      </p:sp>
      <p:sp>
        <p:nvSpPr>
          <p:cNvPr id="46" name="Text 40"/>
          <p:cNvSpPr txBox="1"/>
          <p:nvPr/>
        </p:nvSpPr>
        <p:spPr>
          <a:xfrm>
            <a:off x="5815584"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Q4</a:t>
            </a:r>
            <a:endParaRPr lang="en-US" sz="1200" dirty="0"/>
          </a:p>
          <a:p>
            <a:pPr indent="0" marL="0">
              <a:buNone/>
            </a:pPr>
            <a:r>
              <a:rPr lang="en-US" sz="1100" dirty="0">
                <a:solidFill>
                  <a:srgbClr val="1F2937"/>
                </a:solidFill>
              </a:rPr>
              <a:t>Rural sachet push and haat activations</a:t>
            </a:r>
            <a:endParaRPr lang="en-US" sz="1200" dirty="0"/>
          </a:p>
        </p:txBody>
      </p:sp>
      <p:sp>
        <p:nvSpPr>
          <p:cNvPr id="47" name="Shape 41"/>
          <p:cNvSpPr/>
          <p:nvPr/>
        </p:nvSpPr>
        <p:spPr>
          <a:xfrm>
            <a:off x="7543800" y="4343400"/>
            <a:ext cx="4096512" cy="1508760"/>
          </a:xfrm>
          <a:prstGeom prst="roundRect">
            <a:avLst>
              <a:gd name="adj" fmla="val 4848"/>
            </a:avLst>
          </a:prstGeom>
          <a:solidFill>
            <a:srgbClr val="F3F6FA"/>
          </a:solidFill>
          <a:ln/>
        </p:spPr>
      </p:sp>
      <p:sp>
        <p:nvSpPr>
          <p:cNvPr id="48" name="Text 42"/>
          <p:cNvSpPr txBox="1"/>
          <p:nvPr/>
        </p:nvSpPr>
        <p:spPr>
          <a:xfrm>
            <a:off x="7726680" y="4407408"/>
            <a:ext cx="3749040" cy="274320"/>
          </a:xfrm>
          <a:prstGeom prst="rect">
            <a:avLst/>
          </a:prstGeom>
          <a:noFill/>
          <a:ln/>
        </p:spPr>
        <p:txBody>
          <a:bodyPr wrap="square" lIns="0" tIns="0" rIns="0" bIns="0" rtlCol="0" anchor="t"/>
          <a:lstStyle/>
          <a:p>
            <a:pPr indent="0" marL="0">
              <a:buNone/>
            </a:pPr>
            <a:r>
              <a:rPr lang="en-US" sz="1300" b="1" dirty="0">
                <a:solidFill>
                  <a:srgbClr val="141C52"/>
                </a:solidFill>
              </a:rPr>
              <a:t>Year-1 A&amp;P: Tk 4.5 Cr</a:t>
            </a:r>
            <a:endParaRPr lang="en-US" sz="1300" dirty="0"/>
          </a:p>
        </p:txBody>
      </p:sp>
      <p:sp>
        <p:nvSpPr>
          <p:cNvPr id="49" name="Text 43"/>
          <p:cNvSpPr txBox="1"/>
          <p:nvPr/>
        </p:nvSpPr>
        <p:spPr>
          <a:xfrm>
            <a:off x="7726680" y="4754880"/>
            <a:ext cx="1554480" cy="228600"/>
          </a:xfrm>
          <a:prstGeom prst="rect">
            <a:avLst/>
          </a:prstGeom>
          <a:noFill/>
          <a:ln/>
        </p:spPr>
        <p:txBody>
          <a:bodyPr wrap="square" lIns="0" tIns="0" rIns="0" bIns="0" rtlCol="0" anchor="ctr"/>
          <a:lstStyle/>
          <a:p>
            <a:pPr indent="0" marL="0">
              <a:buNone/>
            </a:pPr>
            <a:r>
              <a:rPr lang="en-US" sz="1100" dirty="0">
                <a:solidFill>
                  <a:srgbClr val="1F2937"/>
                </a:solidFill>
              </a:rPr>
              <a:t>Digital and creators</a:t>
            </a:r>
            <a:endParaRPr lang="en-US" sz="1100" dirty="0"/>
          </a:p>
        </p:txBody>
      </p:sp>
      <p:sp>
        <p:nvSpPr>
          <p:cNvPr id="50" name="Shape 44"/>
          <p:cNvSpPr/>
          <p:nvPr/>
        </p:nvSpPr>
        <p:spPr>
          <a:xfrm>
            <a:off x="9281160" y="4791456"/>
            <a:ext cx="1645920" cy="164592"/>
          </a:xfrm>
          <a:prstGeom prst="rect">
            <a:avLst/>
          </a:prstGeom>
          <a:solidFill>
            <a:srgbClr val="12A5C4"/>
          </a:solidFill>
          <a:ln/>
        </p:spPr>
      </p:sp>
      <p:sp>
        <p:nvSpPr>
          <p:cNvPr id="51" name="Text 45"/>
          <p:cNvSpPr txBox="1"/>
          <p:nvPr/>
        </p:nvSpPr>
        <p:spPr>
          <a:xfrm>
            <a:off x="10972800" y="4754880"/>
            <a:ext cx="1371600" cy="228600"/>
          </a:xfrm>
          <a:prstGeom prst="rect">
            <a:avLst/>
          </a:prstGeom>
          <a:noFill/>
          <a:ln/>
        </p:spPr>
        <p:txBody>
          <a:bodyPr wrap="square" lIns="0" tIns="0" rIns="0" bIns="0" rtlCol="0" anchor="ctr"/>
          <a:lstStyle/>
          <a:p>
            <a:pPr indent="0" marL="0">
              <a:buNone/>
            </a:pPr>
            <a:r>
              <a:rPr lang="en-US" sz="1000" dirty="0">
                <a:solidFill>
                  <a:srgbClr val="5B6472"/>
                </a:solidFill>
              </a:rPr>
              <a:t>40% · Tk 1.80 Cr</a:t>
            </a:r>
            <a:endParaRPr lang="en-US" sz="1000" dirty="0"/>
          </a:p>
        </p:txBody>
      </p:sp>
      <p:sp>
        <p:nvSpPr>
          <p:cNvPr id="52" name="Text 46"/>
          <p:cNvSpPr txBox="1"/>
          <p:nvPr/>
        </p:nvSpPr>
        <p:spPr>
          <a:xfrm>
            <a:off x="7726680" y="5020056"/>
            <a:ext cx="1554480" cy="228600"/>
          </a:xfrm>
          <a:prstGeom prst="rect">
            <a:avLst/>
          </a:prstGeom>
          <a:noFill/>
          <a:ln/>
        </p:spPr>
        <p:txBody>
          <a:bodyPr wrap="square" lIns="0" tIns="0" rIns="0" bIns="0" rtlCol="0" anchor="ctr"/>
          <a:lstStyle/>
          <a:p>
            <a:pPr indent="0" marL="0">
              <a:buNone/>
            </a:pPr>
            <a:r>
              <a:rPr lang="en-US" sz="1100" dirty="0">
                <a:solidFill>
                  <a:srgbClr val="1F2937"/>
                </a:solidFill>
              </a:rPr>
              <a:t>Activation</a:t>
            </a:r>
            <a:endParaRPr lang="en-US" sz="1100" dirty="0"/>
          </a:p>
        </p:txBody>
      </p:sp>
      <p:sp>
        <p:nvSpPr>
          <p:cNvPr id="53" name="Shape 47"/>
          <p:cNvSpPr/>
          <p:nvPr/>
        </p:nvSpPr>
        <p:spPr>
          <a:xfrm>
            <a:off x="9281160" y="5056632"/>
            <a:ext cx="1234440" cy="164592"/>
          </a:xfrm>
          <a:prstGeom prst="rect">
            <a:avLst/>
          </a:prstGeom>
          <a:solidFill>
            <a:srgbClr val="12A5C4"/>
          </a:solidFill>
          <a:ln/>
        </p:spPr>
      </p:sp>
      <p:sp>
        <p:nvSpPr>
          <p:cNvPr id="54" name="Text 48"/>
          <p:cNvSpPr txBox="1"/>
          <p:nvPr/>
        </p:nvSpPr>
        <p:spPr>
          <a:xfrm>
            <a:off x="10561320" y="5020056"/>
            <a:ext cx="1371600" cy="228600"/>
          </a:xfrm>
          <a:prstGeom prst="rect">
            <a:avLst/>
          </a:prstGeom>
          <a:noFill/>
          <a:ln/>
        </p:spPr>
        <p:txBody>
          <a:bodyPr wrap="square" lIns="0" tIns="0" rIns="0" bIns="0" rtlCol="0" anchor="ctr"/>
          <a:lstStyle/>
          <a:p>
            <a:pPr indent="0" marL="0">
              <a:buNone/>
            </a:pPr>
            <a:r>
              <a:rPr lang="en-US" sz="1000" dirty="0">
                <a:solidFill>
                  <a:srgbClr val="5B6472"/>
                </a:solidFill>
              </a:rPr>
              <a:t>30% · Tk 1.35 Cr</a:t>
            </a:r>
            <a:endParaRPr lang="en-US" sz="1000" dirty="0"/>
          </a:p>
        </p:txBody>
      </p:sp>
      <p:sp>
        <p:nvSpPr>
          <p:cNvPr id="55" name="Text 49"/>
          <p:cNvSpPr txBox="1"/>
          <p:nvPr/>
        </p:nvSpPr>
        <p:spPr>
          <a:xfrm>
            <a:off x="7726680" y="5285232"/>
            <a:ext cx="1554480" cy="228600"/>
          </a:xfrm>
          <a:prstGeom prst="rect">
            <a:avLst/>
          </a:prstGeom>
          <a:noFill/>
          <a:ln/>
        </p:spPr>
        <p:txBody>
          <a:bodyPr wrap="square" lIns="0" tIns="0" rIns="0" bIns="0" rtlCol="0" anchor="ctr"/>
          <a:lstStyle/>
          <a:p>
            <a:pPr indent="0" marL="0">
              <a:buNone/>
            </a:pPr>
            <a:r>
              <a:rPr lang="en-US" sz="1100" dirty="0">
                <a:solidFill>
                  <a:srgbClr val="1F2937"/>
                </a:solidFill>
              </a:rPr>
              <a:t>Retail visibility</a:t>
            </a:r>
            <a:endParaRPr lang="en-US" sz="1100" dirty="0"/>
          </a:p>
        </p:txBody>
      </p:sp>
      <p:sp>
        <p:nvSpPr>
          <p:cNvPr id="56" name="Shape 50"/>
          <p:cNvSpPr/>
          <p:nvPr/>
        </p:nvSpPr>
        <p:spPr>
          <a:xfrm>
            <a:off x="9281160" y="5321808"/>
            <a:ext cx="822960" cy="164592"/>
          </a:xfrm>
          <a:prstGeom prst="rect">
            <a:avLst/>
          </a:prstGeom>
          <a:solidFill>
            <a:srgbClr val="12A5C4"/>
          </a:solidFill>
          <a:ln/>
        </p:spPr>
      </p:sp>
      <p:sp>
        <p:nvSpPr>
          <p:cNvPr id="57" name="Text 51"/>
          <p:cNvSpPr txBox="1"/>
          <p:nvPr/>
        </p:nvSpPr>
        <p:spPr>
          <a:xfrm>
            <a:off x="10149840" y="5285232"/>
            <a:ext cx="1371600" cy="228600"/>
          </a:xfrm>
          <a:prstGeom prst="rect">
            <a:avLst/>
          </a:prstGeom>
          <a:noFill/>
          <a:ln/>
        </p:spPr>
        <p:txBody>
          <a:bodyPr wrap="square" lIns="0" tIns="0" rIns="0" bIns="0" rtlCol="0" anchor="ctr"/>
          <a:lstStyle/>
          <a:p>
            <a:pPr indent="0" marL="0">
              <a:buNone/>
            </a:pPr>
            <a:r>
              <a:rPr lang="en-US" sz="1000" dirty="0">
                <a:solidFill>
                  <a:srgbClr val="5B6472"/>
                </a:solidFill>
              </a:rPr>
              <a:t>20% · Tk 0.90 Cr</a:t>
            </a:r>
            <a:endParaRPr lang="en-US" sz="1000" dirty="0"/>
          </a:p>
        </p:txBody>
      </p:sp>
      <p:sp>
        <p:nvSpPr>
          <p:cNvPr id="58" name="Text 52"/>
          <p:cNvSpPr txBox="1"/>
          <p:nvPr/>
        </p:nvSpPr>
        <p:spPr>
          <a:xfrm>
            <a:off x="7726680" y="5550408"/>
            <a:ext cx="1554480" cy="228600"/>
          </a:xfrm>
          <a:prstGeom prst="rect">
            <a:avLst/>
          </a:prstGeom>
          <a:noFill/>
          <a:ln/>
        </p:spPr>
        <p:txBody>
          <a:bodyPr wrap="square" lIns="0" tIns="0" rIns="0" bIns="0" rtlCol="0" anchor="ctr"/>
          <a:lstStyle/>
          <a:p>
            <a:pPr indent="0" marL="0">
              <a:buNone/>
            </a:pPr>
            <a:r>
              <a:rPr lang="en-US" sz="1100" dirty="0">
                <a:solidFill>
                  <a:srgbClr val="1F2937"/>
                </a:solidFill>
              </a:rPr>
              <a:t>PR and other</a:t>
            </a:r>
            <a:endParaRPr lang="en-US" sz="1100" dirty="0"/>
          </a:p>
        </p:txBody>
      </p:sp>
      <p:sp>
        <p:nvSpPr>
          <p:cNvPr id="59" name="Shape 53"/>
          <p:cNvSpPr/>
          <p:nvPr/>
        </p:nvSpPr>
        <p:spPr>
          <a:xfrm>
            <a:off x="9281160" y="5586984"/>
            <a:ext cx="411480" cy="164592"/>
          </a:xfrm>
          <a:prstGeom prst="rect">
            <a:avLst/>
          </a:prstGeom>
          <a:solidFill>
            <a:srgbClr val="12A5C4"/>
          </a:solidFill>
          <a:ln/>
        </p:spPr>
      </p:sp>
      <p:sp>
        <p:nvSpPr>
          <p:cNvPr id="60" name="Text 54"/>
          <p:cNvSpPr txBox="1"/>
          <p:nvPr/>
        </p:nvSpPr>
        <p:spPr>
          <a:xfrm>
            <a:off x="9738360" y="5550408"/>
            <a:ext cx="1371600" cy="228600"/>
          </a:xfrm>
          <a:prstGeom prst="rect">
            <a:avLst/>
          </a:prstGeom>
          <a:noFill/>
          <a:ln/>
        </p:spPr>
        <p:txBody>
          <a:bodyPr wrap="square" lIns="0" tIns="0" rIns="0" bIns="0" rtlCol="0" anchor="ctr"/>
          <a:lstStyle/>
          <a:p>
            <a:pPr indent="0" marL="0">
              <a:buNone/>
            </a:pPr>
            <a:r>
              <a:rPr lang="en-US" sz="1000" dirty="0">
                <a:solidFill>
                  <a:srgbClr val="5B6472"/>
                </a:solidFill>
              </a:rPr>
              <a:t>10% · Tk 0.45 Cr</a:t>
            </a:r>
            <a:endParaRPr lang="en-US" sz="1000" dirty="0"/>
          </a:p>
        </p:txBody>
      </p:sp>
      <p:sp>
        <p:nvSpPr>
          <p:cNvPr id="61" name="Text 5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KPIs: spontaneous awareness among Movers · consideration · water tests done (one per 340 ml bottle: 1.5M in three years) · trial · rate of sale. Framework: Marketing masterclass (unique and surround touchpoints). Budget split is a planning assumption.</a:t>
            </a:r>
            <a:endParaRPr lang="en-US" sz="1000" dirty="0"/>
          </a:p>
        </p:txBody>
      </p:sp>
      <p:sp>
        <p:nvSpPr>
          <p:cNvPr id="6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SALES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Sales: sachets for reach, 340 ml for value: 37k outlets in Year 1, 104k by Year 3</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148840"/>
                <a:gridCol w="914400"/>
                <a:gridCol w="914400"/>
                <a:gridCol w="1143000"/>
                <a:gridCol w="1554480"/>
              </a:tblGrid>
              <a:tr h="347472">
                <a:tc>
                  <a:txBody>
                    <a:bodyPr/>
                    <a:lstStyle/>
                    <a:p>
                      <a:pPr indent="0" marL="0">
                        <a:buNone/>
                      </a:pPr>
                      <a:r>
                        <a:rPr lang="en-US" sz="1100" b="1" dirty="0">
                          <a:solidFill>
                            <a:srgbClr val="FFFFFF"/>
                          </a:solidFill>
                        </a:rPr>
                        <a:t>Channel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Year-1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Year-3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Lead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Units / outlet / month (sachet · 180 · 340)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47472">
                <a:tc>
                  <a:txBody>
                    <a:bodyPr/>
                    <a:lstStyle/>
                    <a:p>
                      <a:pPr indent="0" marL="0">
                        <a:buNone/>
                      </a:pPr>
                      <a:r>
                        <a:rPr lang="en-US" sz="1100" dirty="0">
                          <a:solidFill>
                            <a:srgbClr val="1F2937"/>
                          </a:solidFill>
                        </a:rPr>
                        <a:t>Rural grocer (RG)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48 · 0.5 · –</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neighbourhood grocer (UNG)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 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 · 1 · 0.5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cosmetics store (UCS)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6,000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 + strip</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2 ·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Rural cosmetics store (RCS)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9,000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 · 1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Wholesale (WS)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240 · 3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Modern trade (MT)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15 · 15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E-commerce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30 · 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b="1" dirty="0">
                          <a:solidFill>
                            <a:srgbClr val="1F2937"/>
                          </a:solidFill>
                        </a:rPr>
                        <a:t>Total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37,330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104,400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r>
            </a:tbl>
          </a:graphicData>
        </a:graphic>
      </p:graphicFrame>
      <p:sp>
        <p:nvSpPr>
          <p:cNvPr id="5" name="Text 2"/>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200" b="1" dirty="0">
                <a:solidFill>
                  <a:srgbClr val="141C52"/>
                </a:solidFill>
              </a:rPr>
              <a:t>Year-3 net revenue by channel</a:t>
            </a:r>
            <a:endParaRPr lang="en-US" sz="1200" dirty="0"/>
          </a:p>
        </p:txBody>
      </p:sp>
      <p:sp>
        <p:nvSpPr>
          <p:cNvPr id="6" name="Shape 3"/>
          <p:cNvSpPr/>
          <p:nvPr/>
        </p:nvSpPr>
        <p:spPr>
          <a:xfrm>
            <a:off x="548640" y="5166360"/>
            <a:ext cx="6209272" cy="292608"/>
          </a:xfrm>
          <a:prstGeom prst="rect">
            <a:avLst/>
          </a:prstGeom>
          <a:solidFill>
            <a:srgbClr val="141C52"/>
          </a:solidFill>
          <a:ln/>
        </p:spPr>
      </p:sp>
      <p:sp>
        <p:nvSpPr>
          <p:cNvPr id="7" name="Shape 4"/>
          <p:cNvSpPr/>
          <p:nvPr/>
        </p:nvSpPr>
        <p:spPr>
          <a:xfrm>
            <a:off x="6757912" y="5166360"/>
            <a:ext cx="366346" cy="292608"/>
          </a:xfrm>
          <a:prstGeom prst="rect">
            <a:avLst/>
          </a:prstGeom>
          <a:solidFill>
            <a:srgbClr val="12A5C4"/>
          </a:solidFill>
          <a:ln/>
        </p:spPr>
      </p:sp>
      <p:sp>
        <p:nvSpPr>
          <p:cNvPr id="8" name="Shape 5"/>
          <p:cNvSpPr/>
          <p:nvPr/>
        </p:nvSpPr>
        <p:spPr>
          <a:xfrm>
            <a:off x="7124259" y="5166360"/>
            <a:ext cx="109728" cy="292608"/>
          </a:xfrm>
          <a:prstGeom prst="rect">
            <a:avLst/>
          </a:prstGeom>
          <a:solidFill>
            <a:srgbClr val="F5A31A"/>
          </a:solidFill>
          <a:ln/>
        </p:spPr>
      </p:sp>
      <p:sp>
        <p:nvSpPr>
          <p:cNvPr id="9" name="Text 6"/>
          <p:cNvSpPr txBox="1"/>
          <p:nvPr/>
        </p:nvSpPr>
        <p:spPr>
          <a:xfrm>
            <a:off x="548640" y="5504688"/>
            <a:ext cx="6675120" cy="274320"/>
          </a:xfrm>
          <a:prstGeom prst="rect">
            <a:avLst/>
          </a:prstGeom>
          <a:noFill/>
          <a:ln/>
        </p:spPr>
        <p:txBody>
          <a:bodyPr wrap="square" lIns="0" tIns="0" rIns="0" bIns="0" rtlCol="0" anchor="t"/>
          <a:lstStyle/>
          <a:p>
            <a:pPr indent="0" marL="0">
              <a:buNone/>
            </a:pPr>
            <a:r>
              <a:rPr lang="en-US" sz="1100" dirty="0">
                <a:solidFill>
                  <a:srgbClr val="1F2937"/>
                </a:solidFill>
              </a:rPr>
              <a:t>General trade Tk 38.5 Cr (93%)  ·  Modern trade Tk 2.3 Cr  ·  E-commerce Tk 0.6 Cr</a:t>
            </a:r>
            <a:endParaRPr lang="en-US" sz="1100" dirty="0"/>
          </a:p>
        </p:txBody>
      </p:sp>
      <p:sp>
        <p:nvSpPr>
          <p:cNvPr id="10" name="Shape 7"/>
          <p:cNvSpPr/>
          <p:nvPr/>
        </p:nvSpPr>
        <p:spPr>
          <a:xfrm>
            <a:off x="7498080" y="1554480"/>
            <a:ext cx="4142232" cy="1874520"/>
          </a:xfrm>
          <a:prstGeom prst="roundRect">
            <a:avLst>
              <a:gd name="adj" fmla="val 3902"/>
            </a:avLst>
          </a:prstGeom>
          <a:solidFill>
            <a:srgbClr val="F3F6FA"/>
          </a:solidFill>
          <a:ln/>
        </p:spPr>
      </p:sp>
      <p:sp>
        <p:nvSpPr>
          <p:cNvPr id="11" name="Text 8"/>
          <p:cNvSpPr txBox="1"/>
          <p:nvPr/>
        </p:nvSpPr>
        <p:spPr>
          <a:xfrm>
            <a:off x="7680960" y="1645920"/>
            <a:ext cx="3794760" cy="1737360"/>
          </a:xfrm>
          <a:prstGeom prst="rect">
            <a:avLst/>
          </a:prstGeom>
          <a:noFill/>
          <a:ln/>
        </p:spPr>
        <p:txBody>
          <a:bodyPr wrap="square" lIns="0" tIns="0" rIns="0" bIns="0" rtlCol="0" anchor="t"/>
          <a:lstStyle/>
          <a:p>
            <a:pPr indent="0" marL="0">
              <a:buNone/>
            </a:pPr>
            <a:r>
              <a:rPr lang="en-US" sz="1100" b="1" spc="100" kern="0" dirty="0">
                <a:solidFill>
                  <a:srgbClr val="0E7FA0"/>
                </a:solidFill>
              </a:rPr>
              <a:t>BENCHMARKS (3 WAYS)</a:t>
            </a:r>
            <a:endParaRPr lang="en-US" sz="1200" dirty="0"/>
          </a:p>
          <a:p>
            <a:pPr indent="0" marL="0">
              <a:spcBef>
                <a:spcPts val="500"/>
              </a:spcBef>
              <a:buNone/>
            </a:pPr>
            <a:r>
              <a:rPr lang="en-US" sz="1200" b="1" dirty="0">
                <a:solidFill>
                  <a:srgbClr val="141C52"/>
                </a:solidFill>
              </a:rPr>
              <a:t>Existing product: </a:t>
            </a:r>
            <a:pPr indent="0" marL="0">
              <a:buNone/>
            </a:pPr>
            <a:r>
              <a:rPr lang="en-US" sz="1200" dirty="0">
                <a:solidFill>
                  <a:srgbClr val="1F2937"/>
                </a:solidFill>
              </a:rPr>
              <a:t>Naturale Anti Hair Fall 320 ml, Tk 265</a:t>
            </a:r>
            <a:endParaRPr lang="en-US" sz="1200" dirty="0"/>
          </a:p>
          <a:p>
            <a:pPr indent="0" marL="0">
              <a:spcBef>
                <a:spcPts val="500"/>
              </a:spcBef>
              <a:buNone/>
            </a:pPr>
            <a:r>
              <a:rPr lang="en-US" sz="1200" b="1" dirty="0">
                <a:solidFill>
                  <a:srgbClr val="141C52"/>
                </a:solidFill>
              </a:rPr>
              <a:t>Similar channel: </a:t>
            </a:r>
            <a:pPr indent="0" marL="0">
              <a:buNone/>
            </a:pPr>
            <a:r>
              <a:rPr lang="en-US" sz="1200" dirty="0">
                <a:solidFill>
                  <a:srgbClr val="1F2937"/>
                </a:solidFill>
              </a:rPr>
              <a:t>the Naturale range in GT, MT and e-commerce</a:t>
            </a:r>
            <a:endParaRPr lang="en-US" sz="1200" dirty="0"/>
          </a:p>
          <a:p>
            <a:pPr indent="0" marL="0">
              <a:spcBef>
                <a:spcPts val="500"/>
              </a:spcBef>
              <a:buNone/>
            </a:pPr>
            <a:r>
              <a:rPr lang="en-US" sz="1200" b="1" dirty="0">
                <a:solidFill>
                  <a:srgbClr val="141C52"/>
                </a:solidFill>
              </a:rPr>
              <a:t>Similar price point: </a:t>
            </a:r>
            <a:pPr indent="0" marL="0">
              <a:buNone/>
            </a:pPr>
            <a:r>
              <a:rPr lang="en-US" sz="1200" dirty="0">
                <a:solidFill>
                  <a:srgbClr val="1F2937"/>
                </a:solidFill>
              </a:rPr>
              <a:t>Naturale Hijab Fresh 340 ml Tk 390; Sunsilk 340 ml Tk 350</a:t>
            </a:r>
            <a:endParaRPr lang="en-US" sz="1200" dirty="0"/>
          </a:p>
        </p:txBody>
      </p:sp>
      <p:sp>
        <p:nvSpPr>
          <p:cNvPr id="12" name="Shape 9"/>
          <p:cNvSpPr/>
          <p:nvPr/>
        </p:nvSpPr>
        <p:spPr>
          <a:xfrm>
            <a:off x="7498080" y="3538728"/>
            <a:ext cx="4142232" cy="1600200"/>
          </a:xfrm>
          <a:prstGeom prst="roundRect">
            <a:avLst>
              <a:gd name="adj" fmla="val 4571"/>
            </a:avLst>
          </a:prstGeom>
          <a:solidFill>
            <a:srgbClr val="F3F6FA"/>
          </a:solidFill>
          <a:ln/>
        </p:spPr>
      </p:sp>
      <p:sp>
        <p:nvSpPr>
          <p:cNvPr id="26" name="Text 10"/>
          <p:cNvSpPr txBox="1"/>
          <p:nvPr/>
        </p:nvSpPr>
        <p:spPr>
          <a:xfrm>
            <a:off x="7680960" y="3630168"/>
            <a:ext cx="3794760" cy="1463040"/>
          </a:xfrm>
          <a:prstGeom prst="rect">
            <a:avLst/>
          </a:prstGeom>
          <a:noFill/>
          <a:ln/>
        </p:spPr>
        <p:txBody>
          <a:bodyPr wrap="square" lIns="0" tIns="0" rIns="0" bIns="0" rtlCol="0" anchor="t"/>
          <a:lstStyle/>
          <a:p>
            <a:pPr indent="0" marL="0">
              <a:buNone/>
            </a:pPr>
            <a:r>
              <a:rPr lang="en-US" sz="1100" b="1" spc="100" kern="0" dirty="0">
                <a:solidFill>
                  <a:srgbClr val="0E7FA0"/>
                </a:solidFill>
              </a:rPr>
              <a:t>BOOSTERS</a:t>
            </a:r>
            <a:endParaRPr lang="en-US" sz="1200" dirty="0"/>
          </a:p>
          <a:p>
            <a:pPr indent="0" marL="0">
              <a:spcBef>
                <a:spcPts val="500"/>
              </a:spcBef>
              <a:buNone/>
            </a:pPr>
            <a:r>
              <a:rPr lang="en-US" sz="1200" b="1" dirty="0">
                <a:solidFill>
                  <a:srgbClr val="141C52"/>
                </a:solidFill>
              </a:rPr>
              <a:t>TLO: </a:t>
            </a:r>
            <a:pPr indent="0" marL="0">
              <a:buNone/>
            </a:pPr>
            <a:r>
              <a:rPr lang="en-US" sz="1200" dirty="0">
                <a:solidFill>
                  <a:srgbClr val="1F2937"/>
                </a:solidFill>
              </a:rPr>
              <a:t>12-sachet display strips at launch</a:t>
            </a:r>
            <a:endParaRPr lang="en-US" sz="1200" dirty="0"/>
          </a:p>
          <a:p>
            <a:pPr indent="0" marL="0">
              <a:spcBef>
                <a:spcPts val="500"/>
              </a:spcBef>
              <a:buNone/>
            </a:pPr>
            <a:r>
              <a:rPr lang="en-US" sz="1200" b="1" dirty="0">
                <a:solidFill>
                  <a:srgbClr val="141C52"/>
                </a:solidFill>
              </a:rPr>
              <a:t>QPDS: </a:t>
            </a:r>
            <a:pPr indent="0" marL="0">
              <a:buNone/>
            </a:pPr>
            <a:r>
              <a:rPr lang="en-US" sz="1200" dirty="0">
                <a:solidFill>
                  <a:srgbClr val="1F2937"/>
                </a:solidFill>
              </a:rPr>
              <a:t>shelf talker and QR at UCS and MT</a:t>
            </a:r>
            <a:endParaRPr lang="en-US" sz="1200" dirty="0"/>
          </a:p>
          <a:p>
            <a:pPr indent="0" marL="0">
              <a:spcBef>
                <a:spcPts val="500"/>
              </a:spcBef>
              <a:buNone/>
            </a:pPr>
            <a:r>
              <a:rPr lang="en-US" sz="1200" b="1" dirty="0">
                <a:solidFill>
                  <a:srgbClr val="141C52"/>
                </a:solidFill>
              </a:rPr>
              <a:t>TO/CO: </a:t>
            </a:r>
            <a:pPr indent="0" marL="0">
              <a:buNone/>
            </a:pPr>
            <a:r>
              <a:rPr lang="en-US" sz="1200" dirty="0">
                <a:solidFill>
                  <a:srgbClr val="1F2937"/>
                </a:solidFill>
              </a:rPr>
              <a:t>e-commerce bundles and brand days</a:t>
            </a:r>
            <a:endParaRPr lang="en-US" sz="1200" dirty="0"/>
          </a:p>
          <a:p>
            <a:pPr indent="0" marL="0">
              <a:spcBef>
                <a:spcPts val="500"/>
              </a:spcBef>
              <a:buNone/>
            </a:pPr>
            <a:r>
              <a:rPr lang="en-US" sz="1200" b="1" dirty="0">
                <a:solidFill>
                  <a:srgbClr val="141C52"/>
                </a:solidFill>
              </a:rPr>
              <a:t>Incentive: </a:t>
            </a:r>
            <a:pPr indent="0" marL="0">
              <a:buNone/>
            </a:pPr>
            <a:r>
              <a:rPr lang="en-US" sz="1200" dirty="0">
                <a:solidFill>
                  <a:srgbClr val="1F2937"/>
                </a:solidFill>
              </a:rPr>
              <a:t>“Dhamaka” bonus on 340 ml drops</a:t>
            </a:r>
            <a:endParaRPr lang="en-US" sz="1200" dirty="0"/>
          </a:p>
        </p:txBody>
      </p:sp>
      <p:sp>
        <p:nvSpPr>
          <p:cNvPr id="14" name="Shape 11"/>
          <p:cNvSpPr/>
          <p:nvPr/>
        </p:nvSpPr>
        <p:spPr>
          <a:xfrm>
            <a:off x="7498080" y="5248656"/>
            <a:ext cx="4142232" cy="548640"/>
          </a:xfrm>
          <a:prstGeom prst="roundRect">
            <a:avLst>
              <a:gd name="adj" fmla="val 13333"/>
            </a:avLst>
          </a:prstGeom>
          <a:solidFill>
            <a:srgbClr val="FFF4E0"/>
          </a:solidFill>
          <a:ln/>
        </p:spPr>
      </p:sp>
      <p:sp>
        <p:nvSpPr>
          <p:cNvPr id="15" name="Text 12"/>
          <p:cNvSpPr txBox="1"/>
          <p:nvPr/>
        </p:nvSpPr>
        <p:spPr>
          <a:xfrm>
            <a:off x="7680960" y="5248656"/>
            <a:ext cx="3840480" cy="548640"/>
          </a:xfrm>
          <a:prstGeom prst="rect">
            <a:avLst/>
          </a:prstGeom>
          <a:noFill/>
          <a:ln/>
        </p:spPr>
        <p:txBody>
          <a:bodyPr wrap="square" lIns="0" tIns="0" rIns="0" bIns="0" rtlCol="0" anchor="ctr"/>
          <a:lstStyle/>
          <a:p>
            <a:pPr indent="0" marL="0">
              <a:buNone/>
            </a:pPr>
            <a:r>
              <a:rPr lang="en-US" sz="1200" b="1" dirty="0">
                <a:solidFill>
                  <a:srgbClr val="141C52"/>
                </a:solidFill>
              </a:rPr>
              <a:t>Margins: </a:t>
            </a:r>
            <a:pPr indent="0" marL="0">
              <a:buNone/>
            </a:pPr>
            <a:r>
              <a:rPr lang="en-US" sz="1200" dirty="0">
                <a:solidFill>
                  <a:srgbClr val="1F2937"/>
                </a:solidFill>
              </a:rPr>
              <a:t>retailer + distributor 22% on bottles, 25% on sachets</a:t>
            </a:r>
            <a:endParaRPr lang="en-US" sz="1200" dirty="0"/>
          </a:p>
        </p:txBody>
      </p:sp>
      <p:sp>
        <p:nvSpPr>
          <p:cNvPr id="16" name="Text 13"/>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Outlet universe and channel types: Marico Sales masterclass (294k outlets in the demonstration). Units per outlet are planning assumptions to be validated in the pilot. Prices: Chaldal,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SUPPLY CHAIN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Supply chain: Make and Modify on existing Naturale lines; Buy only the strip and the chelator</a:t>
            </a:r>
            <a:endParaRPr lang="en-US" sz="2600" dirty="0"/>
          </a:p>
        </p:txBody>
      </p:sp>
      <p:sp>
        <p:nvSpPr>
          <p:cNvPr id="4" name="Shape 2"/>
          <p:cNvSpPr/>
          <p:nvPr/>
        </p:nvSpPr>
        <p:spPr>
          <a:xfrm>
            <a:off x="548640" y="1554480"/>
            <a:ext cx="2615184" cy="1463040"/>
          </a:xfrm>
          <a:prstGeom prst="roundRect">
            <a:avLst>
              <a:gd name="adj" fmla="val 5000"/>
            </a:avLst>
          </a:prstGeom>
          <a:solidFill>
            <a:srgbClr val="F3F6FA"/>
          </a:solidFill>
          <a:ln/>
        </p:spPr>
      </p:sp>
      <p:sp>
        <p:nvSpPr>
          <p:cNvPr id="5" name="Shape 3"/>
          <p:cNvSpPr/>
          <p:nvPr/>
        </p:nvSpPr>
        <p:spPr>
          <a:xfrm>
            <a:off x="685800" y="1664208"/>
            <a:ext cx="914400" cy="274320"/>
          </a:xfrm>
          <a:prstGeom prst="roundRect">
            <a:avLst>
              <a:gd name="adj" fmla="val 26667"/>
            </a:avLst>
          </a:prstGeom>
          <a:solidFill>
            <a:srgbClr val="141C52"/>
          </a:solidFill>
          <a:ln/>
        </p:spPr>
      </p:sp>
      <p:sp>
        <p:nvSpPr>
          <p:cNvPr id="6" name="Text 4"/>
          <p:cNvSpPr txBox="1"/>
          <p:nvPr/>
        </p:nvSpPr>
        <p:spPr>
          <a:xfrm>
            <a:off x="685800"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PLAN</a:t>
            </a:r>
            <a:endParaRPr lang="en-US" sz="1100" dirty="0"/>
          </a:p>
        </p:txBody>
      </p:sp>
      <p:sp>
        <p:nvSpPr>
          <p:cNvPr id="7" name="Text 5"/>
          <p:cNvSpPr txBox="1"/>
          <p:nvPr/>
        </p:nvSpPr>
        <p:spPr>
          <a:xfrm>
            <a:off x="685800"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Demand set from pilot rate of sale; make-to-stock with 30 days’ safety stock of strips and caps</a:t>
            </a:r>
            <a:endParaRPr lang="en-US" sz="1100" dirty="0"/>
          </a:p>
        </p:txBody>
      </p:sp>
      <p:sp>
        <p:nvSpPr>
          <p:cNvPr id="8" name="Shape 6"/>
          <p:cNvSpPr/>
          <p:nvPr/>
        </p:nvSpPr>
        <p:spPr>
          <a:xfrm>
            <a:off x="3191256" y="2176272"/>
            <a:ext cx="155448" cy="219456"/>
          </a:xfrm>
          <a:prstGeom prst="rightArrow">
            <a:avLst/>
          </a:prstGeom>
          <a:solidFill>
            <a:srgbClr val="A7B0BE"/>
          </a:solidFill>
          <a:ln/>
        </p:spPr>
      </p:sp>
      <p:sp>
        <p:nvSpPr>
          <p:cNvPr id="9" name="Shape 7"/>
          <p:cNvSpPr/>
          <p:nvPr/>
        </p:nvSpPr>
        <p:spPr>
          <a:xfrm>
            <a:off x="3374136" y="1554480"/>
            <a:ext cx="2615184" cy="1463040"/>
          </a:xfrm>
          <a:prstGeom prst="roundRect">
            <a:avLst>
              <a:gd name="adj" fmla="val 5000"/>
            </a:avLst>
          </a:prstGeom>
          <a:solidFill>
            <a:srgbClr val="F3F6FA"/>
          </a:solidFill>
          <a:ln/>
        </p:spPr>
      </p:sp>
      <p:sp>
        <p:nvSpPr>
          <p:cNvPr id="10" name="Shape 8"/>
          <p:cNvSpPr/>
          <p:nvPr/>
        </p:nvSpPr>
        <p:spPr>
          <a:xfrm>
            <a:off x="3511296" y="1664208"/>
            <a:ext cx="914400" cy="274320"/>
          </a:xfrm>
          <a:prstGeom prst="roundRect">
            <a:avLst>
              <a:gd name="adj" fmla="val 26667"/>
            </a:avLst>
          </a:prstGeom>
          <a:solidFill>
            <a:srgbClr val="0B6FB8"/>
          </a:solidFill>
          <a:ln/>
        </p:spPr>
      </p:sp>
      <p:sp>
        <p:nvSpPr>
          <p:cNvPr id="11" name="Text 9"/>
          <p:cNvSpPr txBox="1"/>
          <p:nvPr/>
        </p:nvSpPr>
        <p:spPr>
          <a:xfrm>
            <a:off x="3511296"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SOURCE</a:t>
            </a:r>
            <a:endParaRPr lang="en-US" sz="1100" dirty="0"/>
          </a:p>
        </p:txBody>
      </p:sp>
      <p:sp>
        <p:nvSpPr>
          <p:cNvPr id="12" name="Text 10"/>
          <p:cNvSpPr txBox="1"/>
          <p:nvPr/>
        </p:nvSpPr>
        <p:spPr>
          <a:xfrm>
            <a:off x="3511296"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Local: surfactants, bottles, caps, labels. Imported: GLDA (via local agents of Nouryon or BASF) and foil-sealed strips from two suppliers</a:t>
            </a:r>
            <a:endParaRPr lang="en-US" sz="1100" dirty="0"/>
          </a:p>
        </p:txBody>
      </p:sp>
      <p:sp>
        <p:nvSpPr>
          <p:cNvPr id="13" name="Shape 11"/>
          <p:cNvSpPr/>
          <p:nvPr/>
        </p:nvSpPr>
        <p:spPr>
          <a:xfrm>
            <a:off x="6016752" y="2176272"/>
            <a:ext cx="155448" cy="219456"/>
          </a:xfrm>
          <a:prstGeom prst="rightArrow">
            <a:avLst/>
          </a:prstGeom>
          <a:solidFill>
            <a:srgbClr val="A7B0BE"/>
          </a:solidFill>
          <a:ln/>
        </p:spPr>
      </p:sp>
      <p:sp>
        <p:nvSpPr>
          <p:cNvPr id="14" name="Shape 12"/>
          <p:cNvSpPr/>
          <p:nvPr/>
        </p:nvSpPr>
        <p:spPr>
          <a:xfrm>
            <a:off x="6199632" y="1554480"/>
            <a:ext cx="2615184" cy="1463040"/>
          </a:xfrm>
          <a:prstGeom prst="roundRect">
            <a:avLst>
              <a:gd name="adj" fmla="val 5000"/>
            </a:avLst>
          </a:prstGeom>
          <a:solidFill>
            <a:srgbClr val="F3F6FA"/>
          </a:solidFill>
          <a:ln/>
        </p:spPr>
      </p:sp>
      <p:sp>
        <p:nvSpPr>
          <p:cNvPr id="15" name="Shape 13"/>
          <p:cNvSpPr/>
          <p:nvPr/>
        </p:nvSpPr>
        <p:spPr>
          <a:xfrm>
            <a:off x="6336792" y="1664208"/>
            <a:ext cx="914400" cy="274320"/>
          </a:xfrm>
          <a:prstGeom prst="roundRect">
            <a:avLst>
              <a:gd name="adj" fmla="val 26667"/>
            </a:avLst>
          </a:prstGeom>
          <a:solidFill>
            <a:srgbClr val="12A5C4"/>
          </a:solidFill>
          <a:ln/>
        </p:spPr>
      </p:sp>
      <p:sp>
        <p:nvSpPr>
          <p:cNvPr id="16" name="Text 14"/>
          <p:cNvSpPr txBox="1"/>
          <p:nvPr/>
        </p:nvSpPr>
        <p:spPr>
          <a:xfrm>
            <a:off x="6336792"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MAKE</a:t>
            </a:r>
            <a:endParaRPr lang="en-US" sz="1100" dirty="0"/>
          </a:p>
        </p:txBody>
      </p:sp>
      <p:sp>
        <p:nvSpPr>
          <p:cNvPr id="17" name="Text 15"/>
          <p:cNvSpPr txBox="1"/>
          <p:nvPr/>
        </p:nvSpPr>
        <p:spPr>
          <a:xfrm>
            <a:off x="6336792"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Mouchak: batch mixing (+45% capacity in FY26), bottle and sachet filling (two new sachet machines), strip insertion (manual in pilot, semi-automatic nationally)</a:t>
            </a:r>
            <a:endParaRPr lang="en-US" sz="1100" dirty="0"/>
          </a:p>
        </p:txBody>
      </p:sp>
      <p:sp>
        <p:nvSpPr>
          <p:cNvPr id="18" name="Shape 16"/>
          <p:cNvSpPr/>
          <p:nvPr/>
        </p:nvSpPr>
        <p:spPr>
          <a:xfrm>
            <a:off x="8842248" y="2176272"/>
            <a:ext cx="155448" cy="219456"/>
          </a:xfrm>
          <a:prstGeom prst="rightArrow">
            <a:avLst/>
          </a:prstGeom>
          <a:solidFill>
            <a:srgbClr val="A7B0BE"/>
          </a:solidFill>
          <a:ln/>
        </p:spPr>
      </p:sp>
      <p:sp>
        <p:nvSpPr>
          <p:cNvPr id="19" name="Shape 17"/>
          <p:cNvSpPr/>
          <p:nvPr/>
        </p:nvSpPr>
        <p:spPr>
          <a:xfrm>
            <a:off x="9025128" y="1554480"/>
            <a:ext cx="2615184" cy="1463040"/>
          </a:xfrm>
          <a:prstGeom prst="roundRect">
            <a:avLst>
              <a:gd name="adj" fmla="val 5000"/>
            </a:avLst>
          </a:prstGeom>
          <a:solidFill>
            <a:srgbClr val="F3F6FA"/>
          </a:solidFill>
          <a:ln/>
        </p:spPr>
      </p:sp>
      <p:sp>
        <p:nvSpPr>
          <p:cNvPr id="20" name="Shape 18"/>
          <p:cNvSpPr/>
          <p:nvPr/>
        </p:nvSpPr>
        <p:spPr>
          <a:xfrm>
            <a:off x="9162288" y="1664208"/>
            <a:ext cx="914400" cy="274320"/>
          </a:xfrm>
          <a:prstGeom prst="roundRect">
            <a:avLst>
              <a:gd name="adj" fmla="val 26667"/>
            </a:avLst>
          </a:prstGeom>
          <a:solidFill>
            <a:srgbClr val="3E9B3A"/>
          </a:solidFill>
          <a:ln/>
        </p:spPr>
      </p:sp>
      <p:sp>
        <p:nvSpPr>
          <p:cNvPr id="21" name="Text 19"/>
          <p:cNvSpPr txBox="1"/>
          <p:nvPr/>
        </p:nvSpPr>
        <p:spPr>
          <a:xfrm>
            <a:off x="9162288"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MOVE</a:t>
            </a:r>
            <a:endParaRPr lang="en-US" sz="1100" dirty="0"/>
          </a:p>
        </p:txBody>
      </p:sp>
      <p:sp>
        <p:nvSpPr>
          <p:cNvPr id="22" name="Text 20"/>
          <p:cNvSpPr txBox="1"/>
          <p:nvPr/>
        </p:nvSpPr>
        <p:spPr>
          <a:xfrm>
            <a:off x="9162288"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Existing Naturale distributors to GT, MT and e-commerce. QC release: pH 5.0–5.5, viscosity, microbiology, strip CoA and seal check</a:t>
            </a:r>
            <a:endParaRPr lang="en-US" sz="1100" dirty="0"/>
          </a:p>
        </p:txBody>
      </p:sp>
      <p:sp>
        <p:nvSpPr>
          <p:cNvPr id="23" name="Shape 21"/>
          <p:cNvSpPr/>
          <p:nvPr/>
        </p:nvSpPr>
        <p:spPr>
          <a:xfrm>
            <a:off x="548640" y="3154680"/>
            <a:ext cx="3474720" cy="2697480"/>
          </a:xfrm>
          <a:prstGeom prst="roundRect">
            <a:avLst>
              <a:gd name="adj" fmla="val 2712"/>
            </a:avLst>
          </a:prstGeom>
          <a:solidFill>
            <a:srgbClr val="F3F6FA"/>
          </a:solidFill>
          <a:ln/>
        </p:spPr>
      </p:sp>
      <p:sp>
        <p:nvSpPr>
          <p:cNvPr id="24" name="Text 22"/>
          <p:cNvSpPr txBox="1"/>
          <p:nvPr/>
        </p:nvSpPr>
        <p:spPr>
          <a:xfrm>
            <a:off x="731520" y="3246120"/>
            <a:ext cx="3108960" cy="274320"/>
          </a:xfrm>
          <a:prstGeom prst="rect">
            <a:avLst/>
          </a:prstGeom>
          <a:noFill/>
          <a:ln/>
        </p:spPr>
        <p:txBody>
          <a:bodyPr wrap="square" lIns="0" tIns="0" rIns="0" bIns="0" rtlCol="0" anchor="t"/>
          <a:lstStyle/>
          <a:p>
            <a:pPr indent="0" marL="0">
              <a:buNone/>
            </a:pPr>
            <a:r>
              <a:rPr lang="en-US" sz="1100" b="1" spc="100" kern="0" dirty="0">
                <a:solidFill>
                  <a:srgbClr val="0E7FA0"/>
                </a:solidFill>
              </a:rPr>
              <a:t>MAKE · MODIFY · BUY</a:t>
            </a:r>
            <a:endParaRPr lang="en-US" sz="1100" dirty="0"/>
          </a:p>
        </p:txBody>
      </p:sp>
      <p:sp>
        <p:nvSpPr>
          <p:cNvPr id="25" name="Shape 23"/>
          <p:cNvSpPr/>
          <p:nvPr/>
        </p:nvSpPr>
        <p:spPr>
          <a:xfrm>
            <a:off x="731520" y="3611880"/>
            <a:ext cx="868680" cy="292608"/>
          </a:xfrm>
          <a:prstGeom prst="roundRect">
            <a:avLst>
              <a:gd name="adj" fmla="val 25000"/>
            </a:avLst>
          </a:prstGeom>
          <a:solidFill>
            <a:srgbClr val="141C52"/>
          </a:solidFill>
          <a:ln/>
        </p:spPr>
      </p:sp>
      <p:sp>
        <p:nvSpPr>
          <p:cNvPr id="26" name="Text 24"/>
          <p:cNvSpPr txBox="1"/>
          <p:nvPr/>
        </p:nvSpPr>
        <p:spPr>
          <a:xfrm>
            <a:off x="731520" y="361188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MAKE</a:t>
            </a:r>
            <a:endParaRPr lang="en-US" sz="1000" dirty="0"/>
          </a:p>
        </p:txBody>
      </p:sp>
      <p:sp>
        <p:nvSpPr>
          <p:cNvPr id="27" name="Text 25"/>
          <p:cNvSpPr txBox="1"/>
          <p:nvPr/>
        </p:nvSpPr>
        <p:spPr>
          <a:xfrm>
            <a:off x="1691640" y="3566160"/>
            <a:ext cx="2240280" cy="658368"/>
          </a:xfrm>
          <a:prstGeom prst="rect">
            <a:avLst/>
          </a:prstGeom>
          <a:noFill/>
          <a:ln/>
        </p:spPr>
        <p:txBody>
          <a:bodyPr wrap="square" lIns="0" tIns="0" rIns="0" bIns="0" rtlCol="0" anchor="t"/>
          <a:lstStyle/>
          <a:p>
            <a:pPr indent="0" marL="0">
              <a:buNone/>
            </a:pPr>
            <a:r>
              <a:rPr lang="en-US" sz="1100" dirty="0">
                <a:solidFill>
                  <a:srgbClr val="1F2937"/>
                </a:solidFill>
              </a:rPr>
              <a:t>Bulk shampoo; bottle and sachet filling</a:t>
            </a:r>
            <a:endParaRPr lang="en-US" sz="1100" dirty="0"/>
          </a:p>
        </p:txBody>
      </p:sp>
      <p:sp>
        <p:nvSpPr>
          <p:cNvPr id="28" name="Shape 26"/>
          <p:cNvSpPr/>
          <p:nvPr/>
        </p:nvSpPr>
        <p:spPr>
          <a:xfrm>
            <a:off x="731520" y="4343400"/>
            <a:ext cx="868680" cy="292608"/>
          </a:xfrm>
          <a:prstGeom prst="roundRect">
            <a:avLst>
              <a:gd name="adj" fmla="val 25000"/>
            </a:avLst>
          </a:prstGeom>
          <a:solidFill>
            <a:srgbClr val="12A5C4"/>
          </a:solidFill>
          <a:ln/>
        </p:spPr>
      </p:sp>
      <p:sp>
        <p:nvSpPr>
          <p:cNvPr id="29" name="Text 27"/>
          <p:cNvSpPr txBox="1"/>
          <p:nvPr/>
        </p:nvSpPr>
        <p:spPr>
          <a:xfrm>
            <a:off x="731520" y="434340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MODIFY</a:t>
            </a:r>
            <a:endParaRPr lang="en-US" sz="1000" dirty="0"/>
          </a:p>
        </p:txBody>
      </p:sp>
      <p:sp>
        <p:nvSpPr>
          <p:cNvPr id="30" name="Text 28"/>
          <p:cNvSpPr txBox="1"/>
          <p:nvPr/>
        </p:nvSpPr>
        <p:spPr>
          <a:xfrm>
            <a:off x="1691640" y="4297680"/>
            <a:ext cx="2240280" cy="658368"/>
          </a:xfrm>
          <a:prstGeom prst="rect">
            <a:avLst/>
          </a:prstGeom>
          <a:noFill/>
          <a:ln/>
        </p:spPr>
        <p:txBody>
          <a:bodyPr wrap="square" lIns="0" tIns="0" rIns="0" bIns="0" rtlCol="0" anchor="t"/>
          <a:lstStyle/>
          <a:p>
            <a:pPr indent="0" marL="0">
              <a:buNone/>
            </a:pPr>
            <a:r>
              <a:rPr lang="en-US" sz="1100" dirty="0">
                <a:solidFill>
                  <a:srgbClr val="1F2937"/>
                </a:solidFill>
              </a:rPr>
              <a:t>Naturale base + GLDA; 340 ml flip-top cap with a strip pocket (new mould)</a:t>
            </a:r>
            <a:endParaRPr lang="en-US" sz="1100" dirty="0"/>
          </a:p>
        </p:txBody>
      </p:sp>
      <p:sp>
        <p:nvSpPr>
          <p:cNvPr id="31" name="Shape 29"/>
          <p:cNvSpPr/>
          <p:nvPr/>
        </p:nvSpPr>
        <p:spPr>
          <a:xfrm>
            <a:off x="731520" y="5074920"/>
            <a:ext cx="868680" cy="292608"/>
          </a:xfrm>
          <a:prstGeom prst="roundRect">
            <a:avLst>
              <a:gd name="adj" fmla="val 25000"/>
            </a:avLst>
          </a:prstGeom>
          <a:solidFill>
            <a:srgbClr val="F5A31A"/>
          </a:solidFill>
          <a:ln/>
        </p:spPr>
      </p:sp>
      <p:sp>
        <p:nvSpPr>
          <p:cNvPr id="32" name="Text 30"/>
          <p:cNvSpPr txBox="1"/>
          <p:nvPr/>
        </p:nvSpPr>
        <p:spPr>
          <a:xfrm>
            <a:off x="731520" y="5074920"/>
            <a:ext cx="868680" cy="292608"/>
          </a:xfrm>
          <a:prstGeom prst="rect">
            <a:avLst/>
          </a:prstGeom>
          <a:noFill/>
          <a:ln/>
        </p:spPr>
        <p:txBody>
          <a:bodyPr wrap="square" lIns="0" tIns="0" rIns="0" bIns="0" rtlCol="0" anchor="ctr"/>
          <a:lstStyle/>
          <a:p>
            <a:pPr algn="ctr" indent="0" marL="0">
              <a:buNone/>
            </a:pPr>
            <a:r>
              <a:rPr lang="en-US" sz="1000" b="1" dirty="0">
                <a:solidFill>
                  <a:srgbClr val="141C52"/>
                </a:solidFill>
              </a:rPr>
              <a:t>BUY</a:t>
            </a:r>
            <a:endParaRPr lang="en-US" sz="1000" dirty="0"/>
          </a:p>
        </p:txBody>
      </p:sp>
      <p:sp>
        <p:nvSpPr>
          <p:cNvPr id="33" name="Text 31"/>
          <p:cNvSpPr txBox="1"/>
          <p:nvPr/>
        </p:nvSpPr>
        <p:spPr>
          <a:xfrm>
            <a:off x="1691640" y="5029200"/>
            <a:ext cx="2240280" cy="658368"/>
          </a:xfrm>
          <a:prstGeom prst="rect">
            <a:avLst/>
          </a:prstGeom>
          <a:noFill/>
          <a:ln/>
        </p:spPr>
        <p:txBody>
          <a:bodyPr wrap="square" lIns="0" tIns="0" rIns="0" bIns="0" rtlCol="0" anchor="t"/>
          <a:lstStyle/>
          <a:p>
            <a:pPr indent="0" marL="0">
              <a:buNone/>
            </a:pPr>
            <a:r>
              <a:rPr lang="en-US" sz="1100" dirty="0">
                <a:solidFill>
                  <a:srgbClr val="1F2937"/>
                </a:solidFill>
              </a:rPr>
              <a:t>Hardness strips with foil sleeve; GLDA chelator</a:t>
            </a:r>
            <a:endParaRPr lang="en-US" sz="1100" dirty="0"/>
          </a:p>
        </p:txBody>
      </p:sp>
      <p:sp>
        <p:nvSpPr>
          <p:cNvPr id="34" name="Shape 32"/>
          <p:cNvSpPr/>
          <p:nvPr/>
        </p:nvSpPr>
        <p:spPr>
          <a:xfrm>
            <a:off x="4206240" y="3154680"/>
            <a:ext cx="3657600" cy="2697480"/>
          </a:xfrm>
          <a:prstGeom prst="roundRect">
            <a:avLst>
              <a:gd name="adj" fmla="val 2712"/>
            </a:avLst>
          </a:prstGeom>
          <a:solidFill>
            <a:srgbClr val="F3F6FA"/>
          </a:solidFill>
          <a:ln/>
        </p:spPr>
      </p:sp>
      <p:sp>
        <p:nvSpPr>
          <p:cNvPr id="35" name="Text 33"/>
          <p:cNvSpPr txBox="1"/>
          <p:nvPr/>
        </p:nvSpPr>
        <p:spPr>
          <a:xfrm>
            <a:off x="4389120" y="3246120"/>
            <a:ext cx="3383280" cy="274320"/>
          </a:xfrm>
          <a:prstGeom prst="rect">
            <a:avLst/>
          </a:prstGeom>
          <a:noFill/>
          <a:ln/>
        </p:spPr>
        <p:txBody>
          <a:bodyPr wrap="square" lIns="0" tIns="0" rIns="0" bIns="0" rtlCol="0" anchor="t"/>
          <a:lstStyle/>
          <a:p>
            <a:pPr indent="0" marL="0">
              <a:buNone/>
            </a:pPr>
            <a:r>
              <a:rPr lang="en-US" sz="1000" b="1" spc="100" kern="0" dirty="0">
                <a:solidFill>
                  <a:srgbClr val="0E7FA0"/>
                </a:solidFill>
              </a:rPr>
              <a:t>FACTORY READINESS</a:t>
            </a:r>
            <a:endParaRPr lang="en-US" sz="1000" dirty="0"/>
          </a:p>
        </p:txBody>
      </p:sp>
      <p:sp>
        <p:nvSpPr>
          <p:cNvPr id="36" name="Shape 34"/>
          <p:cNvSpPr/>
          <p:nvPr/>
        </p:nvSpPr>
        <p:spPr>
          <a:xfrm>
            <a:off x="4389120" y="3630168"/>
            <a:ext cx="201168" cy="201168"/>
          </a:xfrm>
          <a:prstGeom prst="ellipse">
            <a:avLst/>
          </a:prstGeom>
          <a:solidFill>
            <a:srgbClr val="3E9B3A"/>
          </a:solidFill>
          <a:ln/>
        </p:spPr>
      </p:sp>
      <p:sp>
        <p:nvSpPr>
          <p:cNvPr id="37" name="Text 35"/>
          <p:cNvSpPr txBox="1"/>
          <p:nvPr/>
        </p:nvSpPr>
        <p:spPr>
          <a:xfrm>
            <a:off x="4389120" y="36301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38" name="Text 36"/>
          <p:cNvSpPr txBox="1"/>
          <p:nvPr/>
        </p:nvSpPr>
        <p:spPr>
          <a:xfrm>
            <a:off x="4681728" y="35844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Feasibility  </a:t>
            </a:r>
            <a:pPr indent="0" marL="0">
              <a:buNone/>
            </a:pPr>
            <a:r>
              <a:rPr lang="en-US" sz="1100" dirty="0">
                <a:solidFill>
                  <a:srgbClr val="1F2937"/>
                </a:solidFill>
              </a:rPr>
              <a:t>Shampoo variant on an existing line</a:t>
            </a:r>
            <a:endParaRPr lang="en-US" sz="1100" dirty="0"/>
          </a:p>
        </p:txBody>
      </p:sp>
      <p:sp>
        <p:nvSpPr>
          <p:cNvPr id="39" name="Shape 37"/>
          <p:cNvSpPr/>
          <p:nvPr/>
        </p:nvSpPr>
        <p:spPr>
          <a:xfrm>
            <a:off x="4389120" y="3950208"/>
            <a:ext cx="201168" cy="201168"/>
          </a:xfrm>
          <a:prstGeom prst="ellipse">
            <a:avLst/>
          </a:prstGeom>
          <a:solidFill>
            <a:srgbClr val="3E9B3A"/>
          </a:solidFill>
          <a:ln/>
        </p:spPr>
      </p:sp>
      <p:sp>
        <p:nvSpPr>
          <p:cNvPr id="40" name="Text 38"/>
          <p:cNvSpPr txBox="1"/>
          <p:nvPr/>
        </p:nvSpPr>
        <p:spPr>
          <a:xfrm>
            <a:off x="4389120" y="39502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1" name="Text 39"/>
          <p:cNvSpPr txBox="1"/>
          <p:nvPr/>
        </p:nvSpPr>
        <p:spPr>
          <a:xfrm>
            <a:off x="4681728" y="39044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Affordability  </a:t>
            </a:r>
            <a:pPr indent="0" marL="0">
              <a:buNone/>
            </a:pPr>
            <a:r>
              <a:rPr lang="en-US" sz="1100" dirty="0">
                <a:solidFill>
                  <a:srgbClr val="1F2937"/>
                </a:solidFill>
              </a:rPr>
              <a:t>Blended gross margin 47%</a:t>
            </a:r>
            <a:endParaRPr lang="en-US" sz="1100" dirty="0"/>
          </a:p>
        </p:txBody>
      </p:sp>
      <p:sp>
        <p:nvSpPr>
          <p:cNvPr id="42" name="Shape 40"/>
          <p:cNvSpPr/>
          <p:nvPr/>
        </p:nvSpPr>
        <p:spPr>
          <a:xfrm>
            <a:off x="4389120" y="4270248"/>
            <a:ext cx="201168" cy="201168"/>
          </a:xfrm>
          <a:prstGeom prst="ellipse">
            <a:avLst/>
          </a:prstGeom>
          <a:solidFill>
            <a:srgbClr val="3E9B3A"/>
          </a:solidFill>
          <a:ln/>
        </p:spPr>
      </p:sp>
      <p:sp>
        <p:nvSpPr>
          <p:cNvPr id="43" name="Text 41"/>
          <p:cNvSpPr txBox="1"/>
          <p:nvPr/>
        </p:nvSpPr>
        <p:spPr>
          <a:xfrm>
            <a:off x="4389120" y="42702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4" name="Text 42"/>
          <p:cNvSpPr txBox="1"/>
          <p:nvPr/>
        </p:nvSpPr>
        <p:spPr>
          <a:xfrm>
            <a:off x="4681728" y="422452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Capability  </a:t>
            </a:r>
            <a:pPr indent="0" marL="0">
              <a:buNone/>
            </a:pPr>
            <a:r>
              <a:rPr lang="en-US" sz="1100" dirty="0">
                <a:solidFill>
                  <a:srgbClr val="1F2937"/>
                </a:solidFill>
              </a:rPr>
              <a:t>Make + Modify in-house</a:t>
            </a:r>
            <a:endParaRPr lang="en-US" sz="1100" dirty="0"/>
          </a:p>
        </p:txBody>
      </p:sp>
      <p:sp>
        <p:nvSpPr>
          <p:cNvPr id="45" name="Shape 43"/>
          <p:cNvSpPr/>
          <p:nvPr/>
        </p:nvSpPr>
        <p:spPr>
          <a:xfrm>
            <a:off x="4389120" y="4590288"/>
            <a:ext cx="201168" cy="201168"/>
          </a:xfrm>
          <a:prstGeom prst="ellipse">
            <a:avLst/>
          </a:prstGeom>
          <a:solidFill>
            <a:srgbClr val="F5A31A"/>
          </a:solidFill>
          <a:ln/>
        </p:spPr>
      </p:sp>
      <p:sp>
        <p:nvSpPr>
          <p:cNvPr id="46" name="Text 44"/>
          <p:cNvSpPr txBox="1"/>
          <p:nvPr/>
        </p:nvSpPr>
        <p:spPr>
          <a:xfrm>
            <a:off x="4389120" y="459028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7" name="Text 45"/>
          <p:cNvSpPr txBox="1"/>
          <p:nvPr/>
        </p:nvSpPr>
        <p:spPr>
          <a:xfrm>
            <a:off x="4681728" y="454456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Time  </a:t>
            </a:r>
            <a:pPr indent="0" marL="0">
              <a:buNone/>
            </a:pPr>
            <a:r>
              <a:rPr lang="en-US" sz="1100" dirty="0">
                <a:solidFill>
                  <a:srgbClr val="1F2937"/>
                </a:solidFill>
              </a:rPr>
              <a:t>4–6 months of stability testing</a:t>
            </a:r>
            <a:endParaRPr lang="en-US" sz="1100" dirty="0"/>
          </a:p>
        </p:txBody>
      </p:sp>
      <p:sp>
        <p:nvSpPr>
          <p:cNvPr id="48" name="Shape 46"/>
          <p:cNvSpPr/>
          <p:nvPr/>
        </p:nvSpPr>
        <p:spPr>
          <a:xfrm>
            <a:off x="4389120" y="4910328"/>
            <a:ext cx="201168" cy="201168"/>
          </a:xfrm>
          <a:prstGeom prst="ellipse">
            <a:avLst/>
          </a:prstGeom>
          <a:solidFill>
            <a:srgbClr val="3E9B3A"/>
          </a:solidFill>
          <a:ln/>
        </p:spPr>
      </p:sp>
      <p:sp>
        <p:nvSpPr>
          <p:cNvPr id="49" name="Text 47"/>
          <p:cNvSpPr txBox="1"/>
          <p:nvPr/>
        </p:nvSpPr>
        <p:spPr>
          <a:xfrm>
            <a:off x="4389120" y="491032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0" name="Text 48"/>
          <p:cNvSpPr txBox="1"/>
          <p:nvPr/>
        </p:nvSpPr>
        <p:spPr>
          <a:xfrm>
            <a:off x="4681728" y="486460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Operation  </a:t>
            </a:r>
            <a:pPr indent="0" marL="0">
              <a:buNone/>
            </a:pPr>
            <a:r>
              <a:rPr lang="en-US" sz="1100" dirty="0">
                <a:solidFill>
                  <a:srgbClr val="1F2937"/>
                </a:solidFill>
              </a:rPr>
              <a:t>0.86M litres in Year 3</a:t>
            </a:r>
            <a:endParaRPr lang="en-US" sz="1100" dirty="0"/>
          </a:p>
        </p:txBody>
      </p:sp>
      <p:sp>
        <p:nvSpPr>
          <p:cNvPr id="51" name="Shape 49"/>
          <p:cNvSpPr/>
          <p:nvPr/>
        </p:nvSpPr>
        <p:spPr>
          <a:xfrm>
            <a:off x="4389120" y="5230368"/>
            <a:ext cx="201168" cy="201168"/>
          </a:xfrm>
          <a:prstGeom prst="ellipse">
            <a:avLst/>
          </a:prstGeom>
          <a:solidFill>
            <a:srgbClr val="F5A31A"/>
          </a:solidFill>
          <a:ln/>
        </p:spPr>
      </p:sp>
      <p:sp>
        <p:nvSpPr>
          <p:cNvPr id="52" name="Text 50"/>
          <p:cNvSpPr txBox="1"/>
          <p:nvPr/>
        </p:nvSpPr>
        <p:spPr>
          <a:xfrm>
            <a:off x="4389120" y="52303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3" name="Text 51"/>
          <p:cNvSpPr txBox="1"/>
          <p:nvPr/>
        </p:nvSpPr>
        <p:spPr>
          <a:xfrm>
            <a:off x="4681728" y="51846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Risk  </a:t>
            </a:r>
            <a:pPr indent="0" marL="0">
              <a:buNone/>
            </a:pPr>
            <a:r>
              <a:rPr lang="en-US" sz="1100" dirty="0">
                <a:solidFill>
                  <a:srgbClr val="1F2937"/>
                </a:solidFill>
              </a:rPr>
              <a:t>Strip life in humidity; DGDA and BSTI</a:t>
            </a:r>
            <a:endParaRPr lang="en-US" sz="1100" dirty="0"/>
          </a:p>
        </p:txBody>
      </p:sp>
      <p:sp>
        <p:nvSpPr>
          <p:cNvPr id="54" name="Shape 52"/>
          <p:cNvSpPr/>
          <p:nvPr/>
        </p:nvSpPr>
        <p:spPr>
          <a:xfrm>
            <a:off x="4389120" y="5550408"/>
            <a:ext cx="201168" cy="201168"/>
          </a:xfrm>
          <a:prstGeom prst="ellipse">
            <a:avLst/>
          </a:prstGeom>
          <a:solidFill>
            <a:srgbClr val="3E9B3A"/>
          </a:solidFill>
          <a:ln/>
        </p:spPr>
      </p:sp>
      <p:sp>
        <p:nvSpPr>
          <p:cNvPr id="55" name="Text 53"/>
          <p:cNvSpPr txBox="1"/>
          <p:nvPr/>
        </p:nvSpPr>
        <p:spPr>
          <a:xfrm>
            <a:off x="4389120" y="55504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6" name="Text 54"/>
          <p:cNvSpPr txBox="1"/>
          <p:nvPr/>
        </p:nvSpPr>
        <p:spPr>
          <a:xfrm>
            <a:off x="4681728" y="55046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Yield &amp; scale  </a:t>
            </a:r>
            <a:pPr indent="0" marL="0">
              <a:buNone/>
            </a:pPr>
            <a:r>
              <a:rPr lang="en-US" sz="1100" dirty="0">
                <a:solidFill>
                  <a:srgbClr val="1F2937"/>
                </a:solidFill>
              </a:rPr>
              <a:t>One platform, two variants</a:t>
            </a:r>
            <a:endParaRPr lang="en-US" sz="1100" dirty="0"/>
          </a:p>
        </p:txBody>
      </p:sp>
      <p:sp>
        <p:nvSpPr>
          <p:cNvPr id="57" name="Shape 55"/>
          <p:cNvSpPr/>
          <p:nvPr/>
        </p:nvSpPr>
        <p:spPr>
          <a:xfrm>
            <a:off x="8046720" y="3154680"/>
            <a:ext cx="3593592" cy="2697480"/>
          </a:xfrm>
          <a:prstGeom prst="roundRect">
            <a:avLst>
              <a:gd name="adj" fmla="val 2712"/>
            </a:avLst>
          </a:prstGeom>
          <a:solidFill>
            <a:srgbClr val="F3F6FA"/>
          </a:solidFill>
          <a:ln/>
        </p:spPr>
      </p:sp>
      <p:sp>
        <p:nvSpPr>
          <p:cNvPr id="58" name="Text 56"/>
          <p:cNvSpPr txBox="1"/>
          <p:nvPr/>
        </p:nvSpPr>
        <p:spPr>
          <a:xfrm>
            <a:off x="8229600" y="3246120"/>
            <a:ext cx="3291840" cy="2560320"/>
          </a:xfrm>
          <a:prstGeom prst="rect">
            <a:avLst/>
          </a:prstGeom>
          <a:noFill/>
          <a:ln/>
        </p:spPr>
        <p:txBody>
          <a:bodyPr wrap="square" lIns="0" tIns="0" rIns="0" bIns="0" rtlCol="0" anchor="t"/>
          <a:lstStyle/>
          <a:p>
            <a:pPr indent="0" marL="0">
              <a:buNone/>
            </a:pPr>
            <a:r>
              <a:rPr lang="en-US" sz="1000" b="1" spc="100" kern="0" dirty="0">
                <a:solidFill>
                  <a:srgbClr val="0E7FA0"/>
                </a:solidFill>
              </a:rPr>
              <a:t>REGULATION &amp; SUSTAINABILITY</a:t>
            </a:r>
            <a:endParaRPr lang="en-US" sz="1200" dirty="0"/>
          </a:p>
          <a:p>
            <a:pPr marL="152400" indent="-152400">
              <a:spcBef>
                <a:spcPts val="500"/>
              </a:spcBef>
              <a:buSzPct val="100000"/>
              <a:buChar char="•"/>
            </a:pPr>
            <a:r>
              <a:rPr lang="en-US" sz="1100" dirty="0">
                <a:solidFill>
                  <a:srgbClr val="1F2937"/>
                </a:solidFill>
              </a:rPr>
              <a:t>BSTI: shampoo needs certification under BDS 1269:2022</a:t>
            </a:r>
            <a:endParaRPr lang="en-US" sz="1200" dirty="0"/>
          </a:p>
          <a:p>
            <a:pPr marL="152400" indent="-152400">
              <a:spcBef>
                <a:spcPts val="500"/>
              </a:spcBef>
              <a:buSzPct val="100000"/>
              <a:buChar char="•"/>
            </a:pPr>
            <a:r>
              <a:rPr lang="en-US" sz="1100" dirty="0">
                <a:solidFill>
                  <a:srgbClr val="1F2937"/>
                </a:solidFill>
              </a:rPr>
              <a:t>DGDA: Drugs and Cosmetics Act 2023; 2026 cosmetics rules still in draft</a:t>
            </a:r>
            <a:endParaRPr lang="en-US" sz="1200" dirty="0"/>
          </a:p>
          <a:p>
            <a:pPr marL="152400" indent="-152400">
              <a:spcBef>
                <a:spcPts val="500"/>
              </a:spcBef>
              <a:buSzPct val="100000"/>
              <a:buChar char="•"/>
            </a:pPr>
            <a:r>
              <a:rPr lang="en-US" sz="1100" dirty="0">
                <a:solidFill>
                  <a:srgbClr val="1F2937"/>
                </a:solidFill>
              </a:rPr>
              <a:t>EPR Guidelines 2026: plastic take-back; 1% of net revenue reserved</a:t>
            </a:r>
            <a:endParaRPr lang="en-US" sz="1200" dirty="0"/>
          </a:p>
          <a:p>
            <a:pPr marL="152400" indent="-152400">
              <a:spcBef>
                <a:spcPts val="500"/>
              </a:spcBef>
              <a:buSzPct val="100000"/>
              <a:buChar char="•"/>
            </a:pPr>
            <a:r>
              <a:rPr lang="en-US" sz="1100" dirty="0">
                <a:solidFill>
                  <a:srgbClr val="1F2937"/>
                </a:solidFill>
              </a:rPr>
              <a:t>GLDA is readily biodegradable, unlike EDTA</a:t>
            </a:r>
            <a:endParaRPr lang="en-US" sz="1200" dirty="0"/>
          </a:p>
          <a:p>
            <a:pPr marL="152400" indent="-152400">
              <a:spcBef>
                <a:spcPts val="500"/>
              </a:spcBef>
              <a:buSzPct val="100000"/>
              <a:buChar char="•"/>
            </a:pPr>
            <a:r>
              <a:rPr lang="en-US" sz="1100" dirty="0">
                <a:solidFill>
                  <a:srgbClr val="1F2937"/>
                </a:solidFill>
              </a:rPr>
              <a:t>Phase 2 refill pouch: 68% less plastic per wash</a:t>
            </a:r>
            <a:endParaRPr lang="en-US" sz="1200" dirty="0"/>
          </a:p>
        </p:txBody>
      </p:sp>
      <p:sp>
        <p:nvSpPr>
          <p:cNvPr id="59" name="Text 5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(Mouchak capacity); BSTI mandatory-certification list; Drugs and Cosmetics Act 2023; EPR Guidelines 2026 (SRO 293); Nouryon Dissolvine guide; Supply chain and Manufacturing masterclasses.</a:t>
            </a:r>
            <a:endParaRPr lang="en-US" sz="1000" dirty="0"/>
          </a:p>
        </p:txBody>
      </p:sp>
      <p:sp>
        <p:nvSpPr>
          <p:cNvPr id="6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REVENUE MODEL</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Revenue built bottom-up: outlets × units × net realisation = Tk 41 Cr by Year 3</a:t>
            </a:r>
            <a:endParaRPr lang="en-US" sz="2600" dirty="0"/>
          </a:p>
        </p:txBody>
      </p:sp>
      <p:sp>
        <p:nvSpPr>
          <p:cNvPr id="4" name="Text 2"/>
          <p:cNvSpPr txBox="1"/>
          <p:nvPr/>
        </p:nvSpPr>
        <p:spPr>
          <a:xfrm>
            <a:off x="548640" y="1536192"/>
            <a:ext cx="5486400" cy="292608"/>
          </a:xfrm>
          <a:prstGeom prst="rect">
            <a:avLst/>
          </a:prstGeom>
          <a:noFill/>
          <a:ln/>
        </p:spPr>
        <p:txBody>
          <a:bodyPr wrap="square" lIns="0" tIns="0" rIns="0" bIns="0" rtlCol="0" anchor="t"/>
          <a:lstStyle/>
          <a:p>
            <a:pPr indent="0" marL="0">
              <a:buNone/>
            </a:pPr>
            <a:r>
              <a:rPr lang="en-US" sz="1400" b="1" dirty="0">
                <a:solidFill>
                  <a:srgbClr val="141C52"/>
                </a:solidFill>
              </a:rPr>
              <a:t>Where Tk 360 goes: one 340 ml bottle</a:t>
            </a:r>
            <a:endParaRPr lang="en-US" sz="1400" dirty="0"/>
          </a:p>
        </p:txBody>
      </p:sp>
      <p:sp>
        <p:nvSpPr>
          <p:cNvPr id="5" name="Shape 3"/>
          <p:cNvSpPr/>
          <p:nvPr/>
        </p:nvSpPr>
        <p:spPr>
          <a:xfrm>
            <a:off x="685800" y="2240280"/>
            <a:ext cx="566928" cy="2834640"/>
          </a:xfrm>
          <a:prstGeom prst="rect">
            <a:avLst/>
          </a:prstGeom>
          <a:solidFill>
            <a:srgbClr val="141C52"/>
          </a:solidFill>
          <a:ln/>
        </p:spPr>
      </p:sp>
      <p:sp>
        <p:nvSpPr>
          <p:cNvPr id="6" name="Text 4"/>
          <p:cNvSpPr txBox="1"/>
          <p:nvPr/>
        </p:nvSpPr>
        <p:spPr>
          <a:xfrm>
            <a:off x="548640"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360</a:t>
            </a:r>
            <a:endParaRPr lang="en-US" sz="1100" dirty="0"/>
          </a:p>
        </p:txBody>
      </p:sp>
      <p:sp>
        <p:nvSpPr>
          <p:cNvPr id="7" name="Text 5"/>
          <p:cNvSpPr txBox="1"/>
          <p:nvPr/>
        </p:nvSpPr>
        <p:spPr>
          <a:xfrm>
            <a:off x="57607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MRP</a:t>
            </a:r>
            <a:endParaRPr lang="en-US" sz="1000" dirty="0"/>
          </a:p>
        </p:txBody>
      </p:sp>
      <p:sp>
        <p:nvSpPr>
          <p:cNvPr id="8" name="Shape 6"/>
          <p:cNvSpPr/>
          <p:nvPr/>
        </p:nvSpPr>
        <p:spPr>
          <a:xfrm>
            <a:off x="1444752" y="2240280"/>
            <a:ext cx="566928" cy="369736"/>
          </a:xfrm>
          <a:prstGeom prst="rect">
            <a:avLst/>
          </a:prstGeom>
          <a:solidFill>
            <a:srgbClr val="A7B0BE"/>
          </a:solidFill>
          <a:ln/>
        </p:spPr>
      </p:sp>
      <p:sp>
        <p:nvSpPr>
          <p:cNvPr id="9" name="Text 7"/>
          <p:cNvSpPr txBox="1"/>
          <p:nvPr/>
        </p:nvSpPr>
        <p:spPr>
          <a:xfrm>
            <a:off x="1307592"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−47</a:t>
            </a:r>
            <a:endParaRPr lang="en-US" sz="1100" dirty="0"/>
          </a:p>
        </p:txBody>
      </p:sp>
      <p:sp>
        <p:nvSpPr>
          <p:cNvPr id="10" name="Text 8"/>
          <p:cNvSpPr txBox="1"/>
          <p:nvPr/>
        </p:nvSpPr>
        <p:spPr>
          <a:xfrm>
            <a:off x="133502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VAT 15%</a:t>
            </a:r>
            <a:endParaRPr lang="en-US" sz="1000" dirty="0"/>
          </a:p>
        </p:txBody>
      </p:sp>
      <p:sp>
        <p:nvSpPr>
          <p:cNvPr id="11" name="Shape 9"/>
          <p:cNvSpPr/>
          <p:nvPr/>
        </p:nvSpPr>
        <p:spPr>
          <a:xfrm>
            <a:off x="2203704" y="2610016"/>
            <a:ext cx="566928" cy="542279"/>
          </a:xfrm>
          <a:prstGeom prst="rect">
            <a:avLst/>
          </a:prstGeom>
          <a:solidFill>
            <a:srgbClr val="A7B0BE"/>
          </a:solidFill>
          <a:ln/>
        </p:spPr>
      </p:sp>
      <p:sp>
        <p:nvSpPr>
          <p:cNvPr id="12" name="Text 10"/>
          <p:cNvSpPr txBox="1"/>
          <p:nvPr/>
        </p:nvSpPr>
        <p:spPr>
          <a:xfrm>
            <a:off x="2066544" y="2335696"/>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−69</a:t>
            </a:r>
            <a:endParaRPr lang="en-US" sz="1100" dirty="0"/>
          </a:p>
        </p:txBody>
      </p:sp>
      <p:sp>
        <p:nvSpPr>
          <p:cNvPr id="13" name="Text 11"/>
          <p:cNvSpPr txBox="1"/>
          <p:nvPr/>
        </p:nvSpPr>
        <p:spPr>
          <a:xfrm>
            <a:off x="2093976"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Trade 22%</a:t>
            </a:r>
            <a:endParaRPr lang="en-US" sz="1000" dirty="0"/>
          </a:p>
        </p:txBody>
      </p:sp>
      <p:sp>
        <p:nvSpPr>
          <p:cNvPr id="14" name="Shape 12"/>
          <p:cNvSpPr/>
          <p:nvPr/>
        </p:nvSpPr>
        <p:spPr>
          <a:xfrm>
            <a:off x="2962656" y="3152295"/>
            <a:ext cx="566928" cy="250777"/>
          </a:xfrm>
          <a:prstGeom prst="rect">
            <a:avLst/>
          </a:prstGeom>
          <a:solidFill>
            <a:srgbClr val="A7B0BE"/>
          </a:solidFill>
          <a:ln/>
        </p:spPr>
      </p:sp>
      <p:sp>
        <p:nvSpPr>
          <p:cNvPr id="15" name="Text 13"/>
          <p:cNvSpPr txBox="1"/>
          <p:nvPr/>
        </p:nvSpPr>
        <p:spPr>
          <a:xfrm>
            <a:off x="2825496" y="2877975"/>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−32</a:t>
            </a:r>
            <a:endParaRPr lang="en-US" sz="1100" dirty="0"/>
          </a:p>
        </p:txBody>
      </p:sp>
      <p:sp>
        <p:nvSpPr>
          <p:cNvPr id="16" name="Text 14"/>
          <p:cNvSpPr txBox="1"/>
          <p:nvPr/>
        </p:nvSpPr>
        <p:spPr>
          <a:xfrm>
            <a:off x="2852928"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SD 15%</a:t>
            </a:r>
            <a:endParaRPr lang="en-US" sz="1000" dirty="0"/>
          </a:p>
        </p:txBody>
      </p:sp>
      <p:sp>
        <p:nvSpPr>
          <p:cNvPr id="17" name="Shape 15"/>
          <p:cNvSpPr/>
          <p:nvPr/>
        </p:nvSpPr>
        <p:spPr>
          <a:xfrm>
            <a:off x="3721608" y="3403072"/>
            <a:ext cx="566928" cy="1671848"/>
          </a:xfrm>
          <a:prstGeom prst="rect">
            <a:avLst/>
          </a:prstGeom>
          <a:solidFill>
            <a:srgbClr val="12A5C4"/>
          </a:solidFill>
          <a:ln/>
        </p:spPr>
      </p:sp>
      <p:sp>
        <p:nvSpPr>
          <p:cNvPr id="18" name="Text 16"/>
          <p:cNvSpPr txBox="1"/>
          <p:nvPr/>
        </p:nvSpPr>
        <p:spPr>
          <a:xfrm>
            <a:off x="3584448"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212</a:t>
            </a:r>
            <a:endParaRPr lang="en-US" sz="1100" dirty="0"/>
          </a:p>
        </p:txBody>
      </p:sp>
      <p:sp>
        <p:nvSpPr>
          <p:cNvPr id="19" name="Text 17"/>
          <p:cNvSpPr txBox="1"/>
          <p:nvPr/>
        </p:nvSpPr>
        <p:spPr>
          <a:xfrm>
            <a:off x="3611880"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Net realisation</a:t>
            </a:r>
            <a:endParaRPr lang="en-US" sz="1000" dirty="0"/>
          </a:p>
        </p:txBody>
      </p:sp>
      <p:sp>
        <p:nvSpPr>
          <p:cNvPr id="20" name="Shape 18"/>
          <p:cNvSpPr/>
          <p:nvPr/>
        </p:nvSpPr>
        <p:spPr>
          <a:xfrm>
            <a:off x="4480560" y="3403072"/>
            <a:ext cx="566928" cy="748030"/>
          </a:xfrm>
          <a:prstGeom prst="rect">
            <a:avLst/>
          </a:prstGeom>
          <a:solidFill>
            <a:srgbClr val="B4511F"/>
          </a:solidFill>
          <a:ln/>
        </p:spPr>
      </p:sp>
      <p:sp>
        <p:nvSpPr>
          <p:cNvPr id="21" name="Text 19"/>
          <p:cNvSpPr txBox="1"/>
          <p:nvPr/>
        </p:nvSpPr>
        <p:spPr>
          <a:xfrm>
            <a:off x="4343400"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−95</a:t>
            </a:r>
            <a:endParaRPr lang="en-US" sz="1100" dirty="0"/>
          </a:p>
        </p:txBody>
      </p:sp>
      <p:sp>
        <p:nvSpPr>
          <p:cNvPr id="22" name="Text 20"/>
          <p:cNvSpPr txBox="1"/>
          <p:nvPr/>
        </p:nvSpPr>
        <p:spPr>
          <a:xfrm>
            <a:off x="437083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COGS</a:t>
            </a:r>
            <a:endParaRPr lang="en-US" sz="1000" dirty="0"/>
          </a:p>
        </p:txBody>
      </p:sp>
      <p:sp>
        <p:nvSpPr>
          <p:cNvPr id="23" name="Shape 21"/>
          <p:cNvSpPr/>
          <p:nvPr/>
        </p:nvSpPr>
        <p:spPr>
          <a:xfrm>
            <a:off x="5239512" y="4151102"/>
            <a:ext cx="566928" cy="923818"/>
          </a:xfrm>
          <a:prstGeom prst="rect">
            <a:avLst/>
          </a:prstGeom>
          <a:solidFill>
            <a:srgbClr val="3E9B3A"/>
          </a:solidFill>
          <a:ln/>
        </p:spPr>
      </p:sp>
      <p:sp>
        <p:nvSpPr>
          <p:cNvPr id="24" name="Text 22"/>
          <p:cNvSpPr txBox="1"/>
          <p:nvPr/>
        </p:nvSpPr>
        <p:spPr>
          <a:xfrm>
            <a:off x="5102352" y="387678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117</a:t>
            </a:r>
            <a:endParaRPr lang="en-US" sz="1100" dirty="0"/>
          </a:p>
        </p:txBody>
      </p:sp>
      <p:sp>
        <p:nvSpPr>
          <p:cNvPr id="25" name="Text 23"/>
          <p:cNvSpPr txBox="1"/>
          <p:nvPr/>
        </p:nvSpPr>
        <p:spPr>
          <a:xfrm>
            <a:off x="512978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Gross profit</a:t>
            </a:r>
            <a:endParaRPr lang="en-US" sz="1000" dirty="0"/>
          </a:p>
        </p:txBody>
      </p:sp>
      <p:sp>
        <p:nvSpPr>
          <p:cNvPr id="26" name="Shape 24"/>
          <p:cNvSpPr/>
          <p:nvPr/>
        </p:nvSpPr>
        <p:spPr>
          <a:xfrm>
            <a:off x="594360" y="5074920"/>
            <a:ext cx="5349240" cy="0"/>
          </a:xfrm>
          <a:prstGeom prst="line">
            <a:avLst/>
          </a:prstGeom>
          <a:noFill/>
          <a:ln w="12700">
            <a:solidFill>
              <a:srgbClr val="D5DCE6"/>
            </a:solidFill>
            <a:prstDash val="solid"/>
          </a:ln>
        </p:spPr>
      </p:sp>
      <p:sp>
        <p:nvSpPr>
          <p:cNvPr id="27" name="Text 25"/>
          <p:cNvSpPr txBox="1"/>
          <p:nvPr/>
        </p:nvSpPr>
        <p:spPr>
          <a:xfrm>
            <a:off x="548640" y="5577840"/>
            <a:ext cx="5486400" cy="320040"/>
          </a:xfrm>
          <a:prstGeom prst="rect">
            <a:avLst/>
          </a:prstGeom>
          <a:noFill/>
          <a:ln/>
        </p:spPr>
        <p:txBody>
          <a:bodyPr wrap="square" lIns="0" tIns="0" rIns="0" bIns="0" rtlCol="0" anchor="t"/>
          <a:lstStyle/>
          <a:p>
            <a:pPr indent="0" marL="0">
              <a:buNone/>
            </a:pPr>
            <a:r>
              <a:rPr lang="en-US" sz="1100" i="1" dirty="0">
                <a:solidFill>
                  <a:srgbClr val="5B6472"/>
                </a:solidFill>
              </a:rPr>
              <a:t>Gross margin 55% on the 340 ml; blended 47% with the 180 ml (48%) and sachets (29%).</a:t>
            </a:r>
            <a:endParaRPr lang="en-US" sz="1100" dirty="0"/>
          </a:p>
        </p:txBody>
      </p:sp>
      <p:graphicFrame>
        <p:nvGraphicFramePr>
          <p:cNvPr id="28" name="Chart 0" descr=""/>
          <p:cNvGraphicFramePr/>
          <p:nvPr/>
        </p:nvGraphicFramePr>
        <p:xfrm>
          <a:off x="6309360" y="1508760"/>
          <a:ext cx="5330952" cy="361188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6309360" y="5212080"/>
            <a:ext cx="5330952" cy="713232"/>
          </a:xfrm>
          <a:prstGeom prst="roundRect">
            <a:avLst>
              <a:gd name="adj" fmla="val 10256"/>
            </a:avLst>
          </a:prstGeom>
          <a:solidFill>
            <a:srgbClr val="F3F6FA"/>
          </a:solidFill>
          <a:ln/>
        </p:spPr>
      </p:sp>
      <p:sp>
        <p:nvSpPr>
          <p:cNvPr id="30" name="Text 27"/>
          <p:cNvSpPr txBox="1"/>
          <p:nvPr/>
        </p:nvSpPr>
        <p:spPr>
          <a:xfrm>
            <a:off x="6446520" y="5212080"/>
            <a:ext cx="5074920" cy="713232"/>
          </a:xfrm>
          <a:prstGeom prst="rect">
            <a:avLst/>
          </a:prstGeom>
          <a:noFill/>
          <a:ln/>
        </p:spPr>
        <p:txBody>
          <a:bodyPr wrap="square" lIns="0" tIns="0" rIns="0" bIns="0" rtlCol="0" anchor="ctr"/>
          <a:lstStyle/>
          <a:p>
            <a:pPr indent="0" marL="0">
              <a:buNone/>
            </a:pPr>
            <a:r>
              <a:rPr lang="en-US" sz="1100" dirty="0">
                <a:solidFill>
                  <a:srgbClr val="1F2937"/>
                </a:solidFill>
              </a:rPr>
              <a:t>Units (million): sachets 9.0 → 36.4 → 56.1 · 180 ml 0.27 → 0.96 → 1.40 · 340 ml 0.17 → 0.57 → 0.80. Year 1 has nine selling months after the pilot and pipeline fill.</a:t>
            </a:r>
            <a:endParaRPr lang="en-US" sz="1100" dirty="0"/>
          </a:p>
        </p:txBody>
      </p:sp>
      <p:sp>
        <p:nvSpPr>
          <p:cNvPr id="31"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Team model v4. Gross-to-net as taught in the Finance masterclass: MRP − VAT − trade margin − SD = net realisation. VAT and SD at 15% on shampoo (VAT &amp; SD Act 2012); invoice treatment to be confirmed with Marico Tax.</a:t>
            </a:r>
            <a:endParaRPr lang="en-US" sz="10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PROFIT &amp; LOSS ROAD MAP</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P&amp;L: EBITDA-positive in Year 2 and NPV +Tk 3.1 Cr at a 15% hurdle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3017520"/>
                <a:gridCol w="1097280"/>
                <a:gridCol w="1097280"/>
                <a:gridCol w="1097280"/>
              </a:tblGrid>
              <a:tr h="256032">
                <a:tc>
                  <a:txBody>
                    <a:bodyPr/>
                    <a:lstStyle/>
                    <a:p>
                      <a:pPr indent="0" marL="0">
                        <a:buNone/>
                      </a:pPr>
                      <a:r>
                        <a:rPr lang="en-US" sz="1100" b="1" dirty="0">
                          <a:solidFill>
                            <a:srgbClr val="FFFFFF"/>
                          </a:solidFill>
                        </a:rPr>
                        <a:t>Tk crore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2</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56032">
                <a:tc>
                  <a:txBody>
                    <a:bodyPr/>
                    <a:lstStyle/>
                    <a:p>
                      <a:pPr indent="0" marL="0">
                        <a:buNone/>
                      </a:pPr>
                      <a:r>
                        <a:rPr lang="en-US" sz="1100" dirty="0">
                          <a:solidFill>
                            <a:srgbClr val="5B6472"/>
                          </a:solidFill>
                        </a:rPr>
                        <a:t>Gross sales (MRP)</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13.8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48.7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70.8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revenue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8.1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28.5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41.4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b="1" dirty="0">
                          <a:solidFill>
                            <a:srgbClr val="1F2937"/>
                          </a:solidFill>
                        </a:rPr>
                        <a:t>Gross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13.4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19.3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   Gross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46.8%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Advertising and promotion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Selling and distribution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EPR (plastic)</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EBITDA, standalone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9.7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Naturale cannibalisation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Incremental EBITDA</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5.9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dirty="0">
                          <a:solidFill>
                            <a:srgbClr val="5B6472"/>
                          </a:solidFill>
                        </a:rPr>
                        <a:t>   EBITDA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-38.0%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14.4%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Depreciation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WPPF and tax</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4.1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Free cash flow</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0.9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5" name="Shape 2"/>
          <p:cNvSpPr/>
          <p:nvPr/>
        </p:nvSpPr>
        <p:spPr>
          <a:xfrm>
            <a:off x="7132320" y="1508760"/>
            <a:ext cx="2157984" cy="1143000"/>
          </a:xfrm>
          <a:prstGeom prst="roundRect">
            <a:avLst>
              <a:gd name="adj" fmla="val 6400"/>
            </a:avLst>
          </a:prstGeom>
          <a:solidFill>
            <a:srgbClr val="141C52"/>
          </a:solidFill>
          <a:ln/>
        </p:spPr>
      </p:sp>
      <p:sp>
        <p:nvSpPr>
          <p:cNvPr id="6" name="Text 3"/>
          <p:cNvSpPr txBox="1"/>
          <p:nvPr/>
        </p:nvSpPr>
        <p:spPr>
          <a:xfrm>
            <a:off x="7269480" y="1600200"/>
            <a:ext cx="1920240" cy="228600"/>
          </a:xfrm>
          <a:prstGeom prst="rect">
            <a:avLst/>
          </a:prstGeom>
          <a:noFill/>
          <a:ln/>
        </p:spPr>
        <p:txBody>
          <a:bodyPr wrap="square" lIns="0" tIns="0" rIns="0" bIns="0" rtlCol="0" anchor="t"/>
          <a:lstStyle/>
          <a:p>
            <a:pPr indent="0" marL="0">
              <a:buNone/>
            </a:pPr>
            <a:r>
              <a:rPr lang="en-US" sz="1100" b="1" spc="100" kern="0" dirty="0">
                <a:solidFill>
                  <a:srgbClr val="F5A31A"/>
                </a:solidFill>
              </a:rPr>
              <a:t>NPV @ 15%</a:t>
            </a:r>
            <a:endParaRPr lang="en-US" sz="1100" dirty="0"/>
          </a:p>
        </p:txBody>
      </p:sp>
      <p:sp>
        <p:nvSpPr>
          <p:cNvPr id="7" name="Text 4"/>
          <p:cNvSpPr txBox="1"/>
          <p:nvPr/>
        </p:nvSpPr>
        <p:spPr>
          <a:xfrm>
            <a:off x="7269480" y="1828800"/>
            <a:ext cx="1920240" cy="457200"/>
          </a:xfrm>
          <a:prstGeom prst="rect">
            <a:avLst/>
          </a:prstGeom>
          <a:noFill/>
          <a:ln/>
        </p:spPr>
        <p:txBody>
          <a:bodyPr wrap="square" lIns="0" tIns="0" rIns="0" bIns="0" rtlCol="0" anchor="t"/>
          <a:lstStyle/>
          <a:p>
            <a:pPr indent="0" marL="0">
              <a:buNone/>
            </a:pPr>
            <a:r>
              <a:rPr lang="en-US" sz="2400" b="1" dirty="0">
                <a:solidFill>
                  <a:srgbClr val="FFFFFF"/>
                </a:solidFill>
              </a:rPr>
              <a:t>+Tk 3.1 Cr</a:t>
            </a:r>
            <a:endParaRPr lang="en-US" sz="2400" dirty="0"/>
          </a:p>
        </p:txBody>
      </p:sp>
      <p:sp>
        <p:nvSpPr>
          <p:cNvPr id="8" name="Text 5"/>
          <p:cNvSpPr txBox="1"/>
          <p:nvPr/>
        </p:nvSpPr>
        <p:spPr>
          <a:xfrm>
            <a:off x="7269480" y="2276856"/>
            <a:ext cx="1920240" cy="347472"/>
          </a:xfrm>
          <a:prstGeom prst="rect">
            <a:avLst/>
          </a:prstGeom>
          <a:noFill/>
          <a:ln/>
        </p:spPr>
        <p:txBody>
          <a:bodyPr wrap="square" lIns="0" tIns="0" rIns="0" bIns="0" rtlCol="0" anchor="t"/>
          <a:lstStyle/>
          <a:p>
            <a:pPr indent="0" marL="0">
              <a:buNone/>
            </a:pPr>
            <a:r>
              <a:rPr lang="en-US" sz="1000" dirty="0">
                <a:solidFill>
                  <a:srgbClr val="C9D3F5"/>
                </a:solidFill>
              </a:rPr>
              <a:t>+Tk 0.5 Cr without working-capital recovery</a:t>
            </a:r>
            <a:endParaRPr lang="en-US" sz="1000" dirty="0"/>
          </a:p>
        </p:txBody>
      </p:sp>
      <p:sp>
        <p:nvSpPr>
          <p:cNvPr id="9" name="Shape 6"/>
          <p:cNvSpPr/>
          <p:nvPr/>
        </p:nvSpPr>
        <p:spPr>
          <a:xfrm>
            <a:off x="9482328" y="1508760"/>
            <a:ext cx="2157984" cy="1143000"/>
          </a:xfrm>
          <a:prstGeom prst="roundRect">
            <a:avLst>
              <a:gd name="adj" fmla="val 6400"/>
            </a:avLst>
          </a:prstGeom>
          <a:solidFill>
            <a:srgbClr val="F3F6FA"/>
          </a:solidFill>
          <a:ln/>
        </p:spPr>
      </p:sp>
      <p:sp>
        <p:nvSpPr>
          <p:cNvPr id="10" name="Text 7"/>
          <p:cNvSpPr txBox="1"/>
          <p:nvPr/>
        </p:nvSpPr>
        <p:spPr>
          <a:xfrm>
            <a:off x="9619488" y="1600200"/>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IRR</a:t>
            </a:r>
            <a:endParaRPr lang="en-US" sz="1100" dirty="0"/>
          </a:p>
        </p:txBody>
      </p:sp>
      <p:sp>
        <p:nvSpPr>
          <p:cNvPr id="11" name="Text 8"/>
          <p:cNvSpPr txBox="1"/>
          <p:nvPr/>
        </p:nvSpPr>
        <p:spPr>
          <a:xfrm>
            <a:off x="9619488" y="1828800"/>
            <a:ext cx="1920240" cy="457200"/>
          </a:xfrm>
          <a:prstGeom prst="rect">
            <a:avLst/>
          </a:prstGeom>
          <a:noFill/>
          <a:ln/>
        </p:spPr>
        <p:txBody>
          <a:bodyPr wrap="square" lIns="0" tIns="0" rIns="0" bIns="0" rtlCol="0" anchor="t"/>
          <a:lstStyle/>
          <a:p>
            <a:pPr indent="0" marL="0">
              <a:buNone/>
            </a:pPr>
            <a:r>
              <a:rPr lang="en-US" sz="2400" b="1" dirty="0">
                <a:solidFill>
                  <a:srgbClr val="141C52"/>
                </a:solidFill>
              </a:rPr>
              <a:t>25.1%</a:t>
            </a:r>
            <a:endParaRPr lang="en-US" sz="2400" dirty="0"/>
          </a:p>
        </p:txBody>
      </p:sp>
      <p:sp>
        <p:nvSpPr>
          <p:cNvPr id="12" name="Text 9"/>
          <p:cNvSpPr txBox="1"/>
          <p:nvPr/>
        </p:nvSpPr>
        <p:spPr>
          <a:xfrm>
            <a:off x="9619488" y="2276856"/>
            <a:ext cx="1920240" cy="347472"/>
          </a:xfrm>
          <a:prstGeom prst="rect">
            <a:avLst/>
          </a:prstGeom>
          <a:noFill/>
          <a:ln/>
        </p:spPr>
        <p:txBody>
          <a:bodyPr wrap="square" lIns="0" tIns="0" rIns="0" bIns="0" rtlCol="0" anchor="t"/>
          <a:lstStyle/>
          <a:p>
            <a:pPr indent="0" marL="0">
              <a:buNone/>
            </a:pPr>
            <a:r>
              <a:rPr lang="en-US" sz="1000" dirty="0">
                <a:solidFill>
                  <a:srgbClr val="5B6472"/>
                </a:solidFill>
              </a:rPr>
              <a:t>17.0% without recovery; hurdle 15%</a:t>
            </a:r>
            <a:endParaRPr lang="en-US" sz="1000" dirty="0"/>
          </a:p>
        </p:txBody>
      </p:sp>
      <p:sp>
        <p:nvSpPr>
          <p:cNvPr id="13" name="Shape 10"/>
          <p:cNvSpPr/>
          <p:nvPr/>
        </p:nvSpPr>
        <p:spPr>
          <a:xfrm>
            <a:off x="7132320" y="2761488"/>
            <a:ext cx="2157984" cy="1143000"/>
          </a:xfrm>
          <a:prstGeom prst="roundRect">
            <a:avLst>
              <a:gd name="adj" fmla="val 6400"/>
            </a:avLst>
          </a:prstGeom>
          <a:solidFill>
            <a:srgbClr val="F3F6FA"/>
          </a:solidFill>
          <a:ln/>
        </p:spPr>
      </p:sp>
      <p:sp>
        <p:nvSpPr>
          <p:cNvPr id="14" name="Text 11"/>
          <p:cNvSpPr txBox="1"/>
          <p:nvPr/>
        </p:nvSpPr>
        <p:spPr>
          <a:xfrm>
            <a:off x="7269480"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Peak funding</a:t>
            </a:r>
            <a:endParaRPr lang="en-US" sz="1100" dirty="0"/>
          </a:p>
        </p:txBody>
      </p:sp>
      <p:sp>
        <p:nvSpPr>
          <p:cNvPr id="15" name="Text 12"/>
          <p:cNvSpPr txBox="1"/>
          <p:nvPr/>
        </p:nvSpPr>
        <p:spPr>
          <a:xfrm>
            <a:off x="7269480"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Tk 9.8 Cr</a:t>
            </a:r>
            <a:endParaRPr lang="en-US" sz="2400" dirty="0"/>
          </a:p>
        </p:txBody>
      </p:sp>
      <p:sp>
        <p:nvSpPr>
          <p:cNvPr id="32" name="Text 13"/>
          <p:cNvSpPr txBox="1"/>
          <p:nvPr/>
        </p:nvSpPr>
        <p:spPr>
          <a:xfrm>
            <a:off x="7269480"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Month 25, end of the launch year</a:t>
            </a:r>
            <a:endParaRPr lang="en-US" sz="1000" dirty="0"/>
          </a:p>
        </p:txBody>
      </p:sp>
      <p:sp>
        <p:nvSpPr>
          <p:cNvPr id="17" name="Shape 14"/>
          <p:cNvSpPr/>
          <p:nvPr/>
        </p:nvSpPr>
        <p:spPr>
          <a:xfrm>
            <a:off x="9482328" y="2761488"/>
            <a:ext cx="2157984" cy="1143000"/>
          </a:xfrm>
          <a:prstGeom prst="roundRect">
            <a:avLst>
              <a:gd name="adj" fmla="val 6400"/>
            </a:avLst>
          </a:prstGeom>
          <a:solidFill>
            <a:srgbClr val="F3F6FA"/>
          </a:solidFill>
          <a:ln/>
        </p:spPr>
      </p:sp>
      <p:sp>
        <p:nvSpPr>
          <p:cNvPr id="18" name="Text 15"/>
          <p:cNvSpPr txBox="1"/>
          <p:nvPr/>
        </p:nvSpPr>
        <p:spPr>
          <a:xfrm>
            <a:off x="9619488"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Payback</a:t>
            </a:r>
            <a:endParaRPr lang="en-US" sz="1100" dirty="0"/>
          </a:p>
        </p:txBody>
      </p:sp>
      <p:sp>
        <p:nvSpPr>
          <p:cNvPr id="19" name="Text 16"/>
          <p:cNvSpPr txBox="1"/>
          <p:nvPr/>
        </p:nvSpPr>
        <p:spPr>
          <a:xfrm>
            <a:off x="9619488"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4.8 years</a:t>
            </a:r>
            <a:endParaRPr lang="en-US" sz="2400" dirty="0"/>
          </a:p>
        </p:txBody>
      </p:sp>
      <p:sp>
        <p:nvSpPr>
          <p:cNvPr id="20" name="Text 17"/>
          <p:cNvSpPr txBox="1"/>
          <p:nvPr/>
        </p:nvSpPr>
        <p:spPr>
          <a:xfrm>
            <a:off x="9619488"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From project start; 3.6 years after first sale</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32320" y="4069080"/>
          <a:ext cx="4507992" cy="914400"/>
        </p:xfrm>
        <a:graphic>
          <a:graphicData uri="http://schemas.openxmlformats.org/drawingml/2006/table">
            <a:tbl>
              <a:tblPr/>
              <a:tblGrid>
                <a:gridCol w="3502152"/>
                <a:gridCol w="1005840"/>
              </a:tblGrid>
              <a:tr h="310896">
                <a:tc>
                  <a:txBody>
                    <a:bodyPr/>
                    <a:lstStyle/>
                    <a:p>
                      <a:pPr indent="0" marL="0">
                        <a:buNone/>
                      </a:pPr>
                      <a:r>
                        <a:rPr lang="en-US" sz="1100" b="1" dirty="0">
                          <a:solidFill>
                            <a:srgbClr val="FFFFFF"/>
                          </a:solidFill>
                        </a:rPr>
                        <a:t>Scenario (Finance masterclass grid)</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NPV</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310896">
                <a:tc>
                  <a:txBody>
                    <a:bodyPr/>
                    <a:lstStyle/>
                    <a:p>
                      <a:pPr indent="0" marL="0">
                        <a:buNone/>
                      </a:pPr>
                      <a:r>
                        <a:rPr lang="en-US" sz="1100" dirty="0">
                          <a:solidFill>
                            <a:srgbClr val="1F2937"/>
                          </a:solidFill>
                        </a:rPr>
                        <a:t>Worst: volume −20%, price −5%, COGS +8%, 3-month delay</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B4511F"/>
                          </a:solidFill>
                        </a:rPr>
                        <a:t>−Tk 4.4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b="1" dirty="0">
                          <a:solidFill>
                            <a:srgbClr val="1F2937"/>
                          </a:solidFill>
                        </a:rPr>
                        <a:t>Base plan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41C52"/>
                          </a:solidFill>
                        </a:rPr>
                        <a:t>+Tk 3.1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dirty="0">
                          <a:solidFill>
                            <a:srgbClr val="1F2937"/>
                          </a:solidFill>
                        </a:rPr>
                        <a:t>Best: volume +15%, price +2%, COGS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3E9B3A"/>
                          </a:solidFill>
                        </a:rPr>
                        <a:t>+Tk 7.6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2" name="Text 18"/>
          <p:cNvSpPr txBox="1"/>
          <p:nvPr/>
        </p:nvSpPr>
        <p:spPr>
          <a:xfrm>
            <a:off x="7132320" y="5413248"/>
            <a:ext cx="4507992" cy="457200"/>
          </a:xfrm>
          <a:prstGeom prst="rect">
            <a:avLst/>
          </a:prstGeom>
          <a:noFill/>
          <a:ln/>
        </p:spPr>
        <p:txBody>
          <a:bodyPr wrap="square" lIns="0" tIns="0" rIns="0" bIns="0" rtlCol="0" anchor="t"/>
          <a:lstStyle/>
          <a:p>
            <a:pPr indent="0" marL="0">
              <a:buNone/>
            </a:pPr>
            <a:r>
              <a:rPr lang="en-US" sz="1200" b="1" dirty="0">
                <a:solidFill>
                  <a:srgbClr val="141C52"/>
                </a:solidFill>
              </a:rPr>
              <a:t>The downside is why we pilot first: only Tk 3.5 Cr is at risk before the go/no-go.</a:t>
            </a:r>
            <a:endParaRPr lang="en-US" sz="1200" dirty="0"/>
          </a:p>
        </p:txBody>
      </p:sp>
      <p:sp>
        <p:nvSpPr>
          <p:cNvPr id="23" name="Text 19"/>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Five commercial years after a 12-month R&amp;D and pilot phase; no terminal value; working capital 12% of net revenue. Cannibalisation: 20% of WaterSmart revenue taken from Naturale at 45% contribution. Tax 20%, WPPF 5%. Inputs are planning assumptions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F5A31A"/>
                </a:solidFill>
              </a:rPr>
              <a:t>THE DECISION</a:t>
            </a:r>
            <a:endParaRPr lang="en-US" sz="1100" dirty="0"/>
          </a:p>
        </p:txBody>
      </p:sp>
      <p:sp>
        <p:nvSpPr>
          <p:cNvPr id="3" name="Text 1"/>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FFFFFF"/>
                </a:solidFill>
              </a:rPr>
              <a:t>Approve a 6-month pilot, and scale nationally only on proof</a:t>
            </a:r>
            <a:endParaRPr lang="en-US" sz="2800" dirty="0"/>
          </a:p>
        </p:txBody>
      </p:sp>
      <p:sp>
        <p:nvSpPr>
          <p:cNvPr id="4" name="Shape 2"/>
          <p:cNvSpPr/>
          <p:nvPr/>
        </p:nvSpPr>
        <p:spPr>
          <a:xfrm>
            <a:off x="548640" y="1554480"/>
            <a:ext cx="2651760" cy="1051560"/>
          </a:xfrm>
          <a:prstGeom prst="roundRect">
            <a:avLst>
              <a:gd name="adj" fmla="val 6957"/>
            </a:avLst>
          </a:prstGeom>
          <a:solidFill>
            <a:srgbClr val="222D72"/>
          </a:solidFill>
          <a:ln/>
        </p:spPr>
      </p:sp>
      <p:sp>
        <p:nvSpPr>
          <p:cNvPr id="5" name="Text 3"/>
          <p:cNvSpPr txBox="1"/>
          <p:nvPr/>
        </p:nvSpPr>
        <p:spPr>
          <a:xfrm>
            <a:off x="685800"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M1–6  </a:t>
            </a:r>
            <a:pPr indent="0" marL="0">
              <a:buNone/>
            </a:pPr>
            <a:r>
              <a:rPr lang="en-US" sz="1300" b="1" dirty="0">
                <a:solidFill>
                  <a:srgbClr val="FFFFFF"/>
                </a:solidFill>
              </a:rPr>
              <a:t>R&amp;D and qualification</a:t>
            </a:r>
            <a:endParaRPr lang="en-US" sz="1200" dirty="0"/>
          </a:p>
          <a:p>
            <a:pPr indent="0" marL="0">
              <a:buNone/>
            </a:pPr>
            <a:r>
              <a:rPr lang="en-US" sz="1100" dirty="0">
                <a:solidFill>
                  <a:srgbClr val="C9D3F5"/>
                </a:solidFill>
              </a:rPr>
              <a:t>Formula, stability, strip shelf-life, BSTI and DGDA</a:t>
            </a:r>
            <a:endParaRPr lang="en-US" sz="1200" dirty="0"/>
          </a:p>
        </p:txBody>
      </p:sp>
      <p:sp>
        <p:nvSpPr>
          <p:cNvPr id="6" name="Shape 4"/>
          <p:cNvSpPr/>
          <p:nvPr/>
        </p:nvSpPr>
        <p:spPr>
          <a:xfrm>
            <a:off x="3218688" y="1965960"/>
            <a:ext cx="128016" cy="219456"/>
          </a:xfrm>
          <a:prstGeom prst="rightArrow">
            <a:avLst/>
          </a:prstGeom>
          <a:solidFill>
            <a:srgbClr val="F5A31A"/>
          </a:solidFill>
          <a:ln/>
        </p:spPr>
      </p:sp>
      <p:sp>
        <p:nvSpPr>
          <p:cNvPr id="7" name="Shape 5"/>
          <p:cNvSpPr/>
          <p:nvPr/>
        </p:nvSpPr>
        <p:spPr>
          <a:xfrm>
            <a:off x="3364992" y="1554480"/>
            <a:ext cx="2651760" cy="1051560"/>
          </a:xfrm>
          <a:prstGeom prst="roundRect">
            <a:avLst>
              <a:gd name="adj" fmla="val 6957"/>
            </a:avLst>
          </a:prstGeom>
          <a:solidFill>
            <a:srgbClr val="222D72"/>
          </a:solidFill>
          <a:ln/>
        </p:spPr>
      </p:sp>
      <p:sp>
        <p:nvSpPr>
          <p:cNvPr id="8" name="Text 6"/>
          <p:cNvSpPr txBox="1"/>
          <p:nvPr/>
        </p:nvSpPr>
        <p:spPr>
          <a:xfrm>
            <a:off x="3502152"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M7–12  </a:t>
            </a:r>
            <a:pPr indent="0" marL="0">
              <a:buNone/>
            </a:pPr>
            <a:r>
              <a:rPr lang="en-US" sz="1300" b="1" dirty="0">
                <a:solidFill>
                  <a:srgbClr val="FFFFFF"/>
                </a:solidFill>
              </a:rPr>
              <a:t>Pilot in two cells</a:t>
            </a:r>
            <a:endParaRPr lang="en-US" sz="1200" dirty="0"/>
          </a:p>
          <a:p>
            <a:pPr indent="0" marL="0">
              <a:buNone/>
            </a:pPr>
            <a:r>
              <a:rPr lang="en-US" sz="1100" dirty="0">
                <a:solidFill>
                  <a:srgbClr val="C9D3F5"/>
                </a:solidFill>
              </a:rPr>
              <a:t>~1,500 outlets: a Dhaka hall/mess catchment and one hard-water town</a:t>
            </a:r>
            <a:endParaRPr lang="en-US" sz="1200" dirty="0"/>
          </a:p>
        </p:txBody>
      </p:sp>
      <p:sp>
        <p:nvSpPr>
          <p:cNvPr id="9" name="Shape 7"/>
          <p:cNvSpPr/>
          <p:nvPr/>
        </p:nvSpPr>
        <p:spPr>
          <a:xfrm>
            <a:off x="6035040" y="1965960"/>
            <a:ext cx="128016" cy="219456"/>
          </a:xfrm>
          <a:prstGeom prst="rightArrow">
            <a:avLst/>
          </a:prstGeom>
          <a:solidFill>
            <a:srgbClr val="F5A31A"/>
          </a:solidFill>
          <a:ln/>
        </p:spPr>
      </p:sp>
      <p:sp>
        <p:nvSpPr>
          <p:cNvPr id="10" name="Shape 8"/>
          <p:cNvSpPr/>
          <p:nvPr/>
        </p:nvSpPr>
        <p:spPr>
          <a:xfrm>
            <a:off x="6181344" y="1554480"/>
            <a:ext cx="2651760" cy="1051560"/>
          </a:xfrm>
          <a:prstGeom prst="roundRect">
            <a:avLst>
              <a:gd name="adj" fmla="val 6957"/>
            </a:avLst>
          </a:prstGeom>
          <a:solidFill>
            <a:srgbClr val="222D72"/>
          </a:solidFill>
          <a:ln/>
        </p:spPr>
      </p:sp>
      <p:sp>
        <p:nvSpPr>
          <p:cNvPr id="11" name="Text 9"/>
          <p:cNvSpPr txBox="1"/>
          <p:nvPr/>
        </p:nvSpPr>
        <p:spPr>
          <a:xfrm>
            <a:off x="6318504"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M13–16  </a:t>
            </a:r>
            <a:pPr indent="0" marL="0">
              <a:buNone/>
            </a:pPr>
            <a:r>
              <a:rPr lang="en-US" sz="1300" b="1" dirty="0">
                <a:solidFill>
                  <a:srgbClr val="FFFFFF"/>
                </a:solidFill>
              </a:rPr>
              <a:t>National launch</a:t>
            </a:r>
            <a:endParaRPr lang="en-US" sz="1200" dirty="0"/>
          </a:p>
          <a:p>
            <a:pPr indent="0" marL="0">
              <a:buNone/>
            </a:pPr>
            <a:r>
              <a:rPr lang="en-US" sz="1100" dirty="0">
                <a:solidFill>
                  <a:srgbClr val="C9D3F5"/>
                </a:solidFill>
              </a:rPr>
              <a:t>Pipeline fill; first sales in month 16</a:t>
            </a:r>
            <a:endParaRPr lang="en-US" sz="1200" dirty="0"/>
          </a:p>
        </p:txBody>
      </p:sp>
      <p:sp>
        <p:nvSpPr>
          <p:cNvPr id="12" name="Shape 10"/>
          <p:cNvSpPr/>
          <p:nvPr/>
        </p:nvSpPr>
        <p:spPr>
          <a:xfrm>
            <a:off x="8851392" y="1965960"/>
            <a:ext cx="128016" cy="219456"/>
          </a:xfrm>
          <a:prstGeom prst="rightArrow">
            <a:avLst/>
          </a:prstGeom>
          <a:solidFill>
            <a:srgbClr val="F5A31A"/>
          </a:solidFill>
          <a:ln/>
        </p:spPr>
      </p:sp>
      <p:sp>
        <p:nvSpPr>
          <p:cNvPr id="13" name="Shape 11"/>
          <p:cNvSpPr/>
          <p:nvPr/>
        </p:nvSpPr>
        <p:spPr>
          <a:xfrm>
            <a:off x="8997696" y="1554480"/>
            <a:ext cx="2651760" cy="1051560"/>
          </a:xfrm>
          <a:prstGeom prst="roundRect">
            <a:avLst>
              <a:gd name="adj" fmla="val 6957"/>
            </a:avLst>
          </a:prstGeom>
          <a:solidFill>
            <a:srgbClr val="222D72"/>
          </a:solidFill>
          <a:ln/>
        </p:spPr>
      </p:sp>
      <p:sp>
        <p:nvSpPr>
          <p:cNvPr id="14" name="Text 12"/>
          <p:cNvSpPr txBox="1"/>
          <p:nvPr/>
        </p:nvSpPr>
        <p:spPr>
          <a:xfrm>
            <a:off x="9134856"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Year 2  </a:t>
            </a:r>
            <a:pPr indent="0" marL="0">
              <a:buNone/>
            </a:pPr>
            <a:r>
              <a:rPr lang="en-US" sz="1300" b="1" dirty="0">
                <a:solidFill>
                  <a:srgbClr val="FFFFFF"/>
                </a:solidFill>
              </a:rPr>
              <a:t>LonaJol gate</a:t>
            </a:r>
            <a:endParaRPr lang="en-US" sz="1200" dirty="0"/>
          </a:p>
          <a:p>
            <a:pPr indent="0" marL="0">
              <a:buNone/>
            </a:pPr>
            <a:r>
              <a:rPr lang="en-US" sz="1100" dirty="0">
                <a:solidFill>
                  <a:srgbClr val="C9D3F5"/>
                </a:solidFill>
              </a:rPr>
              <a:t>Coastal saline variant only after its own tests</a:t>
            </a:r>
            <a:endParaRPr lang="en-US" sz="1200" dirty="0"/>
          </a:p>
        </p:txBody>
      </p:sp>
      <p:sp>
        <p:nvSpPr>
          <p:cNvPr id="15" name="Text 13"/>
          <p:cNvSpPr txBox="1"/>
          <p:nvPr/>
        </p:nvSpPr>
        <p:spPr>
          <a:xfrm>
            <a:off x="548640" y="2743200"/>
            <a:ext cx="5486400" cy="256032"/>
          </a:xfrm>
          <a:prstGeom prst="rect">
            <a:avLst/>
          </a:prstGeom>
          <a:noFill/>
          <a:ln/>
        </p:spPr>
        <p:txBody>
          <a:bodyPr wrap="square" lIns="0" tIns="0" rIns="0" bIns="0" rtlCol="0" anchor="t"/>
          <a:lstStyle/>
          <a:p>
            <a:pPr indent="0" marL="0">
              <a:buNone/>
            </a:pPr>
            <a:r>
              <a:rPr lang="en-US" sz="1100" b="1" spc="200" kern="0" dirty="0">
                <a:solidFill>
                  <a:srgbClr val="F5A31A"/>
                </a:solidFill>
              </a:rPr>
              <a:t>GO / NO-GO GATES AT MONTH 12</a:t>
            </a:r>
            <a:endParaRPr lang="en-US" sz="1100" dirty="0"/>
          </a:p>
        </p:txBody>
      </p:sp>
      <p:sp>
        <p:nvSpPr>
          <p:cNvPr id="16" name="Shape 14"/>
          <p:cNvSpPr/>
          <p:nvPr/>
        </p:nvSpPr>
        <p:spPr>
          <a:xfrm>
            <a:off x="548640" y="3035808"/>
            <a:ext cx="2651760" cy="713232"/>
          </a:xfrm>
          <a:prstGeom prst="roundRect">
            <a:avLst>
              <a:gd name="adj" fmla="val 10256"/>
            </a:avLst>
          </a:prstGeom>
          <a:solidFill>
            <a:srgbClr val="F5A31A"/>
          </a:solidFill>
          <a:ln/>
        </p:spPr>
      </p:sp>
      <p:sp>
        <p:nvSpPr>
          <p:cNvPr id="17" name="Text 15"/>
          <p:cNvSpPr txBox="1"/>
          <p:nvPr/>
        </p:nvSpPr>
        <p:spPr>
          <a:xfrm>
            <a:off x="685800"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Rate of sale at least 70% of plan</a:t>
            </a:r>
            <a:endParaRPr lang="en-US" sz="1200" dirty="0"/>
          </a:p>
        </p:txBody>
      </p:sp>
      <p:sp>
        <p:nvSpPr>
          <p:cNvPr id="18" name="Shape 16"/>
          <p:cNvSpPr/>
          <p:nvPr/>
        </p:nvSpPr>
        <p:spPr>
          <a:xfrm>
            <a:off x="3364992" y="3035808"/>
            <a:ext cx="2651760" cy="713232"/>
          </a:xfrm>
          <a:prstGeom prst="roundRect">
            <a:avLst>
              <a:gd name="adj" fmla="val 10256"/>
            </a:avLst>
          </a:prstGeom>
          <a:solidFill>
            <a:srgbClr val="F5A31A"/>
          </a:solidFill>
          <a:ln/>
        </p:spPr>
      </p:sp>
      <p:sp>
        <p:nvSpPr>
          <p:cNvPr id="19" name="Text 17"/>
          <p:cNvSpPr txBox="1"/>
          <p:nvPr/>
        </p:nvSpPr>
        <p:spPr>
          <a:xfrm>
            <a:off x="3502152"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Paid repeat at least 25% in mature cohorts</a:t>
            </a:r>
            <a:endParaRPr lang="en-US" sz="1200" dirty="0"/>
          </a:p>
        </p:txBody>
      </p:sp>
      <p:sp>
        <p:nvSpPr>
          <p:cNvPr id="20" name="Shape 18"/>
          <p:cNvSpPr/>
          <p:nvPr/>
        </p:nvSpPr>
        <p:spPr>
          <a:xfrm>
            <a:off x="6181344" y="3035808"/>
            <a:ext cx="2651760" cy="713232"/>
          </a:xfrm>
          <a:prstGeom prst="roundRect">
            <a:avLst>
              <a:gd name="adj" fmla="val 10256"/>
            </a:avLst>
          </a:prstGeom>
          <a:solidFill>
            <a:srgbClr val="F5A31A"/>
          </a:solidFill>
          <a:ln/>
        </p:spPr>
      </p:sp>
      <p:sp>
        <p:nvSpPr>
          <p:cNvPr id="21" name="Text 19"/>
          <p:cNvSpPr txBox="1"/>
          <p:nvPr/>
        </p:nvSpPr>
        <p:spPr>
          <a:xfrm>
            <a:off x="6318504"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Blended gross margin at least 45%</a:t>
            </a:r>
            <a:endParaRPr lang="en-US" sz="1200" dirty="0"/>
          </a:p>
        </p:txBody>
      </p:sp>
      <p:sp>
        <p:nvSpPr>
          <p:cNvPr id="22" name="Shape 20"/>
          <p:cNvSpPr/>
          <p:nvPr/>
        </p:nvSpPr>
        <p:spPr>
          <a:xfrm>
            <a:off x="8997696" y="3035808"/>
            <a:ext cx="2651760" cy="713232"/>
          </a:xfrm>
          <a:prstGeom prst="roundRect">
            <a:avLst>
              <a:gd name="adj" fmla="val 10256"/>
            </a:avLst>
          </a:prstGeom>
          <a:solidFill>
            <a:srgbClr val="F5A31A"/>
          </a:solidFill>
          <a:ln/>
        </p:spPr>
      </p:sp>
      <p:sp>
        <p:nvSpPr>
          <p:cNvPr id="23" name="Text 21"/>
          <p:cNvSpPr txBox="1"/>
          <p:nvPr/>
        </p:nvSpPr>
        <p:spPr>
          <a:xfrm>
            <a:off x="9134856"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Strip complaints under 2%; all safety and regulatory gates passed</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7498080" cy="914400"/>
        </p:xfrm>
        <a:graphic>
          <a:graphicData uri="http://schemas.openxmlformats.org/drawingml/2006/table">
            <a:tbl>
              <a:tblPr/>
              <a:tblGrid>
                <a:gridCol w="3017520"/>
                <a:gridCol w="4480560"/>
              </a:tblGrid>
              <a:tr h="301752">
                <a:tc>
                  <a:txBody>
                    <a:bodyPr/>
                    <a:lstStyle/>
                    <a:p>
                      <a:pPr indent="0" marL="0">
                        <a:buNone/>
                      </a:pPr>
                      <a:r>
                        <a:rPr lang="en-US" sz="1100" b="1" dirty="0">
                          <a:solidFill>
                            <a:srgbClr val="F5A31A"/>
                          </a:solidFill>
                        </a:rPr>
                        <a:t>Top risks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b="1" dirty="0">
                          <a:solidFill>
                            <a:srgbClr val="F5A31A"/>
                          </a:solidFill>
                        </a:rPr>
                        <a:t>Mitigation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Claims not proven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R&amp;D tress and lather tests before any claim; never “stops hair fall”</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Strip life in humid storage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Foil-sealed strips, supplier stability data, two suppliers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Cannibalising Naturale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Priced above core Naturale; target users of other brands; measured in the pilot</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Cost inflation (COGS +8% cuts NPV by Tk 3.3 Cr)</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Dual sourcing; pack and sachet-film optimisation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Regulation: draft cosmetics rules, EPR, sachets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Marico Regulatory sign-off; recyclable mono-material sachet plan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bl>
          </a:graphicData>
        </a:graphic>
      </p:graphicFrame>
      <p:sp>
        <p:nvSpPr>
          <p:cNvPr id="25" name="Shape 22"/>
          <p:cNvSpPr/>
          <p:nvPr/>
        </p:nvSpPr>
        <p:spPr>
          <a:xfrm>
            <a:off x="8275320" y="3913632"/>
            <a:ext cx="3364992" cy="1828800"/>
          </a:xfrm>
          <a:prstGeom prst="roundRect">
            <a:avLst>
              <a:gd name="adj" fmla="val 4000"/>
            </a:avLst>
          </a:prstGeom>
          <a:solidFill>
            <a:srgbClr val="FFFFFF"/>
          </a:solidFill>
          <a:ln/>
        </p:spPr>
      </p:sp>
      <p:sp>
        <p:nvSpPr>
          <p:cNvPr id="26" name="Text 23"/>
          <p:cNvSpPr txBox="1"/>
          <p:nvPr/>
        </p:nvSpPr>
        <p:spPr>
          <a:xfrm>
            <a:off x="8458200" y="4005072"/>
            <a:ext cx="3017520" cy="1645920"/>
          </a:xfrm>
          <a:prstGeom prst="rect">
            <a:avLst/>
          </a:prstGeom>
          <a:noFill/>
          <a:ln/>
        </p:spPr>
        <p:txBody>
          <a:bodyPr wrap="square" lIns="0" tIns="0" rIns="0" bIns="0" rtlCol="0" anchor="t"/>
          <a:lstStyle/>
          <a:p>
            <a:pPr indent="0" marL="0">
              <a:buNone/>
            </a:pPr>
            <a:r>
              <a:rPr lang="en-US" sz="1100" b="1" spc="200" kern="0" dirty="0">
                <a:solidFill>
                  <a:srgbClr val="0E7FA0"/>
                </a:solidFill>
              </a:rPr>
              <a:t>THE ASK</a:t>
            </a:r>
            <a:endParaRPr lang="en-US" sz="1200" dirty="0"/>
          </a:p>
          <a:p>
            <a:pPr indent="0" marL="0">
              <a:buNone/>
            </a:pPr>
            <a:r>
              <a:rPr lang="en-US" sz="3600" b="1" dirty="0">
                <a:solidFill>
                  <a:srgbClr val="141C52"/>
                </a:solidFill>
              </a:rPr>
              <a:t>Tk 3.5 Cr</a:t>
            </a:r>
            <a:endParaRPr lang="en-US" sz="1200" dirty="0"/>
          </a:p>
          <a:p>
            <a:pPr indent="0" marL="0">
              <a:buNone/>
            </a:pPr>
            <a:r>
              <a:rPr lang="en-US" sz="1200" dirty="0">
                <a:solidFill>
                  <a:srgbClr val="1F2937"/>
                </a:solidFill>
              </a:rPr>
              <a:t>committed before the go/no-go: CAPEX Tk 3.0 Cr + R&amp;D and pilot Tk 0.5 Cr</a:t>
            </a:r>
            <a:endParaRPr lang="en-US" sz="1200" dirty="0"/>
          </a:p>
        </p:txBody>
      </p:sp>
      <p:sp>
        <p:nvSpPr>
          <p:cNvPr id="27" name="Text 24"/>
          <p:cNvSpPr txBox="1"/>
          <p:nvPr/>
        </p:nvSpPr>
        <p:spPr>
          <a:xfrm>
            <a:off x="548640" y="5833872"/>
            <a:ext cx="1106424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2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Assumption register: every driver, its basis and who confirms it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2377440"/>
                <a:gridCol w="5010912"/>
                <a:gridCol w="1463040"/>
              </a:tblGrid>
              <a:tr h="265176">
                <a:tc>
                  <a:txBody>
                    <a:bodyPr/>
                    <a:lstStyle/>
                    <a:p>
                      <a:pPr indent="0" marL="0">
                        <a:buNone/>
                      </a:pPr>
                      <a:r>
                        <a:rPr lang="en-US" sz="1000" b="1" dirty="0">
                          <a:solidFill>
                            <a:srgbClr val="FFFFFF"/>
                          </a:solidFill>
                        </a:rPr>
                        <a:t>Driver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Basis / source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Confirms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65176">
                <a:tc>
                  <a:txBody>
                    <a:bodyPr/>
                    <a:lstStyle/>
                    <a:p>
                      <a:pPr indent="0" marL="0">
                        <a:buNone/>
                      </a:pPr>
                      <a:r>
                        <a:rPr lang="en-US" sz="1000" b="1" dirty="0">
                          <a:solidFill>
                            <a:srgbClr val="1F2937"/>
                          </a:solidFill>
                        </a:rPr>
                        <a:t>MRP 340 ml + PaniCheck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360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Naturale Hijab Fresh 340 ml Tk 390; Sunsilk 340 ml Tk 350 (Chaldal, 9 Oct 2026)</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MRP 180 ml / 6 ml sachet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Tk 180 / Tk 3</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Naturale 160–175 ml Tk 140–150; Naturale sachet Tk 2 per 5.25 ml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Trade margin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22% bottles, 25% sachets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Retailer + distributor; planning assumption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VAT / SD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VAT &amp; SD Act 2012, shampoo; invoice treatment to confirm</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Tax</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COGS per unit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95 / 55 / 1.20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Bulk Tk 135/kg plus pack and conversion; strip Tk 3 target (unquoted)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Procurement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Active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37k / 72k / 104k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Channel plan; Sales masterclass universe of 294k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Units per outlet per month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See Sales slide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Planning assumption; validated by pilot rate of sale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A&amp;P</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Y1 Tk 4.5 Cr; then 15%, 12%, 10%, 10%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marketing, selling and distribution = 5.2%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Marketing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Selling and distribution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8% of NR + Tk 1 Cr a year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Incremental SKU on existing Naturale routes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 / 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Cannibalisation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45% contribution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Planning assumption; measured in the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 / Insights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EPR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EPR Guidelines 2026 (SRO 293); reserve, not a compliance quote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ESG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Working capital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12% of annualised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core working capital = 11.5%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CAPEX / pre-launch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3.0 Cr / Tk 0.5 Cr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Cap mould, strip insertion, line changeover; R&amp;D and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Manufacturing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Tax / WPPF / hurdle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disclosures; hurdle assumed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Horizon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12 + 60 months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Pre-launch plus five commercial years; no terminal 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bl>
          </a:graphicData>
        </a:graphic>
      </p:graphicFrame>
      <p:sp>
        <p:nvSpPr>
          <p:cNvPr id="5" name="Text 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Model: Round2_Submission/finance/finance_v4.cjs. It reuses the team’s v3 monthly model unchanged, adds the SD/tax/WPPF correction (reproducing the corrected −3.82/−6.32 Cr), then applies the v4 proposal decisions above.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B</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Evidence base, method and sensitivity</a:t>
            </a:r>
            <a:endParaRPr lang="en-US" sz="2600" dirty="0"/>
          </a:p>
        </p:txBody>
      </p:sp>
      <p:sp>
        <p:nvSpPr>
          <p:cNvPr id="4" name="Text 2"/>
          <p:cNvSpPr txBox="1"/>
          <p:nvPr/>
        </p:nvSpPr>
        <p:spPr>
          <a:xfrm>
            <a:off x="548640" y="1508760"/>
            <a:ext cx="5760720" cy="3291840"/>
          </a:xfrm>
          <a:prstGeom prst="rect">
            <a:avLst/>
          </a:prstGeom>
          <a:noFill/>
          <a:ln/>
        </p:spPr>
        <p:txBody>
          <a:bodyPr wrap="square" lIns="0" tIns="0" rIns="0" bIns="0" rtlCol="0" anchor="t"/>
          <a:lstStyle/>
          <a:p>
            <a:pPr indent="0" marL="0">
              <a:buNone/>
            </a:pPr>
            <a:r>
              <a:rPr lang="en-US" sz="1100" b="1" dirty="0">
                <a:solidFill>
                  <a:srgbClr val="141C52"/>
                </a:solidFill>
              </a:rPr>
              <a:t>Water: </a:t>
            </a:r>
            <a:pPr indent="0" marL="0">
              <a:spcAft>
                <a:spcPts val="700"/>
              </a:spcAft>
              <a:buNone/>
            </a:pPr>
            <a:r>
              <a:rPr lang="en-US" sz="1100" dirty="0">
                <a:solidFill>
                  <a:srgbClr val="1F2937"/>
                </a:solidFill>
              </a:rPr>
              <a:t>BGS &amp; DPHE (2001) National Hydrochemical Survey: 3,534 wells, 61 districts, sampled Mar 1998–Dec 1999. Team analysis: hardness = 2.497 Ca + 4.118 Mg (USGS); flags Fe &gt;0.3 and hardness &gt;120 mg/L. Historical wells, not today’s taps, which is why the pack carries a test.</a:t>
            </a:r>
            <a:endParaRPr lang="en-US" sz="1100" dirty="0"/>
          </a:p>
          <a:p>
            <a:pPr indent="0" marL="0">
              <a:buNone/>
            </a:pPr>
            <a:r>
              <a:rPr lang="en-US" sz="1100" b="1" dirty="0">
                <a:solidFill>
                  <a:srgbClr val="141C52"/>
                </a:solidFill>
              </a:rPr>
              <a:t>Recent water: </a:t>
            </a:r>
            <a:pPr indent="0" marL="0">
              <a:spcAft>
                <a:spcPts val="700"/>
              </a:spcAft>
              <a:buNone/>
            </a:pPr>
            <a:r>
              <a:rPr lang="en-US" sz="1100" dirty="0">
                <a:solidFill>
                  <a:srgbClr val="1F2937"/>
                </a:solidFill>
              </a:rPr>
              <a:t>ICCEI 2025 Dhaka tap study (12 locations with values); BWDB 2022 groundwater-quality report (901 monitoring wells, 2019–21).</a:t>
            </a:r>
            <a:endParaRPr lang="en-US" sz="1100" dirty="0"/>
          </a:p>
          <a:p>
            <a:pPr indent="0" marL="0">
              <a:buNone/>
            </a:pPr>
            <a:r>
              <a:rPr lang="en-US" sz="1100" b="1" dirty="0">
                <a:solidFill>
                  <a:srgbClr val="141C52"/>
                </a:solidFill>
              </a:rPr>
              <a:t>Consumers: </a:t>
            </a:r>
            <a:pPr indent="0" marL="0">
              <a:spcAft>
                <a:spcPts val="700"/>
              </a:spcAft>
              <a:buNone/>
            </a:pPr>
            <a:r>
              <a:rPr lang="en-US" sz="1100" dirty="0">
                <a:solidFill>
                  <a:srgbClr val="1F2937"/>
                </a:solidFill>
              </a:rPr>
              <a:t>Khanam &amp; Rahman 2022 (n=390); Zakaria et al. 2025 (n=391); team Google Form, 3–9 Oct 2026: 49 consenting adults from 50 submissions, convenience sample. Q20: median maximum Tk 320 (n=47); 15/47 maxima at least Tk 360.</a:t>
            </a:r>
            <a:endParaRPr lang="en-US" sz="1100" dirty="0"/>
          </a:p>
          <a:p>
            <a:pPr indent="0" marL="0">
              <a:buNone/>
            </a:pPr>
            <a:r>
              <a:rPr lang="en-US" sz="1100" b="1" dirty="0">
                <a:solidFill>
                  <a:srgbClr val="141C52"/>
                </a:solidFill>
              </a:rPr>
              <a:t>Hair science: </a:t>
            </a:r>
            <a:pPr indent="0" marL="0">
              <a:spcAft>
                <a:spcPts val="700"/>
              </a:spcAft>
              <a:buNone/>
            </a:pPr>
            <a:r>
              <a:rPr lang="en-US" sz="1100" dirty="0">
                <a:solidFill>
                  <a:srgbClr val="1F2937"/>
                </a:solidFill>
              </a:rPr>
              <a:t>Luqman 2018 (n=70: tensile strength 255 vs 234 with hard water); Srinivasan 2013 (n=15: no significant difference). Evidence is mixed, so claims wait for our own R&amp;D tests.</a:t>
            </a:r>
            <a:endParaRPr lang="en-US" sz="1100" dirty="0"/>
          </a:p>
          <a:p>
            <a:pPr indent="0" marL="0">
              <a:buNone/>
            </a:pPr>
            <a:r>
              <a:rPr lang="en-US" sz="1100" b="1" dirty="0">
                <a:solidFill>
                  <a:srgbClr val="141C52"/>
                </a:solidFill>
              </a:rPr>
              <a:t>Market and prices: </a:t>
            </a:r>
            <a:pPr indent="0" marL="0">
              <a:spcAft>
                <a:spcPts val="700"/>
              </a:spcAft>
              <a:buNone/>
            </a:pPr>
            <a:r>
              <a:rPr lang="en-US" sz="1100" dirty="0">
                <a:solidFill>
                  <a:srgbClr val="1F2937"/>
                </a:solidFill>
              </a:rPr>
              <a:t>Mordor Intelligence (2026e); 24 online price observations, Chaldal and Arogga, 9 Oct 2026; Marico Bangladesh Annual Report FY2025-26.</a:t>
            </a:r>
            <a:endParaRPr lang="en-US" sz="1100" dirty="0"/>
          </a:p>
        </p:txBody>
      </p:sp>
      <p:sp>
        <p:nvSpPr>
          <p:cNvPr id="5" name="Shape 3"/>
          <p:cNvSpPr/>
          <p:nvPr/>
        </p:nvSpPr>
        <p:spPr>
          <a:xfrm>
            <a:off x="548640" y="4343400"/>
            <a:ext cx="5760720" cy="1005840"/>
          </a:xfrm>
          <a:prstGeom prst="roundRect">
            <a:avLst>
              <a:gd name="adj" fmla="val 7273"/>
            </a:avLst>
          </a:prstGeom>
          <a:solidFill>
            <a:srgbClr val="E3F5FA"/>
          </a:solidFill>
          <a:ln/>
        </p:spPr>
      </p:sp>
      <p:sp>
        <p:nvSpPr>
          <p:cNvPr id="6" name="Text 4"/>
          <p:cNvSpPr txBox="1"/>
          <p:nvPr/>
        </p:nvSpPr>
        <p:spPr>
          <a:xfrm>
            <a:off x="731520" y="4343400"/>
            <a:ext cx="5440680" cy="1005840"/>
          </a:xfrm>
          <a:prstGeom prst="rect">
            <a:avLst/>
          </a:prstGeom>
          <a:noFill/>
          <a:ln/>
        </p:spPr>
        <p:txBody>
          <a:bodyPr wrap="square" lIns="0" tIns="0" rIns="0" bIns="0" rtlCol="0" anchor="ctr"/>
          <a:lstStyle/>
          <a:p>
            <a:pPr indent="0" marL="0">
              <a:buNone/>
            </a:pPr>
            <a:r>
              <a:rPr lang="en-US" sz="1100" b="1" spc="100" kern="0" dirty="0">
                <a:solidFill>
                  <a:srgbClr val="0E7FA0"/>
                </a:solidFill>
              </a:rPr>
              <a:t>R&amp;D TEST PLAN   </a:t>
            </a:r>
            <a:pPr indent="0" marL="0">
              <a:buNone/>
            </a:pPr>
            <a:r>
              <a:rPr lang="en-US" sz="1100" dirty="0">
                <a:solidFill>
                  <a:srgbClr val="1F2937"/>
                </a:solidFill>
              </a:rPr>
              <a:t>Hair-tress deposit test: at least 30% less Ca/Fe than Naturale core. Lather at least 80% of a soft-water reference at 150 and 300 mg/L. Home-use test n≈100. Stability at 40°C / 75% RH.</a:t>
            </a:r>
            <a:endParaRPr lang="en-US" sz="1100" dirty="0"/>
          </a:p>
        </p:txBody>
      </p:sp>
      <p:graphicFrame>
        <p:nvGraphicFramePr>
          <p:cNvPr id="7" name="Chart 0" descr=""/>
          <p:cNvGraphicFramePr/>
          <p:nvPr/>
        </p:nvGraphicFramePr>
        <p:xfrm>
          <a:off x="6492240" y="1463040"/>
          <a:ext cx="5166360" cy="3840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583680" y="5394960"/>
            <a:ext cx="5029200" cy="457200"/>
          </a:xfrm>
          <a:prstGeom prst="rect">
            <a:avLst/>
          </a:prstGeom>
          <a:noFill/>
          <a:ln/>
        </p:spPr>
        <p:txBody>
          <a:bodyPr wrap="square" lIns="0" tIns="0" rIns="0" bIns="0" rtlCol="0" anchor="t"/>
          <a:lstStyle/>
          <a:p>
            <a:pPr indent="0" marL="0">
              <a:buNone/>
            </a:pPr>
            <a:r>
              <a:rPr lang="en-US" sz="1200" b="1" dirty="0">
                <a:solidFill>
                  <a:srgbClr val="141C52"/>
                </a:solidFill>
              </a:rPr>
              <a:t>Biggest levers: cannibalisation and COGS. Both are measured in the pilot before any national spend.</a:t>
            </a:r>
            <a:endParaRPr lang="en-US" sz="1200" dirty="0"/>
          </a:p>
        </p:txBody>
      </p:sp>
      <p:sp>
        <p:nvSpPr>
          <p:cNvPr id="9" name="Text 6"/>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Hair-science references: Luqman et al. 2018 (PMID 30034190); Srinivasan et al. 2013 (PMID 24574692). Sensitivities from finance_v4.cjs.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aterSmart">
  <a:themeElements>
    <a:clrScheme name="WaterSmart">
      <a:dk1>
        <a:srgbClr val="1F2937"/>
      </a:dk1>
      <a:lt1>
        <a:srgbClr val="FFFFFF"/>
      </a:lt1>
      <a:dk2>
        <a:srgbClr val="141C52"/>
      </a:dk2>
      <a:lt2>
        <a:srgbClr val="F3F6FA"/>
      </a:lt2>
      <a:accent1>
        <a:srgbClr val="12A5C4"/>
      </a:accent1>
      <a:accent2>
        <a:srgbClr val="141C52"/>
      </a:accent2>
      <a:accent3>
        <a:srgbClr val="F5A31A"/>
      </a:accent3>
      <a:accent4>
        <a:srgbClr val="B4511F"/>
      </a:accent4>
      <a:accent5>
        <a:srgbClr val="3E9B3A"/>
      </a:accent5>
      <a:accent6>
        <a:srgbClr val="0B6FB8"/>
      </a:accent6>
      <a:hlink>
        <a:srgbClr val="0B6FB8"/>
      </a:hlink>
      <a:folHlink>
        <a:srgbClr val="6B4FA0"/>
      </a:folHlink>
    </a:clrScheme>
    <a:fontScheme name="WaterSma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Parachute Naturale WaterSmart: OTW Season 5 Round 2 proposal</dc:title>
  <dc:subject>PptxGenJS Presentation</dc:subject>
  <dc:creator>Team The Last BrainCell</dc:creator>
  <cp:lastModifiedBy>Team The Last BrainCell</cp:lastModifiedBy>
  <cp:revision>1</cp:revision>
  <dcterms:created xsi:type="dcterms:W3CDTF">2026-10-09T17:18:27Z</dcterms:created>
  <dcterms:modified xsi:type="dcterms:W3CDTF">2026-10-09T17:18:27Z</dcterms:modified>
</cp:coreProperties>
</file>